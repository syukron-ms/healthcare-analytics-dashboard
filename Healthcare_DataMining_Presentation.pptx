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200400"/>
          </a:xfrm>
          <a:prstGeom prst="rect">
            <a:avLst/>
          </a:prstGeom>
          <a:solidFill>
            <a:srgbClr val="0D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9144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1371600" cy="1371600"/>
          </a:xfrm>
          <a:prstGeom prst="rect">
            <a:avLst/>
          </a:prstGeom>
          <a:noFill/>
        </p:spPr>
        <p:txBody>
          <a:bodyPr wrap="square">
            <a:spAutoFit/>
          </a:bodyPr>
          <a:lstStyle/>
          <a:p>
            <a:pPr algn="ctr"/>
            <a:r>
              <a:rPr sz="6000" b="0" i="0">
                <a:solidFill>
                  <a:srgbClr val="F1F5F9"/>
                </a:solidFill>
                <a:latin typeface="Calibri"/>
              </a:rPr>
              <a:t>ðŸ¥</a:t>
            </a:r>
          </a:p>
        </p:txBody>
      </p:sp>
      <p:sp>
        <p:nvSpPr>
          <p:cNvPr id="6" name="TextBox 5"/>
          <p:cNvSpPr txBox="1"/>
          <p:nvPr/>
        </p:nvSpPr>
        <p:spPr>
          <a:xfrm>
            <a:off x="1920240" y="1005840"/>
            <a:ext cx="9601200" cy="914400"/>
          </a:xfrm>
          <a:prstGeom prst="rect">
            <a:avLst/>
          </a:prstGeom>
          <a:noFill/>
        </p:spPr>
        <p:txBody>
          <a:bodyPr wrap="square">
            <a:spAutoFit/>
          </a:bodyPr>
          <a:lstStyle/>
          <a:p>
            <a:pPr algn="l"/>
            <a:r>
              <a:rPr sz="3600" b="1" i="0">
                <a:solidFill>
                  <a:srgbClr val="F1F5F9"/>
                </a:solidFill>
                <a:latin typeface="Calibri"/>
              </a:rPr>
              <a:t>Dashboard Healthcare Analytics</a:t>
            </a:r>
          </a:p>
        </p:txBody>
      </p:sp>
      <p:sp>
        <p:nvSpPr>
          <p:cNvPr id="7" name="TextBox 6"/>
          <p:cNvSpPr txBox="1"/>
          <p:nvPr/>
        </p:nvSpPr>
        <p:spPr>
          <a:xfrm>
            <a:off x="1920240" y="1828800"/>
            <a:ext cx="9601200" cy="548640"/>
          </a:xfrm>
          <a:prstGeom prst="rect">
            <a:avLst/>
          </a:prstGeom>
          <a:noFill/>
        </p:spPr>
        <p:txBody>
          <a:bodyPr wrap="square">
            <a:spAutoFit/>
          </a:bodyPr>
          <a:lstStyle/>
          <a:p>
            <a:pPr algn="l"/>
            <a:r>
              <a:rPr sz="1800" b="0" i="0">
                <a:solidFill>
                  <a:srgbClr val="60A5FA"/>
                </a:solidFill>
                <a:latin typeface="Calibri"/>
              </a:rPr>
              <a:t>Penerapan Data Mining untuk Mendukung Pengambilan Keputusan</a:t>
            </a:r>
          </a:p>
        </p:txBody>
      </p:sp>
      <p:sp>
        <p:nvSpPr>
          <p:cNvPr id="8" name="Rectangle 7"/>
          <p:cNvSpPr/>
          <p:nvPr/>
        </p:nvSpPr>
        <p:spPr>
          <a:xfrm>
            <a:off x="1920240" y="2514600"/>
            <a:ext cx="8229600" cy="36576"/>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0240" y="2697480"/>
            <a:ext cx="9144000" cy="457200"/>
          </a:xfrm>
          <a:prstGeom prst="rect">
            <a:avLst/>
          </a:prstGeom>
          <a:noFill/>
        </p:spPr>
        <p:txBody>
          <a:bodyPr wrap="square">
            <a:spAutoFit/>
          </a:bodyPr>
          <a:lstStyle/>
          <a:p>
            <a:pPr algn="l"/>
            <a:r>
              <a:rPr sz="1500" b="1" i="0">
                <a:solidFill>
                  <a:srgbClr val="C084FC"/>
                </a:solidFill>
                <a:latin typeface="Calibri"/>
              </a:rPr>
              <a:t>Regresi  â€¢  Klasifikasi  â€¢  Clustering</a:t>
            </a:r>
          </a:p>
        </p:txBody>
      </p:sp>
      <p:sp>
        <p:nvSpPr>
          <p:cNvPr id="10" name="TextBox 9"/>
          <p:cNvSpPr txBox="1"/>
          <p:nvPr/>
        </p:nvSpPr>
        <p:spPr>
          <a:xfrm>
            <a:off x="1920240" y="3154680"/>
            <a:ext cx="9144000" cy="365760"/>
          </a:xfrm>
          <a:prstGeom prst="rect">
            <a:avLst/>
          </a:prstGeom>
          <a:noFill/>
        </p:spPr>
        <p:txBody>
          <a:bodyPr wrap="square">
            <a:spAutoFit/>
          </a:bodyPr>
          <a:lstStyle/>
          <a:p>
            <a:pPr algn="l"/>
            <a:r>
              <a:rPr sz="1300" b="0" i="0">
                <a:solidFill>
                  <a:srgbClr val="94A3B8"/>
                </a:solidFill>
                <a:latin typeface="Calibri"/>
              </a:rPr>
              <a:t>Data Mining  |  Healthcare Dataset  |  55.500 Record</a:t>
            </a:r>
          </a:p>
        </p:txBody>
      </p:sp>
      <p:sp>
        <p:nvSpPr>
          <p:cNvPr id="11" name="Rectangle 10"/>
          <p:cNvSpPr/>
          <p:nvPr/>
        </p:nvSpPr>
        <p:spPr>
          <a:xfrm>
            <a:off x="8686800" y="5943600"/>
            <a:ext cx="3200400" cy="594360"/>
          </a:xfrm>
          <a:prstGeom prst="rect">
            <a:avLst/>
          </a:prstGeom>
          <a:solidFill>
            <a:srgbClr val="1A2040"/>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6016752"/>
            <a:ext cx="3108960" cy="457200"/>
          </a:xfrm>
          <a:prstGeom prst="rect">
            <a:avLst/>
          </a:prstGeom>
          <a:noFill/>
        </p:spPr>
        <p:txBody>
          <a:bodyPr wrap="square">
            <a:spAutoFit/>
          </a:bodyPr>
          <a:lstStyle/>
          <a:p>
            <a:pPr algn="ctr"/>
            <a:r>
              <a:rPr sz="1000" b="0" i="0">
                <a:solidFill>
                  <a:srgbClr val="94A3B8"/>
                </a:solidFill>
                <a:latin typeface="Calibri"/>
              </a:rPr>
              <a:t>Healthcare Analytics Dashboard  2024</a:t>
            </a:r>
          </a:p>
        </p:txBody>
      </p:sp>
      <p:sp>
        <p:nvSpPr>
          <p:cNvPr id="13" name="TextBox 1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 /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2 / 22</a:t>
            </a:r>
          </a:p>
        </p:txBody>
      </p:sp>
      <p:sp>
        <p:nvSpPr>
          <p:cNvPr id="4" name="TextBox 3"/>
          <p:cNvSpPr txBox="1"/>
          <p:nvPr/>
        </p:nvSpPr>
        <p:spPr>
          <a:xfrm>
            <a:off x="457200" y="182880"/>
            <a:ext cx="10972800" cy="640080"/>
          </a:xfrm>
          <a:prstGeom prst="rect">
            <a:avLst/>
          </a:prstGeom>
          <a:noFill/>
        </p:spPr>
        <p:txBody>
          <a:bodyPr wrap="square">
            <a:spAutoFit/>
          </a:bodyPr>
          <a:lstStyle/>
          <a:p>
            <a:pPr algn="l"/>
            <a:r>
              <a:rPr sz="2800" b="1" i="0">
                <a:solidFill>
                  <a:srgbClr val="F1F5F9"/>
                </a:solidFill>
                <a:latin typeface="Calibri"/>
              </a:rPr>
              <a:t>Daftar Isi</a:t>
            </a:r>
          </a:p>
        </p:txBody>
      </p:sp>
      <p:sp>
        <p:nvSpPr>
          <p:cNvPr id="5" name="Rectangle 4"/>
          <p:cNvSpPr/>
          <p:nvPr/>
        </p:nvSpPr>
        <p:spPr>
          <a:xfrm>
            <a:off x="457200" y="804672"/>
            <a:ext cx="2286000" cy="457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51560"/>
            <a:ext cx="5303520" cy="868680"/>
          </a:xfrm>
          <a:prstGeom prst="rect">
            <a:avLst/>
          </a:prstGeom>
          <a:solidFill>
            <a:srgbClr val="0D1224"/>
          </a:solidFill>
          <a:ln w="9525">
            <a:solidFill>
              <a:srgbClr val="203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51560"/>
            <a:ext cx="54864" cy="8686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124712"/>
            <a:ext cx="457200" cy="365760"/>
          </a:xfrm>
          <a:prstGeom prst="rect">
            <a:avLst/>
          </a:prstGeom>
          <a:noFill/>
        </p:spPr>
        <p:txBody>
          <a:bodyPr wrap="square">
            <a:spAutoFit/>
          </a:bodyPr>
          <a:lstStyle/>
          <a:p>
            <a:pPr algn="l"/>
            <a:r>
              <a:rPr sz="2000" b="1" i="0">
                <a:solidFill>
                  <a:srgbClr val="60A5FA"/>
                </a:solidFill>
                <a:latin typeface="Calibri"/>
              </a:rPr>
              <a:t>01</a:t>
            </a:r>
          </a:p>
        </p:txBody>
      </p:sp>
      <p:sp>
        <p:nvSpPr>
          <p:cNvPr id="9" name="TextBox 8"/>
          <p:cNvSpPr txBox="1"/>
          <p:nvPr/>
        </p:nvSpPr>
        <p:spPr>
          <a:xfrm>
            <a:off x="1097280" y="1252728"/>
            <a:ext cx="4572000" cy="502920"/>
          </a:xfrm>
          <a:prstGeom prst="rect">
            <a:avLst/>
          </a:prstGeom>
          <a:noFill/>
        </p:spPr>
        <p:txBody>
          <a:bodyPr wrap="square">
            <a:spAutoFit/>
          </a:bodyPr>
          <a:lstStyle/>
          <a:p>
            <a:pPr algn="l"/>
            <a:r>
              <a:rPr sz="1300" b="0" i="0">
                <a:solidFill>
                  <a:srgbClr val="F1F5F9"/>
                </a:solidFill>
                <a:latin typeface="Calibri"/>
              </a:rPr>
              <a:t>Latar Belakang &amp; Tujuan</a:t>
            </a:r>
          </a:p>
        </p:txBody>
      </p:sp>
      <p:sp>
        <p:nvSpPr>
          <p:cNvPr id="10" name="Rectangle 9"/>
          <p:cNvSpPr/>
          <p:nvPr/>
        </p:nvSpPr>
        <p:spPr>
          <a:xfrm>
            <a:off x="6126480" y="1051560"/>
            <a:ext cx="5303520" cy="868680"/>
          </a:xfrm>
          <a:prstGeom prst="rect">
            <a:avLst/>
          </a:prstGeom>
          <a:solidFill>
            <a:srgbClr val="0D1224"/>
          </a:solidFill>
          <a:ln w="9525">
            <a:solidFill>
              <a:srgbClr val="203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051560"/>
            <a:ext cx="54864" cy="8686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124712"/>
            <a:ext cx="457200" cy="365760"/>
          </a:xfrm>
          <a:prstGeom prst="rect">
            <a:avLst/>
          </a:prstGeom>
          <a:noFill/>
        </p:spPr>
        <p:txBody>
          <a:bodyPr wrap="square">
            <a:spAutoFit/>
          </a:bodyPr>
          <a:lstStyle/>
          <a:p>
            <a:pPr algn="l"/>
            <a:r>
              <a:rPr sz="2000" b="1" i="0">
                <a:solidFill>
                  <a:srgbClr val="60A5FA"/>
                </a:solidFill>
                <a:latin typeface="Calibri"/>
              </a:rPr>
              <a:t>02</a:t>
            </a:r>
          </a:p>
        </p:txBody>
      </p:sp>
      <p:sp>
        <p:nvSpPr>
          <p:cNvPr id="13" name="TextBox 12"/>
          <p:cNvSpPr txBox="1"/>
          <p:nvPr/>
        </p:nvSpPr>
        <p:spPr>
          <a:xfrm>
            <a:off x="6766560" y="1252728"/>
            <a:ext cx="4572000" cy="502920"/>
          </a:xfrm>
          <a:prstGeom prst="rect">
            <a:avLst/>
          </a:prstGeom>
          <a:noFill/>
        </p:spPr>
        <p:txBody>
          <a:bodyPr wrap="square">
            <a:spAutoFit/>
          </a:bodyPr>
          <a:lstStyle/>
          <a:p>
            <a:pPr algn="l"/>
            <a:r>
              <a:rPr sz="1300" b="0" i="0">
                <a:solidFill>
                  <a:srgbClr val="F1F5F9"/>
                </a:solidFill>
                <a:latin typeface="Calibri"/>
              </a:rPr>
              <a:t>Dataset yang Digunakan</a:t>
            </a:r>
          </a:p>
        </p:txBody>
      </p:sp>
      <p:sp>
        <p:nvSpPr>
          <p:cNvPr id="14" name="Rectangle 13"/>
          <p:cNvSpPr/>
          <p:nvPr/>
        </p:nvSpPr>
        <p:spPr>
          <a:xfrm>
            <a:off x="457200" y="2103120"/>
            <a:ext cx="5303520" cy="868680"/>
          </a:xfrm>
          <a:prstGeom prst="rect">
            <a:avLst/>
          </a:prstGeom>
          <a:solidFill>
            <a:srgbClr val="0D1224"/>
          </a:solidFill>
          <a:ln w="9525">
            <a:solidFill>
              <a:srgbClr val="203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103120"/>
            <a:ext cx="54864" cy="8686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176272"/>
            <a:ext cx="457200" cy="365760"/>
          </a:xfrm>
          <a:prstGeom prst="rect">
            <a:avLst/>
          </a:prstGeom>
          <a:noFill/>
        </p:spPr>
        <p:txBody>
          <a:bodyPr wrap="square">
            <a:spAutoFit/>
          </a:bodyPr>
          <a:lstStyle/>
          <a:p>
            <a:pPr algn="l"/>
            <a:r>
              <a:rPr sz="2000" b="1" i="0">
                <a:solidFill>
                  <a:srgbClr val="60A5FA"/>
                </a:solidFill>
                <a:latin typeface="Calibri"/>
              </a:rPr>
              <a:t>03</a:t>
            </a:r>
          </a:p>
        </p:txBody>
      </p:sp>
      <p:sp>
        <p:nvSpPr>
          <p:cNvPr id="17" name="TextBox 16"/>
          <p:cNvSpPr txBox="1"/>
          <p:nvPr/>
        </p:nvSpPr>
        <p:spPr>
          <a:xfrm>
            <a:off x="1097280" y="2304288"/>
            <a:ext cx="4572000" cy="502920"/>
          </a:xfrm>
          <a:prstGeom prst="rect">
            <a:avLst/>
          </a:prstGeom>
          <a:noFill/>
        </p:spPr>
        <p:txBody>
          <a:bodyPr wrap="square">
            <a:spAutoFit/>
          </a:bodyPr>
          <a:lstStyle/>
          <a:p>
            <a:pPr algn="l"/>
            <a:r>
              <a:rPr sz="1300" b="0" i="0">
                <a:solidFill>
                  <a:srgbClr val="F1F5F9"/>
                </a:solidFill>
                <a:latin typeface="Calibri"/>
              </a:rPr>
              <a:t>Overview Dashboard</a:t>
            </a:r>
          </a:p>
        </p:txBody>
      </p:sp>
      <p:sp>
        <p:nvSpPr>
          <p:cNvPr id="18" name="Rectangle 17"/>
          <p:cNvSpPr/>
          <p:nvPr/>
        </p:nvSpPr>
        <p:spPr>
          <a:xfrm>
            <a:off x="6126480" y="2103120"/>
            <a:ext cx="5303520" cy="868680"/>
          </a:xfrm>
          <a:prstGeom prst="rect">
            <a:avLst/>
          </a:prstGeom>
          <a:solidFill>
            <a:srgbClr val="0D1224"/>
          </a:solidFill>
          <a:ln w="9525">
            <a:solidFill>
              <a:srgbClr val="402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2103120"/>
            <a:ext cx="54864" cy="86868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2176272"/>
            <a:ext cx="457200" cy="365760"/>
          </a:xfrm>
          <a:prstGeom prst="rect">
            <a:avLst/>
          </a:prstGeom>
          <a:noFill/>
        </p:spPr>
        <p:txBody>
          <a:bodyPr wrap="square">
            <a:spAutoFit/>
          </a:bodyPr>
          <a:lstStyle/>
          <a:p>
            <a:pPr algn="l"/>
            <a:r>
              <a:rPr sz="2000" b="1" i="0">
                <a:solidFill>
                  <a:srgbClr val="C084FC"/>
                </a:solidFill>
                <a:latin typeface="Calibri"/>
              </a:rPr>
              <a:t>04</a:t>
            </a:r>
          </a:p>
        </p:txBody>
      </p:sp>
      <p:sp>
        <p:nvSpPr>
          <p:cNvPr id="21" name="TextBox 20"/>
          <p:cNvSpPr txBox="1"/>
          <p:nvPr/>
        </p:nvSpPr>
        <p:spPr>
          <a:xfrm>
            <a:off x="6766560" y="2304288"/>
            <a:ext cx="4572000" cy="502920"/>
          </a:xfrm>
          <a:prstGeom prst="rect">
            <a:avLst/>
          </a:prstGeom>
          <a:noFill/>
        </p:spPr>
        <p:txBody>
          <a:bodyPr wrap="square">
            <a:spAutoFit/>
          </a:bodyPr>
          <a:lstStyle/>
          <a:p>
            <a:pPr algn="l"/>
            <a:r>
              <a:rPr sz="1300" b="0" i="0">
                <a:solidFill>
                  <a:srgbClr val="F1F5F9"/>
                </a:solidFill>
                <a:latin typeface="Calibri"/>
              </a:rPr>
              <a:t>Rancangan 1 â€” Regresi (Linear Regression)</a:t>
            </a:r>
          </a:p>
        </p:txBody>
      </p:sp>
      <p:sp>
        <p:nvSpPr>
          <p:cNvPr id="22" name="Rectangle 21"/>
          <p:cNvSpPr/>
          <p:nvPr/>
        </p:nvSpPr>
        <p:spPr>
          <a:xfrm>
            <a:off x="457200" y="3154680"/>
            <a:ext cx="5303520" cy="868680"/>
          </a:xfrm>
          <a:prstGeom prst="rect">
            <a:avLst/>
          </a:prstGeom>
          <a:solidFill>
            <a:srgbClr val="0D1224"/>
          </a:solidFill>
          <a:ln w="9525">
            <a:solidFill>
              <a:srgbClr val="402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154680"/>
            <a:ext cx="54864" cy="86868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3227832"/>
            <a:ext cx="457200" cy="365760"/>
          </a:xfrm>
          <a:prstGeom prst="rect">
            <a:avLst/>
          </a:prstGeom>
          <a:noFill/>
        </p:spPr>
        <p:txBody>
          <a:bodyPr wrap="square">
            <a:spAutoFit/>
          </a:bodyPr>
          <a:lstStyle/>
          <a:p>
            <a:pPr algn="l"/>
            <a:r>
              <a:rPr sz="2000" b="1" i="0">
                <a:solidFill>
                  <a:srgbClr val="C084FC"/>
                </a:solidFill>
                <a:latin typeface="Calibri"/>
              </a:rPr>
              <a:t>05</a:t>
            </a:r>
          </a:p>
        </p:txBody>
      </p:sp>
      <p:sp>
        <p:nvSpPr>
          <p:cNvPr id="25" name="TextBox 24"/>
          <p:cNvSpPr txBox="1"/>
          <p:nvPr/>
        </p:nvSpPr>
        <p:spPr>
          <a:xfrm>
            <a:off x="1097280" y="3355848"/>
            <a:ext cx="4572000" cy="502920"/>
          </a:xfrm>
          <a:prstGeom prst="rect">
            <a:avLst/>
          </a:prstGeom>
          <a:noFill/>
        </p:spPr>
        <p:txBody>
          <a:bodyPr wrap="square">
            <a:spAutoFit/>
          </a:bodyPr>
          <a:lstStyle/>
          <a:p>
            <a:pPr algn="l"/>
            <a:r>
              <a:rPr sz="1300" b="0" i="0">
                <a:solidFill>
                  <a:srgbClr val="F1F5F9"/>
                </a:solidFill>
                <a:latin typeface="Calibri"/>
              </a:rPr>
              <a:t>Rancangan 2 â€” Klasifikasi (Decision Tree)</a:t>
            </a:r>
          </a:p>
        </p:txBody>
      </p:sp>
      <p:sp>
        <p:nvSpPr>
          <p:cNvPr id="26" name="Rectangle 25"/>
          <p:cNvSpPr/>
          <p:nvPr/>
        </p:nvSpPr>
        <p:spPr>
          <a:xfrm>
            <a:off x="6126480" y="3154680"/>
            <a:ext cx="5303520" cy="868680"/>
          </a:xfrm>
          <a:prstGeom prst="rect">
            <a:avLst/>
          </a:prstGeom>
          <a:solidFill>
            <a:srgbClr val="0D1224"/>
          </a:solidFill>
          <a:ln w="9525">
            <a:solidFill>
              <a:srgbClr val="184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26480" y="3154680"/>
            <a:ext cx="54864" cy="8686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1072" y="3227832"/>
            <a:ext cx="457200" cy="365760"/>
          </a:xfrm>
          <a:prstGeom prst="rect">
            <a:avLst/>
          </a:prstGeom>
          <a:noFill/>
        </p:spPr>
        <p:txBody>
          <a:bodyPr wrap="square">
            <a:spAutoFit/>
          </a:bodyPr>
          <a:lstStyle/>
          <a:p>
            <a:pPr algn="l"/>
            <a:r>
              <a:rPr sz="2000" b="1" i="0">
                <a:solidFill>
                  <a:srgbClr val="4ADE80"/>
                </a:solidFill>
                <a:latin typeface="Calibri"/>
              </a:rPr>
              <a:t>06</a:t>
            </a:r>
          </a:p>
        </p:txBody>
      </p:sp>
      <p:sp>
        <p:nvSpPr>
          <p:cNvPr id="29" name="TextBox 28"/>
          <p:cNvSpPr txBox="1"/>
          <p:nvPr/>
        </p:nvSpPr>
        <p:spPr>
          <a:xfrm>
            <a:off x="6766560" y="3355848"/>
            <a:ext cx="4572000" cy="502920"/>
          </a:xfrm>
          <a:prstGeom prst="rect">
            <a:avLst/>
          </a:prstGeom>
          <a:noFill/>
        </p:spPr>
        <p:txBody>
          <a:bodyPr wrap="square">
            <a:spAutoFit/>
          </a:bodyPr>
          <a:lstStyle/>
          <a:p>
            <a:pPr algn="l"/>
            <a:r>
              <a:rPr sz="1300" b="0" i="0">
                <a:solidFill>
                  <a:srgbClr val="F1F5F9"/>
                </a:solidFill>
                <a:latin typeface="Calibri"/>
              </a:rPr>
              <a:t>Rancangan 3 â€” Clustering (K-Means)</a:t>
            </a:r>
          </a:p>
        </p:txBody>
      </p:sp>
      <p:sp>
        <p:nvSpPr>
          <p:cNvPr id="30" name="Rectangle 29"/>
          <p:cNvSpPr/>
          <p:nvPr/>
        </p:nvSpPr>
        <p:spPr>
          <a:xfrm>
            <a:off x="457200" y="4206240"/>
            <a:ext cx="5303520" cy="868680"/>
          </a:xfrm>
          <a:prstGeom prst="rect">
            <a:avLst/>
          </a:prstGeom>
          <a:solidFill>
            <a:srgbClr val="0D1224"/>
          </a:solidFill>
          <a:ln w="9525">
            <a:solidFill>
              <a:srgbClr val="5330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206240"/>
            <a:ext cx="54864" cy="86868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4279392"/>
            <a:ext cx="457200" cy="365760"/>
          </a:xfrm>
          <a:prstGeom prst="rect">
            <a:avLst/>
          </a:prstGeom>
          <a:noFill/>
        </p:spPr>
        <p:txBody>
          <a:bodyPr wrap="square">
            <a:spAutoFit/>
          </a:bodyPr>
          <a:lstStyle/>
          <a:p>
            <a:pPr algn="l"/>
            <a:r>
              <a:rPr sz="2000" b="1" i="0">
                <a:solidFill>
                  <a:srgbClr val="FB923C"/>
                </a:solidFill>
                <a:latin typeface="Calibri"/>
              </a:rPr>
              <a:t>07</a:t>
            </a:r>
          </a:p>
        </p:txBody>
      </p:sp>
      <p:sp>
        <p:nvSpPr>
          <p:cNvPr id="33" name="TextBox 32"/>
          <p:cNvSpPr txBox="1"/>
          <p:nvPr/>
        </p:nvSpPr>
        <p:spPr>
          <a:xfrm>
            <a:off x="1097280" y="4407408"/>
            <a:ext cx="4572000" cy="502920"/>
          </a:xfrm>
          <a:prstGeom prst="rect">
            <a:avLst/>
          </a:prstGeom>
          <a:noFill/>
        </p:spPr>
        <p:txBody>
          <a:bodyPr wrap="square">
            <a:spAutoFit/>
          </a:bodyPr>
          <a:lstStyle/>
          <a:p>
            <a:pPr algn="l"/>
            <a:r>
              <a:rPr sz="1300" b="0" i="0">
                <a:solidFill>
                  <a:srgbClr val="F1F5F9"/>
                </a:solidFill>
                <a:latin typeface="Calibri"/>
              </a:rPr>
              <a:t>Kesimpulan &amp; Manfaat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3 / 22</a:t>
            </a:r>
          </a:p>
        </p:txBody>
      </p:sp>
      <p:sp>
        <p:nvSpPr>
          <p:cNvPr id="4" name="TextBox 3"/>
          <p:cNvSpPr txBox="1"/>
          <p:nvPr/>
        </p:nvSpPr>
        <p:spPr>
          <a:xfrm>
            <a:off x="457200" y="182880"/>
            <a:ext cx="10972800" cy="594360"/>
          </a:xfrm>
          <a:prstGeom prst="rect">
            <a:avLst/>
          </a:prstGeom>
          <a:noFill/>
        </p:spPr>
        <p:txBody>
          <a:bodyPr wrap="square">
            <a:spAutoFit/>
          </a:bodyPr>
          <a:lstStyle/>
          <a:p>
            <a:pPr algn="l"/>
            <a:r>
              <a:rPr sz="2600" b="1" i="0">
                <a:solidFill>
                  <a:srgbClr val="F1F5F9"/>
                </a:solidFill>
                <a:latin typeface="Calibri"/>
              </a:rPr>
              <a:t>01  Latar Belakang &amp; Tujuan</a:t>
            </a:r>
          </a:p>
        </p:txBody>
      </p:sp>
      <p:sp>
        <p:nvSpPr>
          <p:cNvPr id="5" name="Rectangle 4"/>
          <p:cNvSpPr/>
          <p:nvPr/>
        </p:nvSpPr>
        <p:spPr>
          <a:xfrm>
            <a:off x="457200" y="777240"/>
            <a:ext cx="3657600" cy="457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5394960" cy="5394960"/>
          </a:xfrm>
          <a:prstGeom prst="rect">
            <a:avLst/>
          </a:prstGeom>
          <a:solidFill>
            <a:srgbClr val="0D1224"/>
          </a:solidFill>
          <a:ln w="9525">
            <a:solidFill>
              <a:srgbClr val="203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14400"/>
            <a:ext cx="54864" cy="539496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5120640" cy="457200"/>
          </a:xfrm>
          <a:prstGeom prst="rect">
            <a:avLst/>
          </a:prstGeom>
          <a:noFill/>
        </p:spPr>
        <p:txBody>
          <a:bodyPr wrap="square">
            <a:spAutoFit/>
          </a:bodyPr>
          <a:lstStyle/>
          <a:p>
            <a:pPr algn="l"/>
            <a:r>
              <a:rPr sz="1500" b="1" i="0">
                <a:solidFill>
                  <a:srgbClr val="60A5FA"/>
                </a:solidFill>
                <a:latin typeface="Calibri"/>
              </a:rPr>
              <a:t>ðŸ“‹  Latar Belakang</a:t>
            </a:r>
          </a:p>
        </p:txBody>
      </p:sp>
      <p:sp>
        <p:nvSpPr>
          <p:cNvPr id="9" name="TextBox 8"/>
          <p:cNvSpPr txBox="1"/>
          <p:nvPr/>
        </p:nvSpPr>
        <p:spPr>
          <a:xfrm>
            <a:off x="548640" y="1463040"/>
            <a:ext cx="5120640" cy="4114800"/>
          </a:xfrm>
          <a:prstGeom prst="rect">
            <a:avLst/>
          </a:prstGeom>
          <a:noFill/>
        </p:spPr>
        <p:txBody>
          <a:bodyPr wrap="square">
            <a:spAutoFit/>
          </a:bodyPr>
          <a:lstStyle/>
          <a:p>
            <a:pPr>
              <a:spcBef>
                <a:spcPts val="300"/>
              </a:spcBef>
            </a:pPr>
            <a:r>
              <a:rPr sz="1300" b="0">
                <a:solidFill>
                  <a:srgbClr val="94A3B8"/>
                </a:solidFill>
                <a:latin typeface="Calibri"/>
              </a:rPr>
              <a:t>Rumah sakit menghasilkan data pasien dalam jumlah besar setiap harinya â€” mulai dari data demografis, diagnosis, hingga biaya perawatan.</a:t>
            </a:r>
          </a:p>
          <a:p>
            <a:pPr>
              <a:spcBef>
                <a:spcPts val="300"/>
              </a:spcBef>
            </a:pPr>
            <a:r>
              <a:rPr sz="1300" b="0">
                <a:solidFill>
                  <a:srgbClr val="94A3B8"/>
                </a:solidFill>
                <a:latin typeface="Calibri"/>
              </a:rPr>
              <a:t/>
            </a:r>
          </a:p>
          <a:p>
            <a:pPr>
              <a:spcBef>
                <a:spcPts val="300"/>
              </a:spcBef>
            </a:pPr>
            <a:r>
              <a:rPr sz="1300" b="0">
                <a:solidFill>
                  <a:srgbClr val="94A3B8"/>
                </a:solidFill>
                <a:latin typeface="Calibri"/>
              </a:rPr>
              <a:t>Data yang banyak ini seringkali tidak dimanfaatkan secara optimal untuk mendukung pengambilan keputusan.</a:t>
            </a:r>
          </a:p>
          <a:p>
            <a:pPr>
              <a:spcBef>
                <a:spcPts val="300"/>
              </a:spcBef>
            </a:pPr>
            <a:r>
              <a:rPr sz="1300" b="0">
                <a:solidFill>
                  <a:srgbClr val="94A3B8"/>
                </a:solidFill>
                <a:latin typeface="Calibri"/>
              </a:rPr>
              <a:t/>
            </a:r>
          </a:p>
          <a:p>
            <a:pPr>
              <a:spcBef>
                <a:spcPts val="300"/>
              </a:spcBef>
            </a:pPr>
            <a:r>
              <a:rPr sz="1300" b="0">
                <a:solidFill>
                  <a:srgbClr val="94A3B8"/>
                </a:solidFill>
                <a:latin typeface="Calibri"/>
              </a:rPr>
              <a:t>Data Mining hadir sebagai solusi untuk mengolah data tersebut menjadi informasi yang berguna bagi manajemen rumah sakit.</a:t>
            </a:r>
          </a:p>
        </p:txBody>
      </p:sp>
      <p:sp>
        <p:nvSpPr>
          <p:cNvPr id="10" name="Rectangle 9"/>
          <p:cNvSpPr/>
          <p:nvPr/>
        </p:nvSpPr>
        <p:spPr>
          <a:xfrm>
            <a:off x="6035040" y="914400"/>
            <a:ext cx="5760720" cy="5394960"/>
          </a:xfrm>
          <a:prstGeom prst="rect">
            <a:avLst/>
          </a:prstGeom>
          <a:solidFill>
            <a:srgbClr val="0D1224"/>
          </a:solidFill>
          <a:ln w="9525">
            <a:solidFill>
              <a:srgbClr val="402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914400"/>
            <a:ext cx="54864" cy="539496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005840"/>
            <a:ext cx="5486400" cy="457200"/>
          </a:xfrm>
          <a:prstGeom prst="rect">
            <a:avLst/>
          </a:prstGeom>
          <a:noFill/>
        </p:spPr>
        <p:txBody>
          <a:bodyPr wrap="square">
            <a:spAutoFit/>
          </a:bodyPr>
          <a:lstStyle/>
          <a:p>
            <a:pPr algn="l"/>
            <a:r>
              <a:rPr sz="1500" b="1" i="0">
                <a:solidFill>
                  <a:srgbClr val="C084FC"/>
                </a:solidFill>
                <a:latin typeface="Calibri"/>
              </a:rPr>
              <a:t>ðŸŽ¯  Tujuan</a:t>
            </a:r>
          </a:p>
        </p:txBody>
      </p:sp>
      <p:sp>
        <p:nvSpPr>
          <p:cNvPr id="13" name="TextBox 12"/>
          <p:cNvSpPr txBox="1"/>
          <p:nvPr/>
        </p:nvSpPr>
        <p:spPr>
          <a:xfrm>
            <a:off x="6217920" y="1463040"/>
            <a:ext cx="5394960" cy="4389120"/>
          </a:xfrm>
          <a:prstGeom prst="rect">
            <a:avLst/>
          </a:prstGeom>
          <a:noFill/>
        </p:spPr>
        <p:txBody>
          <a:bodyPr wrap="square">
            <a:spAutoFit/>
          </a:bodyPr>
          <a:lstStyle/>
          <a:p>
            <a:pPr>
              <a:spcBef>
                <a:spcPts val="300"/>
              </a:spcBef>
            </a:pPr>
            <a:r>
              <a:rPr sz="1250" b="0">
                <a:solidFill>
                  <a:srgbClr val="94A3B8"/>
                </a:solidFill>
                <a:latin typeface="Calibri"/>
              </a:rPr>
              <a:t>âœ…  Merancang dashboard interaktif untuk memvisualisasikan data kesehatan pasien</a:t>
            </a:r>
          </a:p>
          <a:p>
            <a:pPr>
              <a:spcBef>
                <a:spcPts val="300"/>
              </a:spcBef>
            </a:pPr>
            <a:r>
              <a:rPr sz="1250" b="0">
                <a:solidFill>
                  <a:srgbClr val="94A3B8"/>
                </a:solidFill>
                <a:latin typeface="Calibri"/>
              </a:rPr>
              <a:t/>
            </a:r>
          </a:p>
          <a:p>
            <a:pPr>
              <a:spcBef>
                <a:spcPts val="300"/>
              </a:spcBef>
            </a:pPr>
            <a:r>
              <a:rPr sz="1250" b="0">
                <a:solidFill>
                  <a:srgbClr val="94A3B8"/>
                </a:solidFill>
                <a:latin typeface="Calibri"/>
              </a:rPr>
              <a:t>âœ…  Menerapkan 3 teknik Data Mining:
     â€¢ Regresi â€” prediksi biaya tagihan
     â€¢ Klasifikasi â€” prediksi hasil tes
     â€¢ Clustering â€” segmentasi pasien</a:t>
            </a:r>
          </a:p>
          <a:p>
            <a:pPr>
              <a:spcBef>
                <a:spcPts val="300"/>
              </a:spcBef>
            </a:pPr>
            <a:r>
              <a:rPr sz="1250" b="0">
                <a:solidFill>
                  <a:srgbClr val="94A3B8"/>
                </a:solidFill>
                <a:latin typeface="Calibri"/>
              </a:rPr>
              <a:t/>
            </a:r>
          </a:p>
          <a:p>
            <a:pPr>
              <a:spcBef>
                <a:spcPts val="300"/>
              </a:spcBef>
            </a:pPr>
            <a:r>
              <a:rPr sz="1250" b="0">
                <a:solidFill>
                  <a:srgbClr val="94A3B8"/>
                </a:solidFill>
                <a:latin typeface="Calibri"/>
              </a:rPr>
              <a:t>âœ…  Menjelaskan fungsi Data Mining dalam mendukung pengambilan keputusan untuk mencapai tujuan organisasi rumah sakit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4 / 22</a:t>
            </a:r>
          </a:p>
        </p:txBody>
      </p:sp>
      <p:sp>
        <p:nvSpPr>
          <p:cNvPr id="4" name="TextBox 3"/>
          <p:cNvSpPr txBox="1"/>
          <p:nvPr/>
        </p:nvSpPr>
        <p:spPr>
          <a:xfrm>
            <a:off x="457200" y="182880"/>
            <a:ext cx="10972800" cy="594360"/>
          </a:xfrm>
          <a:prstGeom prst="rect">
            <a:avLst/>
          </a:prstGeom>
          <a:noFill/>
        </p:spPr>
        <p:txBody>
          <a:bodyPr wrap="square">
            <a:spAutoFit/>
          </a:bodyPr>
          <a:lstStyle/>
          <a:p>
            <a:pPr algn="l"/>
            <a:r>
              <a:rPr sz="2600" b="1" i="0">
                <a:solidFill>
                  <a:srgbClr val="F1F5F9"/>
                </a:solidFill>
                <a:latin typeface="Calibri"/>
              </a:rPr>
              <a:t>02  Dataset yang Digunakan</a:t>
            </a:r>
          </a:p>
        </p:txBody>
      </p:sp>
      <p:sp>
        <p:nvSpPr>
          <p:cNvPr id="5" name="Rectangle 4"/>
          <p:cNvSpPr/>
          <p:nvPr/>
        </p:nvSpPr>
        <p:spPr>
          <a:xfrm>
            <a:off x="457200" y="777240"/>
            <a:ext cx="4114800" cy="457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2743200" cy="960120"/>
          </a:xfrm>
          <a:prstGeom prst="rect">
            <a:avLst/>
          </a:prstGeom>
          <a:solidFill>
            <a:srgbClr val="0D1224"/>
          </a:solidFill>
          <a:ln w="9525">
            <a:solidFill>
              <a:srgbClr val="203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2743200" cy="640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78992"/>
            <a:ext cx="2743200" cy="548640"/>
          </a:xfrm>
          <a:prstGeom prst="rect">
            <a:avLst/>
          </a:prstGeom>
          <a:noFill/>
        </p:spPr>
        <p:txBody>
          <a:bodyPr wrap="square">
            <a:spAutoFit/>
          </a:bodyPr>
          <a:lstStyle/>
          <a:p>
            <a:pPr algn="ctr"/>
            <a:r>
              <a:rPr sz="2800" b="1" i="0">
                <a:solidFill>
                  <a:srgbClr val="60A5FA"/>
                </a:solidFill>
                <a:latin typeface="Calibri"/>
              </a:rPr>
              <a:t>55.500</a:t>
            </a:r>
          </a:p>
        </p:txBody>
      </p:sp>
      <p:sp>
        <p:nvSpPr>
          <p:cNvPr id="9" name="TextBox 8"/>
          <p:cNvSpPr txBox="1"/>
          <p:nvPr/>
        </p:nvSpPr>
        <p:spPr>
          <a:xfrm>
            <a:off x="365760" y="1572768"/>
            <a:ext cx="2743200" cy="320040"/>
          </a:xfrm>
          <a:prstGeom prst="rect">
            <a:avLst/>
          </a:prstGeom>
          <a:noFill/>
        </p:spPr>
        <p:txBody>
          <a:bodyPr wrap="square">
            <a:spAutoFit/>
          </a:bodyPr>
          <a:lstStyle/>
          <a:p>
            <a:pPr algn="ctr"/>
            <a:r>
              <a:rPr sz="1100" b="0" i="0">
                <a:solidFill>
                  <a:srgbClr val="94A3B8"/>
                </a:solidFill>
                <a:latin typeface="Calibri"/>
              </a:rPr>
              <a:t>Total Record</a:t>
            </a:r>
          </a:p>
        </p:txBody>
      </p:sp>
      <p:sp>
        <p:nvSpPr>
          <p:cNvPr id="10" name="Rectangle 9"/>
          <p:cNvSpPr/>
          <p:nvPr/>
        </p:nvSpPr>
        <p:spPr>
          <a:xfrm>
            <a:off x="3291840" y="960120"/>
            <a:ext cx="2743200" cy="960120"/>
          </a:xfrm>
          <a:prstGeom prst="rect">
            <a:avLst/>
          </a:prstGeom>
          <a:solidFill>
            <a:srgbClr val="0D1224"/>
          </a:solidFill>
          <a:ln w="9525">
            <a:solidFill>
              <a:srgbClr val="402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1840" y="960120"/>
            <a:ext cx="2743200" cy="64008"/>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078992"/>
            <a:ext cx="2743200" cy="548640"/>
          </a:xfrm>
          <a:prstGeom prst="rect">
            <a:avLst/>
          </a:prstGeom>
          <a:noFill/>
        </p:spPr>
        <p:txBody>
          <a:bodyPr wrap="square">
            <a:spAutoFit/>
          </a:bodyPr>
          <a:lstStyle/>
          <a:p>
            <a:pPr algn="ctr"/>
            <a:r>
              <a:rPr sz="2800" b="1" i="0">
                <a:solidFill>
                  <a:srgbClr val="C084FC"/>
                </a:solidFill>
                <a:latin typeface="Calibri"/>
              </a:rPr>
              <a:t>15</a:t>
            </a:r>
          </a:p>
        </p:txBody>
      </p:sp>
      <p:sp>
        <p:nvSpPr>
          <p:cNvPr id="13" name="TextBox 12"/>
          <p:cNvSpPr txBox="1"/>
          <p:nvPr/>
        </p:nvSpPr>
        <p:spPr>
          <a:xfrm>
            <a:off x="3291840" y="1572768"/>
            <a:ext cx="2743200" cy="320040"/>
          </a:xfrm>
          <a:prstGeom prst="rect">
            <a:avLst/>
          </a:prstGeom>
          <a:noFill/>
        </p:spPr>
        <p:txBody>
          <a:bodyPr wrap="square">
            <a:spAutoFit/>
          </a:bodyPr>
          <a:lstStyle/>
          <a:p>
            <a:pPr algn="ctr"/>
            <a:r>
              <a:rPr sz="1100" b="0" i="0">
                <a:solidFill>
                  <a:srgbClr val="94A3B8"/>
                </a:solidFill>
                <a:latin typeface="Calibri"/>
              </a:rPr>
              <a:t>Jumlah Kolom</a:t>
            </a:r>
          </a:p>
        </p:txBody>
      </p:sp>
      <p:sp>
        <p:nvSpPr>
          <p:cNvPr id="14" name="Rectangle 13"/>
          <p:cNvSpPr/>
          <p:nvPr/>
        </p:nvSpPr>
        <p:spPr>
          <a:xfrm>
            <a:off x="6217920" y="960120"/>
            <a:ext cx="2743200" cy="960120"/>
          </a:xfrm>
          <a:prstGeom prst="rect">
            <a:avLst/>
          </a:prstGeom>
          <a:solidFill>
            <a:srgbClr val="0D1224"/>
          </a:solidFill>
          <a:ln w="9525">
            <a:solidFill>
              <a:srgbClr val="184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960120"/>
            <a:ext cx="2743200" cy="64008"/>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078992"/>
            <a:ext cx="2743200" cy="548640"/>
          </a:xfrm>
          <a:prstGeom prst="rect">
            <a:avLst/>
          </a:prstGeom>
          <a:noFill/>
        </p:spPr>
        <p:txBody>
          <a:bodyPr wrap="square">
            <a:spAutoFit/>
          </a:bodyPr>
          <a:lstStyle/>
          <a:p>
            <a:pPr algn="ctr"/>
            <a:r>
              <a:rPr sz="2800" b="1" i="0">
                <a:solidFill>
                  <a:srgbClr val="4ADE80"/>
                </a:solidFill>
                <a:latin typeface="Calibri"/>
              </a:rPr>
              <a:t>6</a:t>
            </a:r>
          </a:p>
        </p:txBody>
      </p:sp>
      <p:sp>
        <p:nvSpPr>
          <p:cNvPr id="17" name="TextBox 16"/>
          <p:cNvSpPr txBox="1"/>
          <p:nvPr/>
        </p:nvSpPr>
        <p:spPr>
          <a:xfrm>
            <a:off x="6217920" y="1572768"/>
            <a:ext cx="2743200" cy="320040"/>
          </a:xfrm>
          <a:prstGeom prst="rect">
            <a:avLst/>
          </a:prstGeom>
          <a:noFill/>
        </p:spPr>
        <p:txBody>
          <a:bodyPr wrap="square">
            <a:spAutoFit/>
          </a:bodyPr>
          <a:lstStyle/>
          <a:p>
            <a:pPr algn="ctr"/>
            <a:r>
              <a:rPr sz="1100" b="0" i="0">
                <a:solidFill>
                  <a:srgbClr val="94A3B8"/>
                </a:solidFill>
                <a:latin typeface="Calibri"/>
              </a:rPr>
              <a:t>Jenis Penyakit</a:t>
            </a:r>
          </a:p>
        </p:txBody>
      </p:sp>
      <p:sp>
        <p:nvSpPr>
          <p:cNvPr id="18" name="Rectangle 17"/>
          <p:cNvSpPr/>
          <p:nvPr/>
        </p:nvSpPr>
        <p:spPr>
          <a:xfrm>
            <a:off x="9144000" y="960120"/>
            <a:ext cx="2743200" cy="960120"/>
          </a:xfrm>
          <a:prstGeom prst="rect">
            <a:avLst/>
          </a:prstGeom>
          <a:solidFill>
            <a:srgbClr val="0D1224"/>
          </a:solidFill>
          <a:ln w="9525">
            <a:solidFill>
              <a:srgbClr val="5330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0" y="960120"/>
            <a:ext cx="2743200" cy="64008"/>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1078992"/>
            <a:ext cx="2743200" cy="548640"/>
          </a:xfrm>
          <a:prstGeom prst="rect">
            <a:avLst/>
          </a:prstGeom>
          <a:noFill/>
        </p:spPr>
        <p:txBody>
          <a:bodyPr wrap="square">
            <a:spAutoFit/>
          </a:bodyPr>
          <a:lstStyle/>
          <a:p>
            <a:pPr algn="ctr"/>
            <a:r>
              <a:rPr sz="2800" b="1" i="0">
                <a:solidFill>
                  <a:srgbClr val="FB923C"/>
                </a:solidFill>
                <a:latin typeface="Calibri"/>
              </a:rPr>
              <a:t>3</a:t>
            </a:r>
          </a:p>
        </p:txBody>
      </p:sp>
      <p:sp>
        <p:nvSpPr>
          <p:cNvPr id="21" name="TextBox 20"/>
          <p:cNvSpPr txBox="1"/>
          <p:nvPr/>
        </p:nvSpPr>
        <p:spPr>
          <a:xfrm>
            <a:off x="9144000" y="1572768"/>
            <a:ext cx="2743200" cy="320040"/>
          </a:xfrm>
          <a:prstGeom prst="rect">
            <a:avLst/>
          </a:prstGeom>
          <a:noFill/>
        </p:spPr>
        <p:txBody>
          <a:bodyPr wrap="square">
            <a:spAutoFit/>
          </a:bodyPr>
          <a:lstStyle/>
          <a:p>
            <a:pPr algn="ctr"/>
            <a:r>
              <a:rPr sz="1100" b="0" i="0">
                <a:solidFill>
                  <a:srgbClr val="94A3B8"/>
                </a:solidFill>
                <a:latin typeface="Calibri"/>
              </a:rPr>
              <a:t>Hasil Tes</a:t>
            </a:r>
          </a:p>
        </p:txBody>
      </p:sp>
      <p:sp>
        <p:nvSpPr>
          <p:cNvPr id="22" name="TextBox 21"/>
          <p:cNvSpPr txBox="1"/>
          <p:nvPr/>
        </p:nvSpPr>
        <p:spPr>
          <a:xfrm>
            <a:off x="365760" y="2103120"/>
            <a:ext cx="11430000" cy="411480"/>
          </a:xfrm>
          <a:prstGeom prst="rect">
            <a:avLst/>
          </a:prstGeom>
          <a:noFill/>
        </p:spPr>
        <p:txBody>
          <a:bodyPr wrap="square">
            <a:spAutoFit/>
          </a:bodyPr>
          <a:lstStyle/>
          <a:p>
            <a:pPr algn="l"/>
            <a:r>
              <a:rPr sz="1400" b="1" i="0">
                <a:solidFill>
                  <a:srgbClr val="F1F5F9"/>
                </a:solidFill>
                <a:latin typeface="Calibri"/>
              </a:rPr>
              <a:t>Struktur Kolom Dataset</a:t>
            </a:r>
          </a:p>
        </p:txBody>
      </p:sp>
      <p:sp>
        <p:nvSpPr>
          <p:cNvPr id="23" name="Rectangle 22"/>
          <p:cNvSpPr/>
          <p:nvPr/>
        </p:nvSpPr>
        <p:spPr>
          <a:xfrm>
            <a:off x="365760" y="2514600"/>
            <a:ext cx="3200400" cy="2926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11880" y="2514600"/>
            <a:ext cx="1188720" cy="2926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46320" y="2514600"/>
            <a:ext cx="6949440" cy="2926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551176"/>
            <a:ext cx="3108960" cy="256032"/>
          </a:xfrm>
          <a:prstGeom prst="rect">
            <a:avLst/>
          </a:prstGeom>
          <a:noFill/>
        </p:spPr>
        <p:txBody>
          <a:bodyPr wrap="square">
            <a:spAutoFit/>
          </a:bodyPr>
          <a:lstStyle/>
          <a:p>
            <a:pPr algn="l"/>
            <a:r>
              <a:rPr sz="1000" b="1" i="0">
                <a:solidFill>
                  <a:srgbClr val="0A0E1A"/>
                </a:solidFill>
                <a:latin typeface="Calibri"/>
              </a:rPr>
              <a:t>Nama Kolom</a:t>
            </a:r>
          </a:p>
        </p:txBody>
      </p:sp>
      <p:sp>
        <p:nvSpPr>
          <p:cNvPr id="27" name="TextBox 26"/>
          <p:cNvSpPr txBox="1"/>
          <p:nvPr/>
        </p:nvSpPr>
        <p:spPr>
          <a:xfrm>
            <a:off x="3630168" y="2551176"/>
            <a:ext cx="1143000" cy="256032"/>
          </a:xfrm>
          <a:prstGeom prst="rect">
            <a:avLst/>
          </a:prstGeom>
          <a:noFill/>
        </p:spPr>
        <p:txBody>
          <a:bodyPr wrap="square">
            <a:spAutoFit/>
          </a:bodyPr>
          <a:lstStyle/>
          <a:p>
            <a:pPr algn="l"/>
            <a:r>
              <a:rPr sz="1000" b="1" i="0">
                <a:solidFill>
                  <a:srgbClr val="0A0E1A"/>
                </a:solidFill>
                <a:latin typeface="Calibri"/>
              </a:rPr>
              <a:t>Tipe</a:t>
            </a:r>
          </a:p>
        </p:txBody>
      </p:sp>
      <p:sp>
        <p:nvSpPr>
          <p:cNvPr id="28" name="TextBox 27"/>
          <p:cNvSpPr txBox="1"/>
          <p:nvPr/>
        </p:nvSpPr>
        <p:spPr>
          <a:xfrm>
            <a:off x="4864608" y="2551176"/>
            <a:ext cx="6858000" cy="256032"/>
          </a:xfrm>
          <a:prstGeom prst="rect">
            <a:avLst/>
          </a:prstGeom>
          <a:noFill/>
        </p:spPr>
        <p:txBody>
          <a:bodyPr wrap="square">
            <a:spAutoFit/>
          </a:bodyPr>
          <a:lstStyle/>
          <a:p>
            <a:pPr algn="l"/>
            <a:r>
              <a:rPr sz="1000" b="1" i="0">
                <a:solidFill>
                  <a:srgbClr val="0A0E1A"/>
                </a:solidFill>
                <a:latin typeface="Calibri"/>
              </a:rPr>
              <a:t>Keterangan</a:t>
            </a:r>
          </a:p>
        </p:txBody>
      </p:sp>
      <p:sp>
        <p:nvSpPr>
          <p:cNvPr id="29" name="Rectangle 28"/>
          <p:cNvSpPr/>
          <p:nvPr/>
        </p:nvSpPr>
        <p:spPr>
          <a:xfrm>
            <a:off x="365760" y="2816352"/>
            <a:ext cx="320040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11880" y="2816352"/>
            <a:ext cx="118872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846320" y="2816352"/>
            <a:ext cx="694944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2852928"/>
            <a:ext cx="3017520" cy="260603"/>
          </a:xfrm>
          <a:prstGeom prst="rect">
            <a:avLst/>
          </a:prstGeom>
          <a:noFill/>
        </p:spPr>
        <p:txBody>
          <a:bodyPr wrap="square">
            <a:spAutoFit/>
          </a:bodyPr>
          <a:lstStyle/>
          <a:p>
            <a:pPr algn="l"/>
            <a:r>
              <a:rPr sz="950" b="1" i="0">
                <a:solidFill>
                  <a:srgbClr val="F1F5F9"/>
                </a:solidFill>
                <a:latin typeface="Calibri"/>
              </a:rPr>
              <a:t>Name</a:t>
            </a:r>
          </a:p>
        </p:txBody>
      </p:sp>
      <p:sp>
        <p:nvSpPr>
          <p:cNvPr id="33" name="TextBox 32"/>
          <p:cNvSpPr txBox="1"/>
          <p:nvPr/>
        </p:nvSpPr>
        <p:spPr>
          <a:xfrm>
            <a:off x="3630168" y="2852928"/>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34" name="TextBox 33"/>
          <p:cNvSpPr txBox="1"/>
          <p:nvPr/>
        </p:nvSpPr>
        <p:spPr>
          <a:xfrm>
            <a:off x="4864608" y="2852928"/>
            <a:ext cx="6812280" cy="260603"/>
          </a:xfrm>
          <a:prstGeom prst="rect">
            <a:avLst/>
          </a:prstGeom>
          <a:noFill/>
        </p:spPr>
        <p:txBody>
          <a:bodyPr wrap="square">
            <a:spAutoFit/>
          </a:bodyPr>
          <a:lstStyle/>
          <a:p>
            <a:pPr algn="l"/>
            <a:r>
              <a:rPr sz="950" b="0" i="0">
                <a:solidFill>
                  <a:srgbClr val="94A3B8"/>
                </a:solidFill>
                <a:latin typeface="Calibri"/>
              </a:rPr>
              <a:t>Nama lengkap pasien</a:t>
            </a:r>
          </a:p>
        </p:txBody>
      </p:sp>
      <p:sp>
        <p:nvSpPr>
          <p:cNvPr id="35" name="Rectangle 34"/>
          <p:cNvSpPr/>
          <p:nvPr/>
        </p:nvSpPr>
        <p:spPr>
          <a:xfrm>
            <a:off x="365760" y="3076955"/>
            <a:ext cx="320040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11880" y="3076955"/>
            <a:ext cx="118872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846320" y="3076955"/>
            <a:ext cx="694944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8912" y="3113531"/>
            <a:ext cx="3017520" cy="260603"/>
          </a:xfrm>
          <a:prstGeom prst="rect">
            <a:avLst/>
          </a:prstGeom>
          <a:noFill/>
        </p:spPr>
        <p:txBody>
          <a:bodyPr wrap="square">
            <a:spAutoFit/>
          </a:bodyPr>
          <a:lstStyle/>
          <a:p>
            <a:pPr algn="l"/>
            <a:r>
              <a:rPr sz="950" b="1" i="0">
                <a:solidFill>
                  <a:srgbClr val="F1F5F9"/>
                </a:solidFill>
                <a:latin typeface="Calibri"/>
              </a:rPr>
              <a:t>Age</a:t>
            </a:r>
          </a:p>
        </p:txBody>
      </p:sp>
      <p:sp>
        <p:nvSpPr>
          <p:cNvPr id="39" name="TextBox 38"/>
          <p:cNvSpPr txBox="1"/>
          <p:nvPr/>
        </p:nvSpPr>
        <p:spPr>
          <a:xfrm>
            <a:off x="3630168" y="3113531"/>
            <a:ext cx="1143000" cy="260603"/>
          </a:xfrm>
          <a:prstGeom prst="rect">
            <a:avLst/>
          </a:prstGeom>
          <a:noFill/>
        </p:spPr>
        <p:txBody>
          <a:bodyPr wrap="square">
            <a:spAutoFit/>
          </a:bodyPr>
          <a:lstStyle/>
          <a:p>
            <a:pPr algn="l"/>
            <a:r>
              <a:rPr sz="950" b="0" i="0">
                <a:solidFill>
                  <a:srgbClr val="60A5FA"/>
                </a:solidFill>
                <a:latin typeface="Calibri"/>
              </a:rPr>
              <a:t>Angka</a:t>
            </a:r>
          </a:p>
        </p:txBody>
      </p:sp>
      <p:sp>
        <p:nvSpPr>
          <p:cNvPr id="40" name="TextBox 39"/>
          <p:cNvSpPr txBox="1"/>
          <p:nvPr/>
        </p:nvSpPr>
        <p:spPr>
          <a:xfrm>
            <a:off x="4864608" y="3113531"/>
            <a:ext cx="6812280" cy="260603"/>
          </a:xfrm>
          <a:prstGeom prst="rect">
            <a:avLst/>
          </a:prstGeom>
          <a:noFill/>
        </p:spPr>
        <p:txBody>
          <a:bodyPr wrap="square">
            <a:spAutoFit/>
          </a:bodyPr>
          <a:lstStyle/>
          <a:p>
            <a:pPr algn="l"/>
            <a:r>
              <a:rPr sz="950" b="0" i="0">
                <a:solidFill>
                  <a:srgbClr val="94A3B8"/>
                </a:solidFill>
                <a:latin typeface="Calibri"/>
              </a:rPr>
              <a:t>Umur pasien (tahun)</a:t>
            </a:r>
          </a:p>
        </p:txBody>
      </p:sp>
      <p:sp>
        <p:nvSpPr>
          <p:cNvPr id="41" name="Rectangle 40"/>
          <p:cNvSpPr/>
          <p:nvPr/>
        </p:nvSpPr>
        <p:spPr>
          <a:xfrm>
            <a:off x="365760" y="3337558"/>
            <a:ext cx="320040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11880" y="3337558"/>
            <a:ext cx="118872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846320" y="3337558"/>
            <a:ext cx="694944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 y="3374134"/>
            <a:ext cx="3017520" cy="260603"/>
          </a:xfrm>
          <a:prstGeom prst="rect">
            <a:avLst/>
          </a:prstGeom>
          <a:noFill/>
        </p:spPr>
        <p:txBody>
          <a:bodyPr wrap="square">
            <a:spAutoFit/>
          </a:bodyPr>
          <a:lstStyle/>
          <a:p>
            <a:pPr algn="l"/>
            <a:r>
              <a:rPr sz="950" b="1" i="0">
                <a:solidFill>
                  <a:srgbClr val="F1F5F9"/>
                </a:solidFill>
                <a:latin typeface="Calibri"/>
              </a:rPr>
              <a:t>Gender</a:t>
            </a:r>
          </a:p>
        </p:txBody>
      </p:sp>
      <p:sp>
        <p:nvSpPr>
          <p:cNvPr id="45" name="TextBox 44"/>
          <p:cNvSpPr txBox="1"/>
          <p:nvPr/>
        </p:nvSpPr>
        <p:spPr>
          <a:xfrm>
            <a:off x="3630168" y="3374134"/>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46" name="TextBox 45"/>
          <p:cNvSpPr txBox="1"/>
          <p:nvPr/>
        </p:nvSpPr>
        <p:spPr>
          <a:xfrm>
            <a:off x="4864608" y="3374134"/>
            <a:ext cx="6812280" cy="260603"/>
          </a:xfrm>
          <a:prstGeom prst="rect">
            <a:avLst/>
          </a:prstGeom>
          <a:noFill/>
        </p:spPr>
        <p:txBody>
          <a:bodyPr wrap="square">
            <a:spAutoFit/>
          </a:bodyPr>
          <a:lstStyle/>
          <a:p>
            <a:pPr algn="l"/>
            <a:r>
              <a:rPr sz="950" b="0" i="0">
                <a:solidFill>
                  <a:srgbClr val="94A3B8"/>
                </a:solidFill>
                <a:latin typeface="Calibri"/>
              </a:rPr>
              <a:t>Jenis kelamin (Male/Female)</a:t>
            </a:r>
          </a:p>
        </p:txBody>
      </p:sp>
      <p:sp>
        <p:nvSpPr>
          <p:cNvPr id="47" name="Rectangle 46"/>
          <p:cNvSpPr/>
          <p:nvPr/>
        </p:nvSpPr>
        <p:spPr>
          <a:xfrm>
            <a:off x="365760" y="3598161"/>
            <a:ext cx="320040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11880" y="3598161"/>
            <a:ext cx="118872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846320" y="3598161"/>
            <a:ext cx="694944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8912" y="3634737"/>
            <a:ext cx="3017520" cy="260603"/>
          </a:xfrm>
          <a:prstGeom prst="rect">
            <a:avLst/>
          </a:prstGeom>
          <a:noFill/>
        </p:spPr>
        <p:txBody>
          <a:bodyPr wrap="square">
            <a:spAutoFit/>
          </a:bodyPr>
          <a:lstStyle/>
          <a:p>
            <a:pPr algn="l"/>
            <a:r>
              <a:rPr sz="950" b="1" i="0">
                <a:solidFill>
                  <a:srgbClr val="F1F5F9"/>
                </a:solidFill>
                <a:latin typeface="Calibri"/>
              </a:rPr>
              <a:t>Blood Type</a:t>
            </a:r>
          </a:p>
        </p:txBody>
      </p:sp>
      <p:sp>
        <p:nvSpPr>
          <p:cNvPr id="51" name="TextBox 50"/>
          <p:cNvSpPr txBox="1"/>
          <p:nvPr/>
        </p:nvSpPr>
        <p:spPr>
          <a:xfrm>
            <a:off x="3630168" y="3634737"/>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52" name="TextBox 51"/>
          <p:cNvSpPr txBox="1"/>
          <p:nvPr/>
        </p:nvSpPr>
        <p:spPr>
          <a:xfrm>
            <a:off x="4864608" y="3634737"/>
            <a:ext cx="6812280" cy="260603"/>
          </a:xfrm>
          <a:prstGeom prst="rect">
            <a:avLst/>
          </a:prstGeom>
          <a:noFill/>
        </p:spPr>
        <p:txBody>
          <a:bodyPr wrap="square">
            <a:spAutoFit/>
          </a:bodyPr>
          <a:lstStyle/>
          <a:p>
            <a:pPr algn="l"/>
            <a:r>
              <a:rPr sz="950" b="0" i="0">
                <a:solidFill>
                  <a:srgbClr val="94A3B8"/>
                </a:solidFill>
                <a:latin typeface="Calibri"/>
              </a:rPr>
              <a:t>Golongan darah pasien</a:t>
            </a:r>
          </a:p>
        </p:txBody>
      </p:sp>
      <p:sp>
        <p:nvSpPr>
          <p:cNvPr id="53" name="Rectangle 52"/>
          <p:cNvSpPr/>
          <p:nvPr/>
        </p:nvSpPr>
        <p:spPr>
          <a:xfrm>
            <a:off x="365760" y="3858764"/>
            <a:ext cx="320040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11880" y="3858764"/>
            <a:ext cx="118872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846320" y="3858764"/>
            <a:ext cx="694944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8912" y="3895340"/>
            <a:ext cx="3017520" cy="260603"/>
          </a:xfrm>
          <a:prstGeom prst="rect">
            <a:avLst/>
          </a:prstGeom>
          <a:noFill/>
        </p:spPr>
        <p:txBody>
          <a:bodyPr wrap="square">
            <a:spAutoFit/>
          </a:bodyPr>
          <a:lstStyle/>
          <a:p>
            <a:pPr algn="l"/>
            <a:r>
              <a:rPr sz="950" b="1" i="0">
                <a:solidFill>
                  <a:srgbClr val="F1F5F9"/>
                </a:solidFill>
                <a:latin typeface="Calibri"/>
              </a:rPr>
              <a:t>Medical Condition</a:t>
            </a:r>
          </a:p>
        </p:txBody>
      </p:sp>
      <p:sp>
        <p:nvSpPr>
          <p:cNvPr id="57" name="TextBox 56"/>
          <p:cNvSpPr txBox="1"/>
          <p:nvPr/>
        </p:nvSpPr>
        <p:spPr>
          <a:xfrm>
            <a:off x="3630168" y="3895340"/>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58" name="TextBox 57"/>
          <p:cNvSpPr txBox="1"/>
          <p:nvPr/>
        </p:nvSpPr>
        <p:spPr>
          <a:xfrm>
            <a:off x="4864608" y="3895340"/>
            <a:ext cx="6812280" cy="260603"/>
          </a:xfrm>
          <a:prstGeom prst="rect">
            <a:avLst/>
          </a:prstGeom>
          <a:noFill/>
        </p:spPr>
        <p:txBody>
          <a:bodyPr wrap="square">
            <a:spAutoFit/>
          </a:bodyPr>
          <a:lstStyle/>
          <a:p>
            <a:pPr algn="l"/>
            <a:r>
              <a:rPr sz="950" b="0" i="0">
                <a:solidFill>
                  <a:srgbClr val="94A3B8"/>
                </a:solidFill>
                <a:latin typeface="Calibri"/>
              </a:rPr>
              <a:t>Diagnosis/penyakit yang diderita</a:t>
            </a:r>
          </a:p>
        </p:txBody>
      </p:sp>
      <p:sp>
        <p:nvSpPr>
          <p:cNvPr id="59" name="Rectangle 58"/>
          <p:cNvSpPr/>
          <p:nvPr/>
        </p:nvSpPr>
        <p:spPr>
          <a:xfrm>
            <a:off x="365760" y="4119367"/>
            <a:ext cx="320040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11880" y="4119367"/>
            <a:ext cx="118872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846320" y="4119367"/>
            <a:ext cx="694944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8912" y="4155943"/>
            <a:ext cx="3017520" cy="260603"/>
          </a:xfrm>
          <a:prstGeom prst="rect">
            <a:avLst/>
          </a:prstGeom>
          <a:noFill/>
        </p:spPr>
        <p:txBody>
          <a:bodyPr wrap="square">
            <a:spAutoFit/>
          </a:bodyPr>
          <a:lstStyle/>
          <a:p>
            <a:pPr algn="l"/>
            <a:r>
              <a:rPr sz="950" b="1" i="0">
                <a:solidFill>
                  <a:srgbClr val="F1F5F9"/>
                </a:solidFill>
                <a:latin typeface="Calibri"/>
              </a:rPr>
              <a:t>Date of Admission</a:t>
            </a:r>
          </a:p>
        </p:txBody>
      </p:sp>
      <p:sp>
        <p:nvSpPr>
          <p:cNvPr id="63" name="TextBox 62"/>
          <p:cNvSpPr txBox="1"/>
          <p:nvPr/>
        </p:nvSpPr>
        <p:spPr>
          <a:xfrm>
            <a:off x="3630168" y="4155943"/>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64" name="TextBox 63"/>
          <p:cNvSpPr txBox="1"/>
          <p:nvPr/>
        </p:nvSpPr>
        <p:spPr>
          <a:xfrm>
            <a:off x="4864608" y="4155943"/>
            <a:ext cx="6812280" cy="260603"/>
          </a:xfrm>
          <a:prstGeom prst="rect">
            <a:avLst/>
          </a:prstGeom>
          <a:noFill/>
        </p:spPr>
        <p:txBody>
          <a:bodyPr wrap="square">
            <a:spAutoFit/>
          </a:bodyPr>
          <a:lstStyle/>
          <a:p>
            <a:pPr algn="l"/>
            <a:r>
              <a:rPr sz="950" b="0" i="0">
                <a:solidFill>
                  <a:srgbClr val="94A3B8"/>
                </a:solidFill>
                <a:latin typeface="Calibri"/>
              </a:rPr>
              <a:t>Tanggal masuk rawat inap</a:t>
            </a:r>
          </a:p>
        </p:txBody>
      </p:sp>
      <p:sp>
        <p:nvSpPr>
          <p:cNvPr id="65" name="Rectangle 64"/>
          <p:cNvSpPr/>
          <p:nvPr/>
        </p:nvSpPr>
        <p:spPr>
          <a:xfrm>
            <a:off x="365760" y="4379970"/>
            <a:ext cx="320040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611880" y="4379970"/>
            <a:ext cx="118872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846320" y="4379970"/>
            <a:ext cx="694944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38912" y="4416546"/>
            <a:ext cx="3017520" cy="260603"/>
          </a:xfrm>
          <a:prstGeom prst="rect">
            <a:avLst/>
          </a:prstGeom>
          <a:noFill/>
        </p:spPr>
        <p:txBody>
          <a:bodyPr wrap="square">
            <a:spAutoFit/>
          </a:bodyPr>
          <a:lstStyle/>
          <a:p>
            <a:pPr algn="l"/>
            <a:r>
              <a:rPr sz="950" b="1" i="0">
                <a:solidFill>
                  <a:srgbClr val="F1F5F9"/>
                </a:solidFill>
                <a:latin typeface="Calibri"/>
              </a:rPr>
              <a:t>Doctor</a:t>
            </a:r>
          </a:p>
        </p:txBody>
      </p:sp>
      <p:sp>
        <p:nvSpPr>
          <p:cNvPr id="69" name="TextBox 68"/>
          <p:cNvSpPr txBox="1"/>
          <p:nvPr/>
        </p:nvSpPr>
        <p:spPr>
          <a:xfrm>
            <a:off x="3630168" y="4416546"/>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70" name="TextBox 69"/>
          <p:cNvSpPr txBox="1"/>
          <p:nvPr/>
        </p:nvSpPr>
        <p:spPr>
          <a:xfrm>
            <a:off x="4864608" y="4416546"/>
            <a:ext cx="6812280" cy="260603"/>
          </a:xfrm>
          <a:prstGeom prst="rect">
            <a:avLst/>
          </a:prstGeom>
          <a:noFill/>
        </p:spPr>
        <p:txBody>
          <a:bodyPr wrap="square">
            <a:spAutoFit/>
          </a:bodyPr>
          <a:lstStyle/>
          <a:p>
            <a:pPr algn="l"/>
            <a:r>
              <a:rPr sz="950" b="0" i="0">
                <a:solidFill>
                  <a:srgbClr val="94A3B8"/>
                </a:solidFill>
                <a:latin typeface="Calibri"/>
              </a:rPr>
              <a:t>Nama dokter yang menangani</a:t>
            </a:r>
          </a:p>
        </p:txBody>
      </p:sp>
      <p:sp>
        <p:nvSpPr>
          <p:cNvPr id="71" name="Rectangle 70"/>
          <p:cNvSpPr/>
          <p:nvPr/>
        </p:nvSpPr>
        <p:spPr>
          <a:xfrm>
            <a:off x="365760" y="4640573"/>
            <a:ext cx="320040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611880" y="4640573"/>
            <a:ext cx="118872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846320" y="4640573"/>
            <a:ext cx="694944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38912" y="4677149"/>
            <a:ext cx="3017520" cy="260603"/>
          </a:xfrm>
          <a:prstGeom prst="rect">
            <a:avLst/>
          </a:prstGeom>
          <a:noFill/>
        </p:spPr>
        <p:txBody>
          <a:bodyPr wrap="square">
            <a:spAutoFit/>
          </a:bodyPr>
          <a:lstStyle/>
          <a:p>
            <a:pPr algn="l"/>
            <a:r>
              <a:rPr sz="950" b="1" i="0">
                <a:solidFill>
                  <a:srgbClr val="F1F5F9"/>
                </a:solidFill>
                <a:latin typeface="Calibri"/>
              </a:rPr>
              <a:t>Hospital</a:t>
            </a:r>
          </a:p>
        </p:txBody>
      </p:sp>
      <p:sp>
        <p:nvSpPr>
          <p:cNvPr id="75" name="TextBox 74"/>
          <p:cNvSpPr txBox="1"/>
          <p:nvPr/>
        </p:nvSpPr>
        <p:spPr>
          <a:xfrm>
            <a:off x="3630168" y="4677149"/>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76" name="TextBox 75"/>
          <p:cNvSpPr txBox="1"/>
          <p:nvPr/>
        </p:nvSpPr>
        <p:spPr>
          <a:xfrm>
            <a:off x="4864608" y="4677149"/>
            <a:ext cx="6812280" cy="260603"/>
          </a:xfrm>
          <a:prstGeom prst="rect">
            <a:avLst/>
          </a:prstGeom>
          <a:noFill/>
        </p:spPr>
        <p:txBody>
          <a:bodyPr wrap="square">
            <a:spAutoFit/>
          </a:bodyPr>
          <a:lstStyle/>
          <a:p>
            <a:pPr algn="l"/>
            <a:r>
              <a:rPr sz="950" b="0" i="0">
                <a:solidFill>
                  <a:srgbClr val="94A3B8"/>
                </a:solidFill>
                <a:latin typeface="Calibri"/>
              </a:rPr>
              <a:t>Nama rumah sakit</a:t>
            </a:r>
          </a:p>
        </p:txBody>
      </p:sp>
      <p:sp>
        <p:nvSpPr>
          <p:cNvPr id="77" name="Rectangle 76"/>
          <p:cNvSpPr/>
          <p:nvPr/>
        </p:nvSpPr>
        <p:spPr>
          <a:xfrm>
            <a:off x="365760" y="4901176"/>
            <a:ext cx="320040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611880" y="4901176"/>
            <a:ext cx="118872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846320" y="4901176"/>
            <a:ext cx="694944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38912" y="4937752"/>
            <a:ext cx="3017520" cy="260603"/>
          </a:xfrm>
          <a:prstGeom prst="rect">
            <a:avLst/>
          </a:prstGeom>
          <a:noFill/>
        </p:spPr>
        <p:txBody>
          <a:bodyPr wrap="square">
            <a:spAutoFit/>
          </a:bodyPr>
          <a:lstStyle/>
          <a:p>
            <a:pPr algn="l"/>
            <a:r>
              <a:rPr sz="950" b="1" i="0">
                <a:solidFill>
                  <a:srgbClr val="F1F5F9"/>
                </a:solidFill>
                <a:latin typeface="Calibri"/>
              </a:rPr>
              <a:t>Insurance Provider</a:t>
            </a:r>
          </a:p>
        </p:txBody>
      </p:sp>
      <p:sp>
        <p:nvSpPr>
          <p:cNvPr id="81" name="TextBox 80"/>
          <p:cNvSpPr txBox="1"/>
          <p:nvPr/>
        </p:nvSpPr>
        <p:spPr>
          <a:xfrm>
            <a:off x="3630168" y="4937752"/>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82" name="TextBox 81"/>
          <p:cNvSpPr txBox="1"/>
          <p:nvPr/>
        </p:nvSpPr>
        <p:spPr>
          <a:xfrm>
            <a:off x="4864608" y="4937752"/>
            <a:ext cx="6812280" cy="260603"/>
          </a:xfrm>
          <a:prstGeom prst="rect">
            <a:avLst/>
          </a:prstGeom>
          <a:noFill/>
        </p:spPr>
        <p:txBody>
          <a:bodyPr wrap="square">
            <a:spAutoFit/>
          </a:bodyPr>
          <a:lstStyle/>
          <a:p>
            <a:pPr algn="l"/>
            <a:r>
              <a:rPr sz="950" b="0" i="0">
                <a:solidFill>
                  <a:srgbClr val="94A3B8"/>
                </a:solidFill>
                <a:latin typeface="Calibri"/>
              </a:rPr>
              <a:t>Nama perusahaan asuransi</a:t>
            </a:r>
          </a:p>
        </p:txBody>
      </p:sp>
      <p:sp>
        <p:nvSpPr>
          <p:cNvPr id="83" name="Rectangle 82"/>
          <p:cNvSpPr/>
          <p:nvPr/>
        </p:nvSpPr>
        <p:spPr>
          <a:xfrm>
            <a:off x="365760" y="5161779"/>
            <a:ext cx="320040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611880" y="5161779"/>
            <a:ext cx="118872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846320" y="5161779"/>
            <a:ext cx="694944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38912" y="5198355"/>
            <a:ext cx="3017520" cy="260603"/>
          </a:xfrm>
          <a:prstGeom prst="rect">
            <a:avLst/>
          </a:prstGeom>
          <a:noFill/>
        </p:spPr>
        <p:txBody>
          <a:bodyPr wrap="square">
            <a:spAutoFit/>
          </a:bodyPr>
          <a:lstStyle/>
          <a:p>
            <a:pPr algn="l"/>
            <a:r>
              <a:rPr sz="950" b="1" i="0">
                <a:solidFill>
                  <a:srgbClr val="F1F5F9"/>
                </a:solidFill>
                <a:latin typeface="Calibri"/>
              </a:rPr>
              <a:t>Billing Amount</a:t>
            </a:r>
          </a:p>
        </p:txBody>
      </p:sp>
      <p:sp>
        <p:nvSpPr>
          <p:cNvPr id="87" name="TextBox 86"/>
          <p:cNvSpPr txBox="1"/>
          <p:nvPr/>
        </p:nvSpPr>
        <p:spPr>
          <a:xfrm>
            <a:off x="3630168" y="5198355"/>
            <a:ext cx="1143000" cy="260603"/>
          </a:xfrm>
          <a:prstGeom prst="rect">
            <a:avLst/>
          </a:prstGeom>
          <a:noFill/>
        </p:spPr>
        <p:txBody>
          <a:bodyPr wrap="square">
            <a:spAutoFit/>
          </a:bodyPr>
          <a:lstStyle/>
          <a:p>
            <a:pPr algn="l"/>
            <a:r>
              <a:rPr sz="950" b="0" i="0">
                <a:solidFill>
                  <a:srgbClr val="60A5FA"/>
                </a:solidFill>
                <a:latin typeface="Calibri"/>
              </a:rPr>
              <a:t>Angka</a:t>
            </a:r>
          </a:p>
        </p:txBody>
      </p:sp>
      <p:sp>
        <p:nvSpPr>
          <p:cNvPr id="88" name="TextBox 87"/>
          <p:cNvSpPr txBox="1"/>
          <p:nvPr/>
        </p:nvSpPr>
        <p:spPr>
          <a:xfrm>
            <a:off x="4864608" y="5198355"/>
            <a:ext cx="6812280" cy="260603"/>
          </a:xfrm>
          <a:prstGeom prst="rect">
            <a:avLst/>
          </a:prstGeom>
          <a:noFill/>
        </p:spPr>
        <p:txBody>
          <a:bodyPr wrap="square">
            <a:spAutoFit/>
          </a:bodyPr>
          <a:lstStyle/>
          <a:p>
            <a:pPr algn="l"/>
            <a:r>
              <a:rPr sz="950" b="0" i="0">
                <a:solidFill>
                  <a:srgbClr val="94A3B8"/>
                </a:solidFill>
                <a:latin typeface="Calibri"/>
              </a:rPr>
              <a:t>Total tagihan biaya perawatan ($)</a:t>
            </a:r>
          </a:p>
        </p:txBody>
      </p:sp>
      <p:sp>
        <p:nvSpPr>
          <p:cNvPr id="89" name="Rectangle 88"/>
          <p:cNvSpPr/>
          <p:nvPr/>
        </p:nvSpPr>
        <p:spPr>
          <a:xfrm>
            <a:off x="365760" y="5422382"/>
            <a:ext cx="320040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3611880" y="5422382"/>
            <a:ext cx="118872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4846320" y="5422382"/>
            <a:ext cx="694944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38912" y="5458958"/>
            <a:ext cx="3017520" cy="260603"/>
          </a:xfrm>
          <a:prstGeom prst="rect">
            <a:avLst/>
          </a:prstGeom>
          <a:noFill/>
        </p:spPr>
        <p:txBody>
          <a:bodyPr wrap="square">
            <a:spAutoFit/>
          </a:bodyPr>
          <a:lstStyle/>
          <a:p>
            <a:pPr algn="l"/>
            <a:r>
              <a:rPr sz="950" b="1" i="0">
                <a:solidFill>
                  <a:srgbClr val="F1F5F9"/>
                </a:solidFill>
                <a:latin typeface="Calibri"/>
              </a:rPr>
              <a:t>Room Number</a:t>
            </a:r>
          </a:p>
        </p:txBody>
      </p:sp>
      <p:sp>
        <p:nvSpPr>
          <p:cNvPr id="93" name="TextBox 92"/>
          <p:cNvSpPr txBox="1"/>
          <p:nvPr/>
        </p:nvSpPr>
        <p:spPr>
          <a:xfrm>
            <a:off x="3630168" y="5458958"/>
            <a:ext cx="1143000" cy="260603"/>
          </a:xfrm>
          <a:prstGeom prst="rect">
            <a:avLst/>
          </a:prstGeom>
          <a:noFill/>
        </p:spPr>
        <p:txBody>
          <a:bodyPr wrap="square">
            <a:spAutoFit/>
          </a:bodyPr>
          <a:lstStyle/>
          <a:p>
            <a:pPr algn="l"/>
            <a:r>
              <a:rPr sz="950" b="0" i="0">
                <a:solidFill>
                  <a:srgbClr val="60A5FA"/>
                </a:solidFill>
                <a:latin typeface="Calibri"/>
              </a:rPr>
              <a:t>Angka</a:t>
            </a:r>
          </a:p>
        </p:txBody>
      </p:sp>
      <p:sp>
        <p:nvSpPr>
          <p:cNvPr id="94" name="TextBox 93"/>
          <p:cNvSpPr txBox="1"/>
          <p:nvPr/>
        </p:nvSpPr>
        <p:spPr>
          <a:xfrm>
            <a:off x="4864608" y="5458958"/>
            <a:ext cx="6812280" cy="260603"/>
          </a:xfrm>
          <a:prstGeom prst="rect">
            <a:avLst/>
          </a:prstGeom>
          <a:noFill/>
        </p:spPr>
        <p:txBody>
          <a:bodyPr wrap="square">
            <a:spAutoFit/>
          </a:bodyPr>
          <a:lstStyle/>
          <a:p>
            <a:pPr algn="l"/>
            <a:r>
              <a:rPr sz="950" b="0" i="0">
                <a:solidFill>
                  <a:srgbClr val="94A3B8"/>
                </a:solidFill>
                <a:latin typeface="Calibri"/>
              </a:rPr>
              <a:t>Nomor kamar yang ditempati</a:t>
            </a:r>
          </a:p>
        </p:txBody>
      </p:sp>
      <p:sp>
        <p:nvSpPr>
          <p:cNvPr id="95" name="Rectangle 94"/>
          <p:cNvSpPr/>
          <p:nvPr/>
        </p:nvSpPr>
        <p:spPr>
          <a:xfrm>
            <a:off x="365760" y="5682985"/>
            <a:ext cx="320040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3611880" y="5682985"/>
            <a:ext cx="118872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4846320" y="5682985"/>
            <a:ext cx="694944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38912" y="5719561"/>
            <a:ext cx="3017520" cy="260603"/>
          </a:xfrm>
          <a:prstGeom prst="rect">
            <a:avLst/>
          </a:prstGeom>
          <a:noFill/>
        </p:spPr>
        <p:txBody>
          <a:bodyPr wrap="square">
            <a:spAutoFit/>
          </a:bodyPr>
          <a:lstStyle/>
          <a:p>
            <a:pPr algn="l"/>
            <a:r>
              <a:rPr sz="950" b="1" i="0">
                <a:solidFill>
                  <a:srgbClr val="F1F5F9"/>
                </a:solidFill>
                <a:latin typeface="Calibri"/>
              </a:rPr>
              <a:t>Admission Type</a:t>
            </a:r>
          </a:p>
        </p:txBody>
      </p:sp>
      <p:sp>
        <p:nvSpPr>
          <p:cNvPr id="99" name="TextBox 98"/>
          <p:cNvSpPr txBox="1"/>
          <p:nvPr/>
        </p:nvSpPr>
        <p:spPr>
          <a:xfrm>
            <a:off x="3630168" y="5719561"/>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100" name="TextBox 99"/>
          <p:cNvSpPr txBox="1"/>
          <p:nvPr/>
        </p:nvSpPr>
        <p:spPr>
          <a:xfrm>
            <a:off x="4864608" y="5719561"/>
            <a:ext cx="6812280" cy="260603"/>
          </a:xfrm>
          <a:prstGeom prst="rect">
            <a:avLst/>
          </a:prstGeom>
          <a:noFill/>
        </p:spPr>
        <p:txBody>
          <a:bodyPr wrap="square">
            <a:spAutoFit/>
          </a:bodyPr>
          <a:lstStyle/>
          <a:p>
            <a:pPr algn="l"/>
            <a:r>
              <a:rPr sz="950" b="0" i="0">
                <a:solidFill>
                  <a:srgbClr val="94A3B8"/>
                </a:solidFill>
                <a:latin typeface="Calibri"/>
              </a:rPr>
              <a:t>Jenis rawat inap (Darurat/Elektif/Mendesak)</a:t>
            </a:r>
          </a:p>
        </p:txBody>
      </p:sp>
      <p:sp>
        <p:nvSpPr>
          <p:cNvPr id="101" name="Rectangle 100"/>
          <p:cNvSpPr/>
          <p:nvPr/>
        </p:nvSpPr>
        <p:spPr>
          <a:xfrm>
            <a:off x="365760" y="5943588"/>
            <a:ext cx="320040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3611880" y="5943588"/>
            <a:ext cx="118872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4846320" y="5943588"/>
            <a:ext cx="694944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38912" y="5980164"/>
            <a:ext cx="3017520" cy="260603"/>
          </a:xfrm>
          <a:prstGeom prst="rect">
            <a:avLst/>
          </a:prstGeom>
          <a:noFill/>
        </p:spPr>
        <p:txBody>
          <a:bodyPr wrap="square">
            <a:spAutoFit/>
          </a:bodyPr>
          <a:lstStyle/>
          <a:p>
            <a:pPr algn="l"/>
            <a:r>
              <a:rPr sz="950" b="1" i="0">
                <a:solidFill>
                  <a:srgbClr val="F1F5F9"/>
                </a:solidFill>
                <a:latin typeface="Calibri"/>
              </a:rPr>
              <a:t>Discharge Date</a:t>
            </a:r>
          </a:p>
        </p:txBody>
      </p:sp>
      <p:sp>
        <p:nvSpPr>
          <p:cNvPr id="105" name="TextBox 104"/>
          <p:cNvSpPr txBox="1"/>
          <p:nvPr/>
        </p:nvSpPr>
        <p:spPr>
          <a:xfrm>
            <a:off x="3630168" y="5980164"/>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106" name="TextBox 105"/>
          <p:cNvSpPr txBox="1"/>
          <p:nvPr/>
        </p:nvSpPr>
        <p:spPr>
          <a:xfrm>
            <a:off x="4864608" y="5980164"/>
            <a:ext cx="6812280" cy="260603"/>
          </a:xfrm>
          <a:prstGeom prst="rect">
            <a:avLst/>
          </a:prstGeom>
          <a:noFill/>
        </p:spPr>
        <p:txBody>
          <a:bodyPr wrap="square">
            <a:spAutoFit/>
          </a:bodyPr>
          <a:lstStyle/>
          <a:p>
            <a:pPr algn="l"/>
            <a:r>
              <a:rPr sz="950" b="0" i="0">
                <a:solidFill>
                  <a:srgbClr val="94A3B8"/>
                </a:solidFill>
                <a:latin typeface="Calibri"/>
              </a:rPr>
              <a:t>Tanggal keluar dari rumah sakit</a:t>
            </a:r>
          </a:p>
        </p:txBody>
      </p:sp>
      <p:sp>
        <p:nvSpPr>
          <p:cNvPr id="107" name="Rectangle 106"/>
          <p:cNvSpPr/>
          <p:nvPr/>
        </p:nvSpPr>
        <p:spPr>
          <a:xfrm>
            <a:off x="365760" y="6204191"/>
            <a:ext cx="320040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3611880" y="6204191"/>
            <a:ext cx="118872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4846320" y="6204191"/>
            <a:ext cx="6949440" cy="260603"/>
          </a:xfrm>
          <a:prstGeom prst="rect">
            <a:avLst/>
          </a:prstGeom>
          <a:solidFill>
            <a:srgbClr val="101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38912" y="6240767"/>
            <a:ext cx="3017520" cy="260603"/>
          </a:xfrm>
          <a:prstGeom prst="rect">
            <a:avLst/>
          </a:prstGeom>
          <a:noFill/>
        </p:spPr>
        <p:txBody>
          <a:bodyPr wrap="square">
            <a:spAutoFit/>
          </a:bodyPr>
          <a:lstStyle/>
          <a:p>
            <a:pPr algn="l"/>
            <a:r>
              <a:rPr sz="950" b="1" i="0">
                <a:solidFill>
                  <a:srgbClr val="F1F5F9"/>
                </a:solidFill>
                <a:latin typeface="Calibri"/>
              </a:rPr>
              <a:t>Medication</a:t>
            </a:r>
          </a:p>
        </p:txBody>
      </p:sp>
      <p:sp>
        <p:nvSpPr>
          <p:cNvPr id="111" name="TextBox 110"/>
          <p:cNvSpPr txBox="1"/>
          <p:nvPr/>
        </p:nvSpPr>
        <p:spPr>
          <a:xfrm>
            <a:off x="3630168" y="6240767"/>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112" name="TextBox 111"/>
          <p:cNvSpPr txBox="1"/>
          <p:nvPr/>
        </p:nvSpPr>
        <p:spPr>
          <a:xfrm>
            <a:off x="4864608" y="6240767"/>
            <a:ext cx="6812280" cy="260603"/>
          </a:xfrm>
          <a:prstGeom prst="rect">
            <a:avLst/>
          </a:prstGeom>
          <a:noFill/>
        </p:spPr>
        <p:txBody>
          <a:bodyPr wrap="square">
            <a:spAutoFit/>
          </a:bodyPr>
          <a:lstStyle/>
          <a:p>
            <a:pPr algn="l"/>
            <a:r>
              <a:rPr sz="950" b="0" i="0">
                <a:solidFill>
                  <a:srgbClr val="94A3B8"/>
                </a:solidFill>
                <a:latin typeface="Calibri"/>
              </a:rPr>
              <a:t>Nama obat yang diberikan</a:t>
            </a:r>
          </a:p>
        </p:txBody>
      </p:sp>
      <p:sp>
        <p:nvSpPr>
          <p:cNvPr id="113" name="Rectangle 112"/>
          <p:cNvSpPr/>
          <p:nvPr/>
        </p:nvSpPr>
        <p:spPr>
          <a:xfrm>
            <a:off x="365760" y="6464794"/>
            <a:ext cx="320040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611880" y="6464794"/>
            <a:ext cx="118872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4846320" y="6464794"/>
            <a:ext cx="6949440" cy="260603"/>
          </a:xfrm>
          <a:prstGeom prst="rect">
            <a:avLst/>
          </a:prstGeom>
          <a:solidFill>
            <a:srgbClr val="0D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38912" y="6501370"/>
            <a:ext cx="3017520" cy="260603"/>
          </a:xfrm>
          <a:prstGeom prst="rect">
            <a:avLst/>
          </a:prstGeom>
          <a:noFill/>
        </p:spPr>
        <p:txBody>
          <a:bodyPr wrap="square">
            <a:spAutoFit/>
          </a:bodyPr>
          <a:lstStyle/>
          <a:p>
            <a:pPr algn="l"/>
            <a:r>
              <a:rPr sz="950" b="1" i="0">
                <a:solidFill>
                  <a:srgbClr val="F1F5F9"/>
                </a:solidFill>
                <a:latin typeface="Calibri"/>
              </a:rPr>
              <a:t>Test Results</a:t>
            </a:r>
          </a:p>
        </p:txBody>
      </p:sp>
      <p:sp>
        <p:nvSpPr>
          <p:cNvPr id="117" name="TextBox 116"/>
          <p:cNvSpPr txBox="1"/>
          <p:nvPr/>
        </p:nvSpPr>
        <p:spPr>
          <a:xfrm>
            <a:off x="3630168" y="6501370"/>
            <a:ext cx="1143000" cy="260603"/>
          </a:xfrm>
          <a:prstGeom prst="rect">
            <a:avLst/>
          </a:prstGeom>
          <a:noFill/>
        </p:spPr>
        <p:txBody>
          <a:bodyPr wrap="square">
            <a:spAutoFit/>
          </a:bodyPr>
          <a:lstStyle/>
          <a:p>
            <a:pPr algn="l"/>
            <a:r>
              <a:rPr sz="950" b="0" i="0">
                <a:solidFill>
                  <a:srgbClr val="94A3B8"/>
                </a:solidFill>
                <a:latin typeface="Calibri"/>
              </a:rPr>
              <a:t>Teks</a:t>
            </a:r>
          </a:p>
        </p:txBody>
      </p:sp>
      <p:sp>
        <p:nvSpPr>
          <p:cNvPr id="118" name="TextBox 117"/>
          <p:cNvSpPr txBox="1"/>
          <p:nvPr/>
        </p:nvSpPr>
        <p:spPr>
          <a:xfrm>
            <a:off x="4864608" y="6501370"/>
            <a:ext cx="6812280" cy="260603"/>
          </a:xfrm>
          <a:prstGeom prst="rect">
            <a:avLst/>
          </a:prstGeom>
          <a:noFill/>
        </p:spPr>
        <p:txBody>
          <a:bodyPr wrap="square">
            <a:spAutoFit/>
          </a:bodyPr>
          <a:lstStyle/>
          <a:p>
            <a:pPr algn="l"/>
            <a:r>
              <a:rPr sz="950" b="0" i="0">
                <a:solidFill>
                  <a:srgbClr val="94A3B8"/>
                </a:solidFill>
                <a:latin typeface="Calibri"/>
              </a:rPr>
              <a:t>Hasil tes lab (Normal/Abnormal/Tidak Meyakinkan)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5 / 22</a:t>
            </a:r>
          </a:p>
        </p:txBody>
      </p:sp>
      <p:sp>
        <p:nvSpPr>
          <p:cNvPr id="4" name="TextBox 3"/>
          <p:cNvSpPr txBox="1"/>
          <p:nvPr/>
        </p:nvSpPr>
        <p:spPr>
          <a:xfrm>
            <a:off x="457200" y="182880"/>
            <a:ext cx="10972800" cy="594360"/>
          </a:xfrm>
          <a:prstGeom prst="rect">
            <a:avLst/>
          </a:prstGeom>
          <a:noFill/>
        </p:spPr>
        <p:txBody>
          <a:bodyPr wrap="square">
            <a:spAutoFit/>
          </a:bodyPr>
          <a:lstStyle/>
          <a:p>
            <a:pPr algn="l"/>
            <a:r>
              <a:rPr sz="2600" b="1" i="0">
                <a:solidFill>
                  <a:srgbClr val="F1F5F9"/>
                </a:solidFill>
                <a:latin typeface="Calibri"/>
              </a:rPr>
              <a:t>03  Overview Dashboard</a:t>
            </a:r>
          </a:p>
        </p:txBody>
      </p:sp>
      <p:sp>
        <p:nvSpPr>
          <p:cNvPr id="5" name="Rectangle 4"/>
          <p:cNvSpPr/>
          <p:nvPr/>
        </p:nvSpPr>
        <p:spPr>
          <a:xfrm>
            <a:off x="457200" y="777240"/>
            <a:ext cx="3200400" cy="457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4572000"/>
          </a:xfrm>
          <a:prstGeom prst="rect">
            <a:avLst/>
          </a:prstGeom>
          <a:solidFill>
            <a:srgbClr val="0D1224"/>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743200"/>
            <a:ext cx="11430000" cy="914400"/>
          </a:xfrm>
          <a:prstGeom prst="rect">
            <a:avLst/>
          </a:prstGeom>
          <a:noFill/>
        </p:spPr>
        <p:txBody>
          <a:bodyPr wrap="square">
            <a:spAutoFit/>
          </a:bodyPr>
          <a:lstStyle/>
          <a:p>
            <a:pPr algn="ctr"/>
            <a:r>
              <a:rPr sz="1600" b="0" i="1">
                <a:solidFill>
                  <a:srgbClr val="94A3B8"/>
                </a:solidFill>
                <a:latin typeface="Calibri"/>
              </a:rPr>
              <a:t>[ Letakkan Screenshot Dashboard Utama di sini ]</a:t>
            </a:r>
          </a:p>
        </p:txBody>
      </p:sp>
      <p:sp>
        <p:nvSpPr>
          <p:cNvPr id="8" name="TextBox 7"/>
          <p:cNvSpPr txBox="1"/>
          <p:nvPr/>
        </p:nvSpPr>
        <p:spPr>
          <a:xfrm>
            <a:off x="365760" y="3474720"/>
            <a:ext cx="11430000" cy="457200"/>
          </a:xfrm>
          <a:prstGeom prst="rect">
            <a:avLst/>
          </a:prstGeom>
          <a:noFill/>
        </p:spPr>
        <p:txBody>
          <a:bodyPr wrap="square">
            <a:spAutoFit/>
          </a:bodyPr>
          <a:lstStyle/>
          <a:p>
            <a:pPr algn="ctr"/>
            <a:r>
              <a:rPr sz="1200" b="0" i="1">
                <a:solidFill>
                  <a:srgbClr val="4B5563"/>
                </a:solidFill>
                <a:latin typeface="Calibri"/>
              </a:rPr>
              <a:t>ðŸ“Œ  Buka http://localhost:8501 â†’ tekan F12 atau Snipping Tool untuk screenshot</a:t>
            </a:r>
          </a:p>
        </p:txBody>
      </p:sp>
      <p:sp>
        <p:nvSpPr>
          <p:cNvPr id="9" name="Rectangle 8"/>
          <p:cNvSpPr/>
          <p:nvPr/>
        </p:nvSpPr>
        <p:spPr>
          <a:xfrm>
            <a:off x="365760" y="5669280"/>
            <a:ext cx="2743200" cy="960120"/>
          </a:xfrm>
          <a:prstGeom prst="rect">
            <a:avLst/>
          </a:prstGeom>
          <a:solidFill>
            <a:srgbClr val="0D1224"/>
          </a:solid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742432"/>
            <a:ext cx="2560320" cy="347472"/>
          </a:xfrm>
          <a:prstGeom prst="rect">
            <a:avLst/>
          </a:prstGeom>
          <a:noFill/>
        </p:spPr>
        <p:txBody>
          <a:bodyPr wrap="square">
            <a:spAutoFit/>
          </a:bodyPr>
          <a:lstStyle/>
          <a:p>
            <a:pPr algn="l"/>
            <a:r>
              <a:rPr sz="1100" b="1" i="0">
                <a:solidFill>
                  <a:srgbClr val="818CF8"/>
                </a:solidFill>
                <a:latin typeface="Calibri"/>
              </a:rPr>
              <a:t>ðŸ“Š  6 KPI Metrics</a:t>
            </a:r>
          </a:p>
        </p:txBody>
      </p:sp>
      <p:sp>
        <p:nvSpPr>
          <p:cNvPr id="11" name="TextBox 10"/>
          <p:cNvSpPr txBox="1"/>
          <p:nvPr/>
        </p:nvSpPr>
        <p:spPr>
          <a:xfrm>
            <a:off x="457200" y="6053328"/>
            <a:ext cx="2606040" cy="502920"/>
          </a:xfrm>
          <a:prstGeom prst="rect">
            <a:avLst/>
          </a:prstGeom>
          <a:noFill/>
        </p:spPr>
        <p:txBody>
          <a:bodyPr wrap="square">
            <a:spAutoFit/>
          </a:bodyPr>
          <a:lstStyle/>
          <a:p>
            <a:pPr algn="l"/>
            <a:r>
              <a:rPr sz="950" b="0" i="0">
                <a:solidFill>
                  <a:srgbClr val="94A3B8"/>
                </a:solidFill>
                <a:latin typeface="Calibri"/>
              </a:rPr>
              <a:t>Total pasien, rata-rata umur, dokter, RS, billing, lama rawat</a:t>
            </a:r>
          </a:p>
        </p:txBody>
      </p:sp>
      <p:sp>
        <p:nvSpPr>
          <p:cNvPr id="12" name="Rectangle 11"/>
          <p:cNvSpPr/>
          <p:nvPr/>
        </p:nvSpPr>
        <p:spPr>
          <a:xfrm>
            <a:off x="3319272" y="5669280"/>
            <a:ext cx="2743200" cy="960120"/>
          </a:xfrm>
          <a:prstGeom prst="rect">
            <a:avLst/>
          </a:prstGeom>
          <a:solidFill>
            <a:srgbClr val="0D1224"/>
          </a:solid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5742432"/>
            <a:ext cx="2560320" cy="347472"/>
          </a:xfrm>
          <a:prstGeom prst="rect">
            <a:avLst/>
          </a:prstGeom>
          <a:noFill/>
        </p:spPr>
        <p:txBody>
          <a:bodyPr wrap="square">
            <a:spAutoFit/>
          </a:bodyPr>
          <a:lstStyle/>
          <a:p>
            <a:pPr algn="l"/>
            <a:r>
              <a:rPr sz="1100" b="1" i="0">
                <a:solidFill>
                  <a:srgbClr val="818CF8"/>
                </a:solidFill>
                <a:latin typeface="Calibri"/>
              </a:rPr>
              <a:t>ðŸ¥§  5 Grafik Visual</a:t>
            </a:r>
          </a:p>
        </p:txBody>
      </p:sp>
      <p:sp>
        <p:nvSpPr>
          <p:cNvPr id="14" name="TextBox 13"/>
          <p:cNvSpPr txBox="1"/>
          <p:nvPr/>
        </p:nvSpPr>
        <p:spPr>
          <a:xfrm>
            <a:off x="3410712" y="6053328"/>
            <a:ext cx="2606040" cy="502920"/>
          </a:xfrm>
          <a:prstGeom prst="rect">
            <a:avLst/>
          </a:prstGeom>
          <a:noFill/>
        </p:spPr>
        <p:txBody>
          <a:bodyPr wrap="square">
            <a:spAutoFit/>
          </a:bodyPr>
          <a:lstStyle/>
          <a:p>
            <a:pPr algn="l"/>
            <a:r>
              <a:rPr sz="950" b="0" i="0">
                <a:solidFill>
                  <a:srgbClr val="94A3B8"/>
                </a:solidFill>
                <a:latin typeface="Calibri"/>
              </a:rPr>
              <a:t>Distribusi gender, golongan darah, penyakit, hasil tes, tipe rawat</a:t>
            </a:r>
          </a:p>
        </p:txBody>
      </p:sp>
      <p:sp>
        <p:nvSpPr>
          <p:cNvPr id="15" name="Rectangle 14"/>
          <p:cNvSpPr/>
          <p:nvPr/>
        </p:nvSpPr>
        <p:spPr>
          <a:xfrm>
            <a:off x="6272784" y="5669280"/>
            <a:ext cx="2743200" cy="960120"/>
          </a:xfrm>
          <a:prstGeom prst="rect">
            <a:avLst/>
          </a:prstGeom>
          <a:solidFill>
            <a:srgbClr val="0D1224"/>
          </a:solid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5742432"/>
            <a:ext cx="2560320" cy="347472"/>
          </a:xfrm>
          <a:prstGeom prst="rect">
            <a:avLst/>
          </a:prstGeom>
          <a:noFill/>
        </p:spPr>
        <p:txBody>
          <a:bodyPr wrap="square">
            <a:spAutoFit/>
          </a:bodyPr>
          <a:lstStyle/>
          <a:p>
            <a:pPr algn="l"/>
            <a:r>
              <a:rPr sz="1100" b="1" i="0">
                <a:solidFill>
                  <a:srgbClr val="818CF8"/>
                </a:solidFill>
                <a:latin typeface="Calibri"/>
              </a:rPr>
              <a:t>ðŸ¤–  3 Fitur Data Mining</a:t>
            </a:r>
          </a:p>
        </p:txBody>
      </p:sp>
      <p:sp>
        <p:nvSpPr>
          <p:cNvPr id="17" name="TextBox 16"/>
          <p:cNvSpPr txBox="1"/>
          <p:nvPr/>
        </p:nvSpPr>
        <p:spPr>
          <a:xfrm>
            <a:off x="6364224" y="6053328"/>
            <a:ext cx="2606040" cy="502920"/>
          </a:xfrm>
          <a:prstGeom prst="rect">
            <a:avLst/>
          </a:prstGeom>
          <a:noFill/>
        </p:spPr>
        <p:txBody>
          <a:bodyPr wrap="square">
            <a:spAutoFit/>
          </a:bodyPr>
          <a:lstStyle/>
          <a:p>
            <a:pPr algn="l"/>
            <a:r>
              <a:rPr sz="950" b="0" i="0">
                <a:solidFill>
                  <a:srgbClr val="94A3B8"/>
                </a:solidFill>
                <a:latin typeface="Calibri"/>
              </a:rPr>
              <a:t>Regresi, Klasifikasi, Clustering masing-masing di halaman tersendiri</a:t>
            </a:r>
          </a:p>
        </p:txBody>
      </p:sp>
      <p:sp>
        <p:nvSpPr>
          <p:cNvPr id="18" name="Rectangle 17"/>
          <p:cNvSpPr/>
          <p:nvPr/>
        </p:nvSpPr>
        <p:spPr>
          <a:xfrm>
            <a:off x="9226296" y="5669280"/>
            <a:ext cx="2743200" cy="960120"/>
          </a:xfrm>
          <a:prstGeom prst="rect">
            <a:avLst/>
          </a:prstGeom>
          <a:solidFill>
            <a:srgbClr val="0D1224"/>
          </a:solid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17736" y="5742432"/>
            <a:ext cx="2560320" cy="347472"/>
          </a:xfrm>
          <a:prstGeom prst="rect">
            <a:avLst/>
          </a:prstGeom>
          <a:noFill/>
        </p:spPr>
        <p:txBody>
          <a:bodyPr wrap="square">
            <a:spAutoFit/>
          </a:bodyPr>
          <a:lstStyle/>
          <a:p>
            <a:pPr algn="l"/>
            <a:r>
              <a:rPr sz="1100" b="1" i="0">
                <a:solidFill>
                  <a:srgbClr val="818CF8"/>
                </a:solidFill>
                <a:latin typeface="Calibri"/>
              </a:rPr>
              <a:t>ðŸ“„  Tabel Data Lengkap</a:t>
            </a:r>
          </a:p>
        </p:txBody>
      </p:sp>
      <p:sp>
        <p:nvSpPr>
          <p:cNvPr id="20" name="TextBox 19"/>
          <p:cNvSpPr txBox="1"/>
          <p:nvPr/>
        </p:nvSpPr>
        <p:spPr>
          <a:xfrm>
            <a:off x="9317736" y="6053328"/>
            <a:ext cx="2606040" cy="502920"/>
          </a:xfrm>
          <a:prstGeom prst="rect">
            <a:avLst/>
          </a:prstGeom>
          <a:noFill/>
        </p:spPr>
        <p:txBody>
          <a:bodyPr wrap="square">
            <a:spAutoFit/>
          </a:bodyPr>
          <a:lstStyle/>
          <a:p>
            <a:pPr algn="l"/>
            <a:r>
              <a:rPr sz="950" b="0" i="0">
                <a:solidFill>
                  <a:srgbClr val="94A3B8"/>
                </a:solidFill>
                <a:latin typeface="Calibri"/>
              </a:rPr>
              <a:t>55.500 baris data pasien dapat dijelajahi secara interaktif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A1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6 / 22</a:t>
            </a:r>
          </a:p>
        </p:txBody>
      </p:sp>
      <p:sp>
        <p:nvSpPr>
          <p:cNvPr id="5" name="TextBox 4"/>
          <p:cNvSpPr txBox="1"/>
          <p:nvPr/>
        </p:nvSpPr>
        <p:spPr>
          <a:xfrm>
            <a:off x="1371600" y="1645920"/>
            <a:ext cx="9144000" cy="594360"/>
          </a:xfrm>
          <a:prstGeom prst="rect">
            <a:avLst/>
          </a:prstGeom>
          <a:noFill/>
        </p:spPr>
        <p:txBody>
          <a:bodyPr wrap="square">
            <a:spAutoFit/>
          </a:bodyPr>
          <a:lstStyle/>
          <a:p>
            <a:pPr algn="ctr"/>
            <a:r>
              <a:rPr sz="1600" b="1" i="0">
                <a:solidFill>
                  <a:srgbClr val="60A5FA"/>
                </a:solidFill>
                <a:latin typeface="Calibri"/>
              </a:rPr>
              <a:t>RANCANGAN 1</a:t>
            </a:r>
          </a:p>
        </p:txBody>
      </p:sp>
      <p:sp>
        <p:nvSpPr>
          <p:cNvPr id="6" name="TextBox 5"/>
          <p:cNvSpPr txBox="1"/>
          <p:nvPr/>
        </p:nvSpPr>
        <p:spPr>
          <a:xfrm>
            <a:off x="914400" y="2103120"/>
            <a:ext cx="10058400" cy="1371600"/>
          </a:xfrm>
          <a:prstGeom prst="rect">
            <a:avLst/>
          </a:prstGeom>
          <a:noFill/>
        </p:spPr>
        <p:txBody>
          <a:bodyPr wrap="square">
            <a:spAutoFit/>
          </a:bodyPr>
          <a:lstStyle/>
          <a:p>
            <a:pPr algn="ctr"/>
            <a:r>
              <a:rPr sz="5400" b="1" i="0">
                <a:solidFill>
                  <a:srgbClr val="F1F5F9"/>
                </a:solidFill>
                <a:latin typeface="Calibri"/>
              </a:rPr>
              <a:t>ðŸ“ˆ  Regresi</a:t>
            </a:r>
          </a:p>
        </p:txBody>
      </p:sp>
      <p:sp>
        <p:nvSpPr>
          <p:cNvPr id="7" name="TextBox 6"/>
          <p:cNvSpPr txBox="1"/>
          <p:nvPr/>
        </p:nvSpPr>
        <p:spPr>
          <a:xfrm>
            <a:off x="914400" y="3429000"/>
            <a:ext cx="10058400" cy="594360"/>
          </a:xfrm>
          <a:prstGeom prst="rect">
            <a:avLst/>
          </a:prstGeom>
          <a:noFill/>
        </p:spPr>
        <p:txBody>
          <a:bodyPr wrap="square">
            <a:spAutoFit/>
          </a:bodyPr>
          <a:lstStyle/>
          <a:p>
            <a:pPr algn="ctr"/>
            <a:r>
              <a:rPr sz="2200" b="0" i="0">
                <a:solidFill>
                  <a:srgbClr val="60A5FA"/>
                </a:solidFill>
                <a:latin typeface="Calibri"/>
              </a:rPr>
              <a:t>Prediksi Biaya Tagihan Pasien</a:t>
            </a:r>
          </a:p>
        </p:txBody>
      </p:sp>
      <p:sp>
        <p:nvSpPr>
          <p:cNvPr id="8" name="Rectangle 7"/>
          <p:cNvSpPr/>
          <p:nvPr/>
        </p:nvSpPr>
        <p:spPr>
          <a:xfrm>
            <a:off x="3657600" y="4114800"/>
            <a:ext cx="4846320" cy="54864"/>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97680"/>
            <a:ext cx="10058400" cy="457200"/>
          </a:xfrm>
          <a:prstGeom prst="rect">
            <a:avLst/>
          </a:prstGeom>
          <a:noFill/>
        </p:spPr>
        <p:txBody>
          <a:bodyPr wrap="square">
            <a:spAutoFit/>
          </a:bodyPr>
          <a:lstStyle/>
          <a:p>
            <a:pPr algn="ctr"/>
            <a:r>
              <a:rPr sz="1600" b="0" i="0">
                <a:solidFill>
                  <a:srgbClr val="94A3B8"/>
                </a:solidFill>
                <a:latin typeface="Calibri"/>
              </a:rPr>
              <a:t>Algoritma: Linear Regression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7 / 22</a:t>
            </a:r>
          </a:p>
        </p:txBody>
      </p:sp>
      <p:sp>
        <p:nvSpPr>
          <p:cNvPr id="4" name="TextBox 3"/>
          <p:cNvSpPr txBox="1"/>
          <p:nvPr/>
        </p:nvSpPr>
        <p:spPr>
          <a:xfrm>
            <a:off x="457200" y="137160"/>
            <a:ext cx="10972800" cy="502920"/>
          </a:xfrm>
          <a:prstGeom prst="rect">
            <a:avLst/>
          </a:prstGeom>
          <a:noFill/>
        </p:spPr>
        <p:txBody>
          <a:bodyPr wrap="square">
            <a:spAutoFit/>
          </a:bodyPr>
          <a:lstStyle/>
          <a:p>
            <a:pPr algn="l"/>
            <a:r>
              <a:rPr sz="2200" b="1" i="0">
                <a:solidFill>
                  <a:srgbClr val="F1F5F9"/>
                </a:solidFill>
                <a:latin typeface="Calibri"/>
              </a:rPr>
              <a:t>04  Rancangan 1: Regresi</a:t>
            </a:r>
          </a:p>
        </p:txBody>
      </p:sp>
      <p:sp>
        <p:nvSpPr>
          <p:cNvPr id="5" name="TextBox 4"/>
          <p:cNvSpPr txBox="1"/>
          <p:nvPr/>
        </p:nvSpPr>
        <p:spPr>
          <a:xfrm>
            <a:off x="457200" y="658368"/>
            <a:ext cx="11430000" cy="475488"/>
          </a:xfrm>
          <a:prstGeom prst="rect">
            <a:avLst/>
          </a:prstGeom>
          <a:noFill/>
        </p:spPr>
        <p:txBody>
          <a:bodyPr wrap="square">
            <a:spAutoFit/>
          </a:bodyPr>
          <a:lstStyle/>
          <a:p>
            <a:pPr algn="l"/>
            <a:r>
              <a:rPr sz="1600" b="1" i="0">
                <a:solidFill>
                  <a:srgbClr val="60A5FA"/>
                </a:solidFill>
                <a:latin typeface="Calibri"/>
              </a:rPr>
              <a:t>ðŸ§®  Algoritma yang Diterapkan â€” Linear Regression</a:t>
            </a:r>
          </a:p>
        </p:txBody>
      </p:sp>
      <p:sp>
        <p:nvSpPr>
          <p:cNvPr id="6" name="Rectangle 5"/>
          <p:cNvSpPr/>
          <p:nvPr/>
        </p:nvSpPr>
        <p:spPr>
          <a:xfrm>
            <a:off x="457200" y="1115568"/>
            <a:ext cx="3200400" cy="457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11430000" cy="2011680"/>
          </a:xfrm>
          <a:prstGeom prst="rect">
            <a:avLst/>
          </a:prstGeom>
          <a:solidFill>
            <a:srgbClr val="0D1224"/>
          </a:solidFill>
          <a:ln w="9525">
            <a:solidFill>
              <a:srgbClr val="203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54864" cy="20116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98448"/>
            <a:ext cx="10972800" cy="365760"/>
          </a:xfrm>
          <a:prstGeom prst="rect">
            <a:avLst/>
          </a:prstGeom>
          <a:noFill/>
        </p:spPr>
        <p:txBody>
          <a:bodyPr wrap="square">
            <a:spAutoFit/>
          </a:bodyPr>
          <a:lstStyle/>
          <a:p>
            <a:pPr algn="l"/>
            <a:r>
              <a:rPr sz="1300" b="1" i="0">
                <a:solidFill>
                  <a:srgbClr val="60A5FA"/>
                </a:solidFill>
                <a:latin typeface="Calibri"/>
              </a:rPr>
              <a:t>Apa itu Linear Regression?</a:t>
            </a:r>
          </a:p>
        </p:txBody>
      </p:sp>
      <p:sp>
        <p:nvSpPr>
          <p:cNvPr id="10" name="TextBox 9"/>
          <p:cNvSpPr txBox="1"/>
          <p:nvPr/>
        </p:nvSpPr>
        <p:spPr>
          <a:xfrm>
            <a:off x="594360" y="1664208"/>
            <a:ext cx="10972800" cy="1508760"/>
          </a:xfrm>
          <a:prstGeom prst="rect">
            <a:avLst/>
          </a:prstGeom>
          <a:noFill/>
        </p:spPr>
        <p:txBody>
          <a:bodyPr wrap="square">
            <a:spAutoFit/>
          </a:bodyPr>
          <a:lstStyle/>
          <a:p>
            <a:pPr>
              <a:spcBef>
                <a:spcPts val="300"/>
              </a:spcBef>
            </a:pPr>
            <a:r>
              <a:rPr sz="1250" b="0">
                <a:solidFill>
                  <a:srgbClr val="94A3B8"/>
                </a:solidFill>
                <a:latin typeface="Calibri"/>
              </a:rPr>
              <a:t>Linear Regression (Regresi Linier) adalah metode statistik untuk memprediksi nilai angka berdasarkan data-data yang sudah ada.</a:t>
            </a:r>
          </a:p>
          <a:p>
            <a:pPr>
              <a:spcBef>
                <a:spcPts val="300"/>
              </a:spcBef>
            </a:pPr>
            <a:r>
              <a:rPr sz="1250" b="0">
                <a:solidFill>
                  <a:srgbClr val="94A3B8"/>
                </a:solidFill>
                <a:latin typeface="Calibri"/>
              </a:rPr>
              <a:t/>
            </a:r>
          </a:p>
          <a:p>
            <a:pPr>
              <a:spcBef>
                <a:spcPts val="300"/>
              </a:spcBef>
            </a:pPr>
            <a:r>
              <a:rPr sz="1250" b="0">
                <a:solidFill>
                  <a:srgbClr val="94A3B8"/>
                </a:solidFill>
                <a:latin typeface="Calibri"/>
              </a:rPr>
              <a:t>Analogi: Seperti seorang agen properti berpengalaman yang bisa menaksir harga rumah hanya dengan melihat luas, lokasi, dan jumlah kamarnya â€” tanpa perlu survey mendetail.</a:t>
            </a:r>
          </a:p>
          <a:p>
            <a:pPr>
              <a:spcBef>
                <a:spcPts val="300"/>
              </a:spcBef>
            </a:pPr>
            <a:r>
              <a:rPr sz="1250" b="0">
                <a:solidFill>
                  <a:srgbClr val="94A3B8"/>
                </a:solidFill>
                <a:latin typeface="Calibri"/>
              </a:rPr>
              <a:t/>
            </a:r>
          </a:p>
          <a:p>
            <a:pPr>
              <a:spcBef>
                <a:spcPts val="300"/>
              </a:spcBef>
            </a:pPr>
            <a:r>
              <a:rPr sz="1250" b="0">
                <a:solidFill>
                  <a:srgbClr val="94A3B8"/>
                </a:solidFill>
                <a:latin typeface="Calibri"/>
              </a:rPr>
              <a:t>Dalam konteks ini: komputer belajar dari data 55.500 pasien, lalu memprediksi berapa tagihan pasien berikutnya berdasarkan profil mereka.</a:t>
            </a:r>
          </a:p>
        </p:txBody>
      </p:sp>
      <p:sp>
        <p:nvSpPr>
          <p:cNvPr id="11" name="Rectangle 10"/>
          <p:cNvSpPr/>
          <p:nvPr/>
        </p:nvSpPr>
        <p:spPr>
          <a:xfrm>
            <a:off x="365760" y="3337560"/>
            <a:ext cx="11430000" cy="685800"/>
          </a:xfrm>
          <a:prstGeom prst="rect">
            <a:avLst/>
          </a:prstGeom>
          <a:solidFill>
            <a:srgbClr val="0D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410712"/>
            <a:ext cx="11064240" cy="502920"/>
          </a:xfrm>
          <a:prstGeom prst="rect">
            <a:avLst/>
          </a:prstGeom>
          <a:noFill/>
        </p:spPr>
        <p:txBody>
          <a:bodyPr wrap="square">
            <a:spAutoFit/>
          </a:bodyPr>
          <a:lstStyle/>
          <a:p>
            <a:pPr algn="l"/>
            <a:r>
              <a:rPr sz="1300" b="1" i="0">
                <a:solidFill>
                  <a:srgbClr val="60A5FA"/>
                </a:solidFill>
                <a:latin typeface="Calibri"/>
              </a:rPr>
              <a:t>Formula:   Prediksi Tagihan  =  Konstanta + (a Ã— Umur) + (b Ã— Jenis Penyakit) + (c Ã— Asuransi) + ...</a:t>
            </a:r>
          </a:p>
        </p:txBody>
      </p:sp>
      <p:sp>
        <p:nvSpPr>
          <p:cNvPr id="13" name="Rectangle 12"/>
          <p:cNvSpPr/>
          <p:nvPr/>
        </p:nvSpPr>
        <p:spPr>
          <a:xfrm>
            <a:off x="365760" y="4160520"/>
            <a:ext cx="3657600" cy="2423160"/>
          </a:xfrm>
          <a:prstGeom prst="rect">
            <a:avLst/>
          </a:prstGeom>
          <a:solidFill>
            <a:srgbClr val="0D1224"/>
          </a:solidFill>
          <a:ln w="9525">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4160520"/>
            <a:ext cx="3657600" cy="7315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4297680"/>
            <a:ext cx="3383280" cy="411480"/>
          </a:xfrm>
          <a:prstGeom prst="rect">
            <a:avLst/>
          </a:prstGeom>
          <a:noFill/>
        </p:spPr>
        <p:txBody>
          <a:bodyPr wrap="square">
            <a:spAutoFit/>
          </a:bodyPr>
          <a:lstStyle/>
          <a:p>
            <a:pPr algn="l"/>
            <a:r>
              <a:rPr sz="1300" b="1" i="0">
                <a:solidFill>
                  <a:srgbClr val="60A5FA"/>
                </a:solidFill>
                <a:latin typeface="Calibri"/>
              </a:rPr>
              <a:t>ðŸ“ Sederhana</a:t>
            </a:r>
          </a:p>
        </p:txBody>
      </p:sp>
      <p:sp>
        <p:nvSpPr>
          <p:cNvPr id="16" name="TextBox 15"/>
          <p:cNvSpPr txBox="1"/>
          <p:nvPr/>
        </p:nvSpPr>
        <p:spPr>
          <a:xfrm>
            <a:off x="502920" y="4709160"/>
            <a:ext cx="3429000" cy="1645920"/>
          </a:xfrm>
          <a:prstGeom prst="rect">
            <a:avLst/>
          </a:prstGeom>
          <a:noFill/>
        </p:spPr>
        <p:txBody>
          <a:bodyPr wrap="square">
            <a:spAutoFit/>
          </a:bodyPr>
          <a:lstStyle/>
          <a:p>
            <a:pPr algn="l"/>
            <a:r>
              <a:rPr sz="1200" b="0" i="0">
                <a:solidFill>
                  <a:srgbClr val="94A3B8"/>
                </a:solidFill>
                <a:latin typeface="Calibri"/>
              </a:rPr>
              <a:t>Mudah dipahami dan mudah dijelaskan hasilnya kepada non-teknisi</a:t>
            </a:r>
          </a:p>
        </p:txBody>
      </p:sp>
      <p:sp>
        <p:nvSpPr>
          <p:cNvPr id="17" name="Rectangle 16"/>
          <p:cNvSpPr/>
          <p:nvPr/>
        </p:nvSpPr>
        <p:spPr>
          <a:xfrm>
            <a:off x="4233672" y="4160520"/>
            <a:ext cx="3657600" cy="2423160"/>
          </a:xfrm>
          <a:prstGeom prst="rect">
            <a:avLst/>
          </a:prstGeom>
          <a:solidFill>
            <a:srgbClr val="0D1224"/>
          </a:solidFill>
          <a:ln w="9525">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33672" y="4160520"/>
            <a:ext cx="3657600" cy="7315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0832" y="4297680"/>
            <a:ext cx="3383280" cy="411480"/>
          </a:xfrm>
          <a:prstGeom prst="rect">
            <a:avLst/>
          </a:prstGeom>
          <a:noFill/>
        </p:spPr>
        <p:txBody>
          <a:bodyPr wrap="square">
            <a:spAutoFit/>
          </a:bodyPr>
          <a:lstStyle/>
          <a:p>
            <a:pPr algn="l"/>
            <a:r>
              <a:rPr sz="1300" b="1" i="0">
                <a:solidFill>
                  <a:srgbClr val="60A5FA"/>
                </a:solidFill>
                <a:latin typeface="Calibri"/>
              </a:rPr>
              <a:t>âš¡ Cepat</a:t>
            </a:r>
          </a:p>
        </p:txBody>
      </p:sp>
      <p:sp>
        <p:nvSpPr>
          <p:cNvPr id="20" name="TextBox 19"/>
          <p:cNvSpPr txBox="1"/>
          <p:nvPr/>
        </p:nvSpPr>
        <p:spPr>
          <a:xfrm>
            <a:off x="4370832" y="4709160"/>
            <a:ext cx="3429000" cy="1645920"/>
          </a:xfrm>
          <a:prstGeom prst="rect">
            <a:avLst/>
          </a:prstGeom>
          <a:noFill/>
        </p:spPr>
        <p:txBody>
          <a:bodyPr wrap="square">
            <a:spAutoFit/>
          </a:bodyPr>
          <a:lstStyle/>
          <a:p>
            <a:pPr algn="l"/>
            <a:r>
              <a:rPr sz="1200" b="0" i="0">
                <a:solidFill>
                  <a:srgbClr val="94A3B8"/>
                </a:solidFill>
                <a:latin typeface="Calibri"/>
              </a:rPr>
              <a:t>Proses training sangat cepat meskipun data sangat besar</a:t>
            </a:r>
          </a:p>
        </p:txBody>
      </p:sp>
      <p:sp>
        <p:nvSpPr>
          <p:cNvPr id="21" name="Rectangle 20"/>
          <p:cNvSpPr/>
          <p:nvPr/>
        </p:nvSpPr>
        <p:spPr>
          <a:xfrm>
            <a:off x="8101584" y="4160520"/>
            <a:ext cx="3657600" cy="2423160"/>
          </a:xfrm>
          <a:prstGeom prst="rect">
            <a:avLst/>
          </a:prstGeom>
          <a:solidFill>
            <a:srgbClr val="0D1224"/>
          </a:solidFill>
          <a:ln w="9525">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1584" y="4160520"/>
            <a:ext cx="3657600" cy="7315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4297680"/>
            <a:ext cx="3383280" cy="411480"/>
          </a:xfrm>
          <a:prstGeom prst="rect">
            <a:avLst/>
          </a:prstGeom>
          <a:noFill/>
        </p:spPr>
        <p:txBody>
          <a:bodyPr wrap="square">
            <a:spAutoFit/>
          </a:bodyPr>
          <a:lstStyle/>
          <a:p>
            <a:pPr algn="l"/>
            <a:r>
              <a:rPr sz="1300" b="1" i="0">
                <a:solidFill>
                  <a:srgbClr val="60A5FA"/>
                </a:solidFill>
                <a:latin typeface="Calibri"/>
              </a:rPr>
              <a:t>ðŸ”® Praktis</a:t>
            </a:r>
          </a:p>
        </p:txBody>
      </p:sp>
      <p:sp>
        <p:nvSpPr>
          <p:cNvPr id="24" name="TextBox 23"/>
          <p:cNvSpPr txBox="1"/>
          <p:nvPr/>
        </p:nvSpPr>
        <p:spPr>
          <a:xfrm>
            <a:off x="8238744" y="4709160"/>
            <a:ext cx="3429000" cy="1645920"/>
          </a:xfrm>
          <a:prstGeom prst="rect">
            <a:avLst/>
          </a:prstGeom>
          <a:noFill/>
        </p:spPr>
        <p:txBody>
          <a:bodyPr wrap="square">
            <a:spAutoFit/>
          </a:bodyPr>
          <a:lstStyle/>
          <a:p>
            <a:pPr algn="l"/>
            <a:r>
              <a:rPr sz="1200" b="0" i="0">
                <a:solidFill>
                  <a:srgbClr val="94A3B8"/>
                </a:solidFill>
                <a:latin typeface="Calibri"/>
              </a:rPr>
              <a:t>Dapat langsung memberikan angka prediksi yang spesifik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8 / 22</a:t>
            </a:r>
          </a:p>
        </p:txBody>
      </p:sp>
      <p:sp>
        <p:nvSpPr>
          <p:cNvPr id="4" name="TextBox 3"/>
          <p:cNvSpPr txBox="1"/>
          <p:nvPr/>
        </p:nvSpPr>
        <p:spPr>
          <a:xfrm>
            <a:off x="457200" y="137160"/>
            <a:ext cx="10972800" cy="502920"/>
          </a:xfrm>
          <a:prstGeom prst="rect">
            <a:avLst/>
          </a:prstGeom>
          <a:noFill/>
        </p:spPr>
        <p:txBody>
          <a:bodyPr wrap="square">
            <a:spAutoFit/>
          </a:bodyPr>
          <a:lstStyle/>
          <a:p>
            <a:pPr algn="l"/>
            <a:r>
              <a:rPr sz="2200" b="1" i="0">
                <a:solidFill>
                  <a:srgbClr val="F1F5F9"/>
                </a:solidFill>
                <a:latin typeface="Calibri"/>
              </a:rPr>
              <a:t>04  Rancangan 1: Regresi</a:t>
            </a:r>
          </a:p>
        </p:txBody>
      </p:sp>
      <p:sp>
        <p:nvSpPr>
          <p:cNvPr id="5" name="Rectangle 4"/>
          <p:cNvSpPr/>
          <p:nvPr/>
        </p:nvSpPr>
        <p:spPr>
          <a:xfrm>
            <a:off x="365760" y="777240"/>
            <a:ext cx="5577840" cy="5760720"/>
          </a:xfrm>
          <a:prstGeom prst="rect">
            <a:avLst/>
          </a:prstGeom>
          <a:solidFill>
            <a:srgbClr val="0D1224"/>
          </a:solidFill>
          <a:ln w="9525">
            <a:solidFill>
              <a:srgbClr val="203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777240"/>
            <a:ext cx="54864" cy="57607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50392"/>
            <a:ext cx="5303520" cy="457200"/>
          </a:xfrm>
          <a:prstGeom prst="rect">
            <a:avLst/>
          </a:prstGeom>
          <a:noFill/>
        </p:spPr>
        <p:txBody>
          <a:bodyPr wrap="square">
            <a:spAutoFit/>
          </a:bodyPr>
          <a:lstStyle/>
          <a:p>
            <a:pPr algn="l"/>
            <a:r>
              <a:rPr sz="1400" b="1" i="0">
                <a:solidFill>
                  <a:srgbClr val="60A5FA"/>
                </a:solidFill>
                <a:latin typeface="Calibri"/>
              </a:rPr>
              <a:t>ðŸ“Š  Data / Kolom yang Digunakan</a:t>
            </a:r>
          </a:p>
        </p:txBody>
      </p:sp>
      <p:sp>
        <p:nvSpPr>
          <p:cNvPr id="8" name="TextBox 7"/>
          <p:cNvSpPr txBox="1"/>
          <p:nvPr/>
        </p:nvSpPr>
        <p:spPr>
          <a:xfrm>
            <a:off x="594360" y="1325880"/>
            <a:ext cx="5212080" cy="347472"/>
          </a:xfrm>
          <a:prstGeom prst="rect">
            <a:avLst/>
          </a:prstGeom>
          <a:noFill/>
        </p:spPr>
        <p:txBody>
          <a:bodyPr wrap="square">
            <a:spAutoFit/>
          </a:bodyPr>
          <a:lstStyle/>
          <a:p>
            <a:pPr algn="l"/>
            <a:r>
              <a:rPr sz="1200" b="1" i="0">
                <a:solidFill>
                  <a:srgbClr val="F1F5F9"/>
                </a:solidFill>
                <a:latin typeface="Calibri"/>
              </a:rPr>
              <a:t>Data Masukan (Bahan Prediksi):</a:t>
            </a:r>
          </a:p>
        </p:txBody>
      </p:sp>
      <p:sp>
        <p:nvSpPr>
          <p:cNvPr id="9" name="Rectangle 8"/>
          <p:cNvSpPr/>
          <p:nvPr/>
        </p:nvSpPr>
        <p:spPr>
          <a:xfrm>
            <a:off x="594360" y="1691640"/>
            <a:ext cx="5120640" cy="393192"/>
          </a:xfrm>
          <a:prstGeom prst="rect">
            <a:avLst/>
          </a:prstGeom>
          <a:solidFill>
            <a:srgbClr val="101A3A"/>
          </a:solidFill>
          <a:ln w="63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737360"/>
            <a:ext cx="1920240" cy="347472"/>
          </a:xfrm>
          <a:prstGeom prst="rect">
            <a:avLst/>
          </a:prstGeom>
          <a:noFill/>
        </p:spPr>
        <p:txBody>
          <a:bodyPr wrap="square">
            <a:spAutoFit/>
          </a:bodyPr>
          <a:lstStyle/>
          <a:p>
            <a:pPr algn="l"/>
            <a:r>
              <a:rPr sz="1100" b="1" i="0">
                <a:solidFill>
                  <a:srgbClr val="60A5FA"/>
                </a:solidFill>
                <a:latin typeface="Calibri"/>
              </a:rPr>
              <a:t>  Age</a:t>
            </a:r>
          </a:p>
        </p:txBody>
      </p:sp>
      <p:sp>
        <p:nvSpPr>
          <p:cNvPr id="11" name="TextBox 10"/>
          <p:cNvSpPr txBox="1"/>
          <p:nvPr/>
        </p:nvSpPr>
        <p:spPr>
          <a:xfrm>
            <a:off x="2606040" y="1737360"/>
            <a:ext cx="3017520" cy="347472"/>
          </a:xfrm>
          <a:prstGeom prst="rect">
            <a:avLst/>
          </a:prstGeom>
          <a:noFill/>
        </p:spPr>
        <p:txBody>
          <a:bodyPr wrap="square">
            <a:spAutoFit/>
          </a:bodyPr>
          <a:lstStyle/>
          <a:p>
            <a:pPr algn="l"/>
            <a:r>
              <a:rPr sz="1100" b="0" i="0">
                <a:solidFill>
                  <a:srgbClr val="94A3B8"/>
                </a:solidFill>
                <a:latin typeface="Calibri"/>
              </a:rPr>
              <a:t>â†’  Umur pasien</a:t>
            </a:r>
          </a:p>
        </p:txBody>
      </p:sp>
      <p:sp>
        <p:nvSpPr>
          <p:cNvPr id="12" name="Rectangle 11"/>
          <p:cNvSpPr/>
          <p:nvPr/>
        </p:nvSpPr>
        <p:spPr>
          <a:xfrm>
            <a:off x="594360" y="2148840"/>
            <a:ext cx="5120640" cy="393192"/>
          </a:xfrm>
          <a:prstGeom prst="rect">
            <a:avLst/>
          </a:prstGeom>
          <a:solidFill>
            <a:srgbClr val="101A3A"/>
          </a:solidFill>
          <a:ln w="63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194560"/>
            <a:ext cx="1920240" cy="347472"/>
          </a:xfrm>
          <a:prstGeom prst="rect">
            <a:avLst/>
          </a:prstGeom>
          <a:noFill/>
        </p:spPr>
        <p:txBody>
          <a:bodyPr wrap="square">
            <a:spAutoFit/>
          </a:bodyPr>
          <a:lstStyle/>
          <a:p>
            <a:pPr algn="l"/>
            <a:r>
              <a:rPr sz="1100" b="1" i="0">
                <a:solidFill>
                  <a:srgbClr val="60A5FA"/>
                </a:solidFill>
                <a:latin typeface="Calibri"/>
              </a:rPr>
              <a:t>  Gender</a:t>
            </a:r>
          </a:p>
        </p:txBody>
      </p:sp>
      <p:sp>
        <p:nvSpPr>
          <p:cNvPr id="14" name="TextBox 13"/>
          <p:cNvSpPr txBox="1"/>
          <p:nvPr/>
        </p:nvSpPr>
        <p:spPr>
          <a:xfrm>
            <a:off x="2606040" y="2194560"/>
            <a:ext cx="3017520" cy="347472"/>
          </a:xfrm>
          <a:prstGeom prst="rect">
            <a:avLst/>
          </a:prstGeom>
          <a:noFill/>
        </p:spPr>
        <p:txBody>
          <a:bodyPr wrap="square">
            <a:spAutoFit/>
          </a:bodyPr>
          <a:lstStyle/>
          <a:p>
            <a:pPr algn="l"/>
            <a:r>
              <a:rPr sz="1100" b="0" i="0">
                <a:solidFill>
                  <a:srgbClr val="94A3B8"/>
                </a:solidFill>
                <a:latin typeface="Calibri"/>
              </a:rPr>
              <a:t>â†’  Jenis kelamin (Laki / Perempuan)</a:t>
            </a:r>
          </a:p>
        </p:txBody>
      </p:sp>
      <p:sp>
        <p:nvSpPr>
          <p:cNvPr id="15" name="Rectangle 14"/>
          <p:cNvSpPr/>
          <p:nvPr/>
        </p:nvSpPr>
        <p:spPr>
          <a:xfrm>
            <a:off x="594360" y="2606040"/>
            <a:ext cx="5120640" cy="393192"/>
          </a:xfrm>
          <a:prstGeom prst="rect">
            <a:avLst/>
          </a:prstGeom>
          <a:solidFill>
            <a:srgbClr val="101A3A"/>
          </a:solidFill>
          <a:ln w="63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651760"/>
            <a:ext cx="1920240" cy="347472"/>
          </a:xfrm>
          <a:prstGeom prst="rect">
            <a:avLst/>
          </a:prstGeom>
          <a:noFill/>
        </p:spPr>
        <p:txBody>
          <a:bodyPr wrap="square">
            <a:spAutoFit/>
          </a:bodyPr>
          <a:lstStyle/>
          <a:p>
            <a:pPr algn="l"/>
            <a:r>
              <a:rPr sz="1100" b="1" i="0">
                <a:solidFill>
                  <a:srgbClr val="60A5FA"/>
                </a:solidFill>
                <a:latin typeface="Calibri"/>
              </a:rPr>
              <a:t>  Medical Condition</a:t>
            </a:r>
          </a:p>
        </p:txBody>
      </p:sp>
      <p:sp>
        <p:nvSpPr>
          <p:cNvPr id="17" name="TextBox 16"/>
          <p:cNvSpPr txBox="1"/>
          <p:nvPr/>
        </p:nvSpPr>
        <p:spPr>
          <a:xfrm>
            <a:off x="2606040" y="2651760"/>
            <a:ext cx="3017520" cy="347472"/>
          </a:xfrm>
          <a:prstGeom prst="rect">
            <a:avLst/>
          </a:prstGeom>
          <a:noFill/>
        </p:spPr>
        <p:txBody>
          <a:bodyPr wrap="square">
            <a:spAutoFit/>
          </a:bodyPr>
          <a:lstStyle/>
          <a:p>
            <a:pPr algn="l"/>
            <a:r>
              <a:rPr sz="1100" b="0" i="0">
                <a:solidFill>
                  <a:srgbClr val="94A3B8"/>
                </a:solidFill>
                <a:latin typeface="Calibri"/>
              </a:rPr>
              <a:t>â†’  Jenis penyakit yang diderita</a:t>
            </a:r>
          </a:p>
        </p:txBody>
      </p:sp>
      <p:sp>
        <p:nvSpPr>
          <p:cNvPr id="18" name="Rectangle 17"/>
          <p:cNvSpPr/>
          <p:nvPr/>
        </p:nvSpPr>
        <p:spPr>
          <a:xfrm>
            <a:off x="594360" y="3063240"/>
            <a:ext cx="5120640" cy="393192"/>
          </a:xfrm>
          <a:prstGeom prst="rect">
            <a:avLst/>
          </a:prstGeom>
          <a:solidFill>
            <a:srgbClr val="101A3A"/>
          </a:solidFill>
          <a:ln w="63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108960"/>
            <a:ext cx="1920240" cy="347472"/>
          </a:xfrm>
          <a:prstGeom prst="rect">
            <a:avLst/>
          </a:prstGeom>
          <a:noFill/>
        </p:spPr>
        <p:txBody>
          <a:bodyPr wrap="square">
            <a:spAutoFit/>
          </a:bodyPr>
          <a:lstStyle/>
          <a:p>
            <a:pPr algn="l"/>
            <a:r>
              <a:rPr sz="1100" b="1" i="0">
                <a:solidFill>
                  <a:srgbClr val="60A5FA"/>
                </a:solidFill>
                <a:latin typeface="Calibri"/>
              </a:rPr>
              <a:t>  Admission Type</a:t>
            </a:r>
          </a:p>
        </p:txBody>
      </p:sp>
      <p:sp>
        <p:nvSpPr>
          <p:cNvPr id="20" name="TextBox 19"/>
          <p:cNvSpPr txBox="1"/>
          <p:nvPr/>
        </p:nvSpPr>
        <p:spPr>
          <a:xfrm>
            <a:off x="2606040" y="3108960"/>
            <a:ext cx="3017520" cy="347472"/>
          </a:xfrm>
          <a:prstGeom prst="rect">
            <a:avLst/>
          </a:prstGeom>
          <a:noFill/>
        </p:spPr>
        <p:txBody>
          <a:bodyPr wrap="square">
            <a:spAutoFit/>
          </a:bodyPr>
          <a:lstStyle/>
          <a:p>
            <a:pPr algn="l"/>
            <a:r>
              <a:rPr sz="1100" b="0" i="0">
                <a:solidFill>
                  <a:srgbClr val="94A3B8"/>
                </a:solidFill>
                <a:latin typeface="Calibri"/>
              </a:rPr>
              <a:t>â†’  Tipe rawat inap (Darurat / Elektif / Mendesak)</a:t>
            </a:r>
          </a:p>
        </p:txBody>
      </p:sp>
      <p:sp>
        <p:nvSpPr>
          <p:cNvPr id="21" name="Rectangle 20"/>
          <p:cNvSpPr/>
          <p:nvPr/>
        </p:nvSpPr>
        <p:spPr>
          <a:xfrm>
            <a:off x="594360" y="3520440"/>
            <a:ext cx="5120640" cy="393192"/>
          </a:xfrm>
          <a:prstGeom prst="rect">
            <a:avLst/>
          </a:prstGeom>
          <a:solidFill>
            <a:srgbClr val="101A3A"/>
          </a:solidFill>
          <a:ln w="63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3566160"/>
            <a:ext cx="1920240" cy="347472"/>
          </a:xfrm>
          <a:prstGeom prst="rect">
            <a:avLst/>
          </a:prstGeom>
          <a:noFill/>
        </p:spPr>
        <p:txBody>
          <a:bodyPr wrap="square">
            <a:spAutoFit/>
          </a:bodyPr>
          <a:lstStyle/>
          <a:p>
            <a:pPr algn="l"/>
            <a:r>
              <a:rPr sz="1100" b="1" i="0">
                <a:solidFill>
                  <a:srgbClr val="60A5FA"/>
                </a:solidFill>
                <a:latin typeface="Calibri"/>
              </a:rPr>
              <a:t>  Insurance Provider</a:t>
            </a:r>
          </a:p>
        </p:txBody>
      </p:sp>
      <p:sp>
        <p:nvSpPr>
          <p:cNvPr id="23" name="TextBox 22"/>
          <p:cNvSpPr txBox="1"/>
          <p:nvPr/>
        </p:nvSpPr>
        <p:spPr>
          <a:xfrm>
            <a:off x="2606040" y="3566160"/>
            <a:ext cx="3017520" cy="347472"/>
          </a:xfrm>
          <a:prstGeom prst="rect">
            <a:avLst/>
          </a:prstGeom>
          <a:noFill/>
        </p:spPr>
        <p:txBody>
          <a:bodyPr wrap="square">
            <a:spAutoFit/>
          </a:bodyPr>
          <a:lstStyle/>
          <a:p>
            <a:pPr algn="l"/>
            <a:r>
              <a:rPr sz="1100" b="0" i="0">
                <a:solidFill>
                  <a:srgbClr val="94A3B8"/>
                </a:solidFill>
                <a:latin typeface="Calibri"/>
              </a:rPr>
              <a:t>â†’  Nama perusahaan asuransi</a:t>
            </a:r>
          </a:p>
        </p:txBody>
      </p:sp>
      <p:sp>
        <p:nvSpPr>
          <p:cNvPr id="24" name="Rectangle 23"/>
          <p:cNvSpPr/>
          <p:nvPr/>
        </p:nvSpPr>
        <p:spPr>
          <a:xfrm>
            <a:off x="594360" y="3977640"/>
            <a:ext cx="5120640" cy="393192"/>
          </a:xfrm>
          <a:prstGeom prst="rect">
            <a:avLst/>
          </a:prstGeom>
          <a:solidFill>
            <a:srgbClr val="101A3A"/>
          </a:solidFill>
          <a:ln w="63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4023360"/>
            <a:ext cx="1920240" cy="347472"/>
          </a:xfrm>
          <a:prstGeom prst="rect">
            <a:avLst/>
          </a:prstGeom>
          <a:noFill/>
        </p:spPr>
        <p:txBody>
          <a:bodyPr wrap="square">
            <a:spAutoFit/>
          </a:bodyPr>
          <a:lstStyle/>
          <a:p>
            <a:pPr algn="l"/>
            <a:r>
              <a:rPr sz="1100" b="1" i="0">
                <a:solidFill>
                  <a:srgbClr val="60A5FA"/>
                </a:solidFill>
                <a:latin typeface="Calibri"/>
              </a:rPr>
              <a:t>  Room Number</a:t>
            </a:r>
          </a:p>
        </p:txBody>
      </p:sp>
      <p:sp>
        <p:nvSpPr>
          <p:cNvPr id="26" name="TextBox 25"/>
          <p:cNvSpPr txBox="1"/>
          <p:nvPr/>
        </p:nvSpPr>
        <p:spPr>
          <a:xfrm>
            <a:off x="2606040" y="4023360"/>
            <a:ext cx="3017520" cy="347472"/>
          </a:xfrm>
          <a:prstGeom prst="rect">
            <a:avLst/>
          </a:prstGeom>
          <a:noFill/>
        </p:spPr>
        <p:txBody>
          <a:bodyPr wrap="square">
            <a:spAutoFit/>
          </a:bodyPr>
          <a:lstStyle/>
          <a:p>
            <a:pPr algn="l"/>
            <a:r>
              <a:rPr sz="1100" b="0" i="0">
                <a:solidFill>
                  <a:srgbClr val="94A3B8"/>
                </a:solidFill>
                <a:latin typeface="Calibri"/>
              </a:rPr>
              <a:t>â†’  Nomor kamar yang ditempati</a:t>
            </a:r>
          </a:p>
        </p:txBody>
      </p:sp>
      <p:sp>
        <p:nvSpPr>
          <p:cNvPr id="27" name="Rectangle 26"/>
          <p:cNvSpPr/>
          <p:nvPr/>
        </p:nvSpPr>
        <p:spPr>
          <a:xfrm>
            <a:off x="594360" y="4462272"/>
            <a:ext cx="5120640" cy="502920"/>
          </a:xfrm>
          <a:prstGeom prst="rect">
            <a:avLst/>
          </a:prstGeom>
          <a:solidFill>
            <a:srgbClr val="0D1E40"/>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4526280"/>
            <a:ext cx="5029200" cy="411480"/>
          </a:xfrm>
          <a:prstGeom prst="rect">
            <a:avLst/>
          </a:prstGeom>
          <a:noFill/>
        </p:spPr>
        <p:txBody>
          <a:bodyPr wrap="square">
            <a:spAutoFit/>
          </a:bodyPr>
          <a:lstStyle/>
          <a:p>
            <a:pPr algn="l"/>
            <a:r>
              <a:rPr sz="1200" b="1" i="0">
                <a:solidFill>
                  <a:srgbClr val="F1F5F9"/>
                </a:solidFill>
                <a:latin typeface="Calibri"/>
              </a:rPr>
              <a:t>  ðŸŽ¯  Output / Target  â†’  Billing Amount (Tagihan dalam $)</a:t>
            </a:r>
          </a:p>
        </p:txBody>
      </p:sp>
      <p:sp>
        <p:nvSpPr>
          <p:cNvPr id="29" name="Rectangle 28"/>
          <p:cNvSpPr/>
          <p:nvPr/>
        </p:nvSpPr>
        <p:spPr>
          <a:xfrm>
            <a:off x="6172200" y="777240"/>
            <a:ext cx="5669280" cy="5760720"/>
          </a:xfrm>
          <a:prstGeom prst="rect">
            <a:avLst/>
          </a:prstGeom>
          <a:solidFill>
            <a:srgbClr val="0D1224"/>
          </a:solidFill>
          <a:ln w="9525">
            <a:solidFill>
              <a:srgbClr val="203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777240"/>
            <a:ext cx="54864" cy="57607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850392"/>
            <a:ext cx="5394960" cy="457200"/>
          </a:xfrm>
          <a:prstGeom prst="rect">
            <a:avLst/>
          </a:prstGeom>
          <a:noFill/>
        </p:spPr>
        <p:txBody>
          <a:bodyPr wrap="square">
            <a:spAutoFit/>
          </a:bodyPr>
          <a:lstStyle/>
          <a:p>
            <a:pPr algn="l"/>
            <a:r>
              <a:rPr sz="1400" b="1" i="0">
                <a:solidFill>
                  <a:srgbClr val="60A5FA"/>
                </a:solidFill>
                <a:latin typeface="Calibri"/>
              </a:rPr>
              <a:t>âš™ï¸  Cara Kerja</a:t>
            </a:r>
          </a:p>
        </p:txBody>
      </p:sp>
      <p:sp>
        <p:nvSpPr>
          <p:cNvPr id="32" name="Rectangle 31"/>
          <p:cNvSpPr/>
          <p:nvPr/>
        </p:nvSpPr>
        <p:spPr>
          <a:xfrm>
            <a:off x="6355080" y="1325880"/>
            <a:ext cx="411480" cy="4114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1362456"/>
            <a:ext cx="411480" cy="384048"/>
          </a:xfrm>
          <a:prstGeom prst="rect">
            <a:avLst/>
          </a:prstGeom>
          <a:noFill/>
        </p:spPr>
        <p:txBody>
          <a:bodyPr wrap="square">
            <a:spAutoFit/>
          </a:bodyPr>
          <a:lstStyle/>
          <a:p>
            <a:pPr algn="ctr"/>
            <a:r>
              <a:rPr sz="1400" b="1" i="0">
                <a:solidFill>
                  <a:srgbClr val="0A0E1A"/>
                </a:solidFill>
                <a:latin typeface="Calibri"/>
              </a:rPr>
              <a:t>1</a:t>
            </a:r>
          </a:p>
        </p:txBody>
      </p:sp>
      <p:sp>
        <p:nvSpPr>
          <p:cNvPr id="34" name="TextBox 33"/>
          <p:cNvSpPr txBox="1"/>
          <p:nvPr/>
        </p:nvSpPr>
        <p:spPr>
          <a:xfrm>
            <a:off x="6839712" y="1325880"/>
            <a:ext cx="4754880" cy="365760"/>
          </a:xfrm>
          <a:prstGeom prst="rect">
            <a:avLst/>
          </a:prstGeom>
          <a:noFill/>
        </p:spPr>
        <p:txBody>
          <a:bodyPr wrap="square">
            <a:spAutoFit/>
          </a:bodyPr>
          <a:lstStyle/>
          <a:p>
            <a:pPr algn="l"/>
            <a:r>
              <a:rPr sz="1200" b="1" i="0">
                <a:solidFill>
                  <a:srgbClr val="F1F5F9"/>
                </a:solidFill>
                <a:latin typeface="Calibri"/>
              </a:rPr>
              <a:t>Persiapan Data</a:t>
            </a:r>
          </a:p>
        </p:txBody>
      </p:sp>
      <p:sp>
        <p:nvSpPr>
          <p:cNvPr id="35" name="TextBox 34"/>
          <p:cNvSpPr txBox="1"/>
          <p:nvPr/>
        </p:nvSpPr>
        <p:spPr>
          <a:xfrm>
            <a:off x="6839712" y="1673352"/>
            <a:ext cx="4754880" cy="548640"/>
          </a:xfrm>
          <a:prstGeom prst="rect">
            <a:avLst/>
          </a:prstGeom>
          <a:noFill/>
        </p:spPr>
        <p:txBody>
          <a:bodyPr wrap="square">
            <a:spAutoFit/>
          </a:bodyPr>
          <a:lstStyle/>
          <a:p>
            <a:pPr algn="l"/>
            <a:r>
              <a:rPr sz="1100" b="0" i="0">
                <a:solidFill>
                  <a:srgbClr val="94A3B8"/>
                </a:solidFill>
                <a:latin typeface="Calibri"/>
              </a:rPr>
              <a:t>Kolom berisi teks (Gender, Jenis Penyakit, dll) diubah menjadi angka agar bisa diproses komputer</a:t>
            </a:r>
          </a:p>
        </p:txBody>
      </p:sp>
      <p:sp>
        <p:nvSpPr>
          <p:cNvPr id="36" name="Rectangle 35"/>
          <p:cNvSpPr/>
          <p:nvPr/>
        </p:nvSpPr>
        <p:spPr>
          <a:xfrm>
            <a:off x="6355080" y="2286000"/>
            <a:ext cx="411480" cy="4114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322576"/>
            <a:ext cx="411480" cy="384048"/>
          </a:xfrm>
          <a:prstGeom prst="rect">
            <a:avLst/>
          </a:prstGeom>
          <a:noFill/>
        </p:spPr>
        <p:txBody>
          <a:bodyPr wrap="square">
            <a:spAutoFit/>
          </a:bodyPr>
          <a:lstStyle/>
          <a:p>
            <a:pPr algn="ctr"/>
            <a:r>
              <a:rPr sz="1400" b="1" i="0">
                <a:solidFill>
                  <a:srgbClr val="0A0E1A"/>
                </a:solidFill>
                <a:latin typeface="Calibri"/>
              </a:rPr>
              <a:t>2</a:t>
            </a:r>
          </a:p>
        </p:txBody>
      </p:sp>
      <p:sp>
        <p:nvSpPr>
          <p:cNvPr id="38" name="TextBox 37"/>
          <p:cNvSpPr txBox="1"/>
          <p:nvPr/>
        </p:nvSpPr>
        <p:spPr>
          <a:xfrm>
            <a:off x="6839712" y="2286000"/>
            <a:ext cx="4754880" cy="365760"/>
          </a:xfrm>
          <a:prstGeom prst="rect">
            <a:avLst/>
          </a:prstGeom>
          <a:noFill/>
        </p:spPr>
        <p:txBody>
          <a:bodyPr wrap="square">
            <a:spAutoFit/>
          </a:bodyPr>
          <a:lstStyle/>
          <a:p>
            <a:pPr algn="l"/>
            <a:r>
              <a:rPr sz="1200" b="1" i="0">
                <a:solidFill>
                  <a:srgbClr val="F1F5F9"/>
                </a:solidFill>
                <a:latin typeface="Calibri"/>
              </a:rPr>
              <a:t>Bagi Data</a:t>
            </a:r>
          </a:p>
        </p:txBody>
      </p:sp>
      <p:sp>
        <p:nvSpPr>
          <p:cNvPr id="39" name="TextBox 38"/>
          <p:cNvSpPr txBox="1"/>
          <p:nvPr/>
        </p:nvSpPr>
        <p:spPr>
          <a:xfrm>
            <a:off x="6839712" y="2633472"/>
            <a:ext cx="4754880" cy="548640"/>
          </a:xfrm>
          <a:prstGeom prst="rect">
            <a:avLst/>
          </a:prstGeom>
          <a:noFill/>
        </p:spPr>
        <p:txBody>
          <a:bodyPr wrap="square">
            <a:spAutoFit/>
          </a:bodyPr>
          <a:lstStyle/>
          <a:p>
            <a:pPr algn="l"/>
            <a:r>
              <a:rPr sz="1100" b="0" i="0">
                <a:solidFill>
                  <a:srgbClr val="94A3B8"/>
                </a:solidFill>
                <a:latin typeface="Calibri"/>
              </a:rPr>
              <a:t>80% data dipakai untuk belajar (training), 20% untuk diuji (testing)</a:t>
            </a:r>
          </a:p>
        </p:txBody>
      </p:sp>
      <p:sp>
        <p:nvSpPr>
          <p:cNvPr id="40" name="Rectangle 39"/>
          <p:cNvSpPr/>
          <p:nvPr/>
        </p:nvSpPr>
        <p:spPr>
          <a:xfrm>
            <a:off x="6355080" y="3246120"/>
            <a:ext cx="411480" cy="4114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282696"/>
            <a:ext cx="411480" cy="384048"/>
          </a:xfrm>
          <a:prstGeom prst="rect">
            <a:avLst/>
          </a:prstGeom>
          <a:noFill/>
        </p:spPr>
        <p:txBody>
          <a:bodyPr wrap="square">
            <a:spAutoFit/>
          </a:bodyPr>
          <a:lstStyle/>
          <a:p>
            <a:pPr algn="ctr"/>
            <a:r>
              <a:rPr sz="1400" b="1" i="0">
                <a:solidFill>
                  <a:srgbClr val="0A0E1A"/>
                </a:solidFill>
                <a:latin typeface="Calibri"/>
              </a:rPr>
              <a:t>3</a:t>
            </a:r>
          </a:p>
        </p:txBody>
      </p:sp>
      <p:sp>
        <p:nvSpPr>
          <p:cNvPr id="42" name="TextBox 41"/>
          <p:cNvSpPr txBox="1"/>
          <p:nvPr/>
        </p:nvSpPr>
        <p:spPr>
          <a:xfrm>
            <a:off x="6839712" y="3246120"/>
            <a:ext cx="4754880" cy="365760"/>
          </a:xfrm>
          <a:prstGeom prst="rect">
            <a:avLst/>
          </a:prstGeom>
          <a:noFill/>
        </p:spPr>
        <p:txBody>
          <a:bodyPr wrap="square">
            <a:spAutoFit/>
          </a:bodyPr>
          <a:lstStyle/>
          <a:p>
            <a:pPr algn="l"/>
            <a:r>
              <a:rPr sz="1200" b="1" i="0">
                <a:solidFill>
                  <a:srgbClr val="F1F5F9"/>
                </a:solidFill>
                <a:latin typeface="Calibri"/>
              </a:rPr>
              <a:t>Proses Belajar</a:t>
            </a:r>
          </a:p>
        </p:txBody>
      </p:sp>
      <p:sp>
        <p:nvSpPr>
          <p:cNvPr id="43" name="TextBox 42"/>
          <p:cNvSpPr txBox="1"/>
          <p:nvPr/>
        </p:nvSpPr>
        <p:spPr>
          <a:xfrm>
            <a:off x="6839712" y="3593592"/>
            <a:ext cx="4754880" cy="548640"/>
          </a:xfrm>
          <a:prstGeom prst="rect">
            <a:avLst/>
          </a:prstGeom>
          <a:noFill/>
        </p:spPr>
        <p:txBody>
          <a:bodyPr wrap="square">
            <a:spAutoFit/>
          </a:bodyPr>
          <a:lstStyle/>
          <a:p>
            <a:pPr algn="l"/>
            <a:r>
              <a:rPr sz="1100" b="0" i="0">
                <a:solidFill>
                  <a:srgbClr val="94A3B8"/>
                </a:solidFill>
                <a:latin typeface="Calibri"/>
              </a:rPr>
              <a:t>Model mencari pola: seberapa besar pengaruh tiap faktor terhadap besarnya tagihan</a:t>
            </a:r>
          </a:p>
        </p:txBody>
      </p:sp>
      <p:sp>
        <p:nvSpPr>
          <p:cNvPr id="44" name="Rectangle 43"/>
          <p:cNvSpPr/>
          <p:nvPr/>
        </p:nvSpPr>
        <p:spPr>
          <a:xfrm>
            <a:off x="6355080" y="4206240"/>
            <a:ext cx="411480" cy="4114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4242816"/>
            <a:ext cx="411480" cy="384048"/>
          </a:xfrm>
          <a:prstGeom prst="rect">
            <a:avLst/>
          </a:prstGeom>
          <a:noFill/>
        </p:spPr>
        <p:txBody>
          <a:bodyPr wrap="square">
            <a:spAutoFit/>
          </a:bodyPr>
          <a:lstStyle/>
          <a:p>
            <a:pPr algn="ctr"/>
            <a:r>
              <a:rPr sz="1400" b="1" i="0">
                <a:solidFill>
                  <a:srgbClr val="0A0E1A"/>
                </a:solidFill>
                <a:latin typeface="Calibri"/>
              </a:rPr>
              <a:t>4</a:t>
            </a:r>
          </a:p>
        </p:txBody>
      </p:sp>
      <p:sp>
        <p:nvSpPr>
          <p:cNvPr id="46" name="TextBox 45"/>
          <p:cNvSpPr txBox="1"/>
          <p:nvPr/>
        </p:nvSpPr>
        <p:spPr>
          <a:xfrm>
            <a:off x="6839712" y="4206240"/>
            <a:ext cx="4754880" cy="365760"/>
          </a:xfrm>
          <a:prstGeom prst="rect">
            <a:avLst/>
          </a:prstGeom>
          <a:noFill/>
        </p:spPr>
        <p:txBody>
          <a:bodyPr wrap="square">
            <a:spAutoFit/>
          </a:bodyPr>
          <a:lstStyle/>
          <a:p>
            <a:pPr algn="l"/>
            <a:r>
              <a:rPr sz="1200" b="1" i="0">
                <a:solidFill>
                  <a:srgbClr val="F1F5F9"/>
                </a:solidFill>
                <a:latin typeface="Calibri"/>
              </a:rPr>
              <a:t>Prediksi</a:t>
            </a:r>
          </a:p>
        </p:txBody>
      </p:sp>
      <p:sp>
        <p:nvSpPr>
          <p:cNvPr id="47" name="TextBox 46"/>
          <p:cNvSpPr txBox="1"/>
          <p:nvPr/>
        </p:nvSpPr>
        <p:spPr>
          <a:xfrm>
            <a:off x="6839712" y="4553712"/>
            <a:ext cx="4754880" cy="548640"/>
          </a:xfrm>
          <a:prstGeom prst="rect">
            <a:avLst/>
          </a:prstGeom>
          <a:noFill/>
        </p:spPr>
        <p:txBody>
          <a:bodyPr wrap="square">
            <a:spAutoFit/>
          </a:bodyPr>
          <a:lstStyle/>
          <a:p>
            <a:pPr algn="l"/>
            <a:r>
              <a:rPr sz="1100" b="0" i="0">
                <a:solidFill>
                  <a:srgbClr val="94A3B8"/>
                </a:solidFill>
                <a:latin typeface="Calibri"/>
              </a:rPr>
              <a:t>Model diuji pada 20% data yang belum pernah dilihat sebelumnya</a:t>
            </a:r>
          </a:p>
        </p:txBody>
      </p:sp>
      <p:sp>
        <p:nvSpPr>
          <p:cNvPr id="48" name="Rectangle 47"/>
          <p:cNvSpPr/>
          <p:nvPr/>
        </p:nvSpPr>
        <p:spPr>
          <a:xfrm>
            <a:off x="6355080" y="5166360"/>
            <a:ext cx="411480" cy="4114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5202936"/>
            <a:ext cx="411480" cy="384048"/>
          </a:xfrm>
          <a:prstGeom prst="rect">
            <a:avLst/>
          </a:prstGeom>
          <a:noFill/>
        </p:spPr>
        <p:txBody>
          <a:bodyPr wrap="square">
            <a:spAutoFit/>
          </a:bodyPr>
          <a:lstStyle/>
          <a:p>
            <a:pPr algn="ctr"/>
            <a:r>
              <a:rPr sz="1400" b="1" i="0">
                <a:solidFill>
                  <a:srgbClr val="0A0E1A"/>
                </a:solidFill>
                <a:latin typeface="Calibri"/>
              </a:rPr>
              <a:t>5</a:t>
            </a:r>
          </a:p>
        </p:txBody>
      </p:sp>
      <p:sp>
        <p:nvSpPr>
          <p:cNvPr id="50" name="TextBox 49"/>
          <p:cNvSpPr txBox="1"/>
          <p:nvPr/>
        </p:nvSpPr>
        <p:spPr>
          <a:xfrm>
            <a:off x="6839712" y="5166360"/>
            <a:ext cx="4754880" cy="365760"/>
          </a:xfrm>
          <a:prstGeom prst="rect">
            <a:avLst/>
          </a:prstGeom>
          <a:noFill/>
        </p:spPr>
        <p:txBody>
          <a:bodyPr wrap="square">
            <a:spAutoFit/>
          </a:bodyPr>
          <a:lstStyle/>
          <a:p>
            <a:pPr algn="l"/>
            <a:r>
              <a:rPr sz="1200" b="1" i="0">
                <a:solidFill>
                  <a:srgbClr val="F1F5F9"/>
                </a:solidFill>
                <a:latin typeface="Calibri"/>
              </a:rPr>
              <a:t>Ukur Akurasi</a:t>
            </a:r>
          </a:p>
        </p:txBody>
      </p:sp>
      <p:sp>
        <p:nvSpPr>
          <p:cNvPr id="51" name="TextBox 50"/>
          <p:cNvSpPr txBox="1"/>
          <p:nvPr/>
        </p:nvSpPr>
        <p:spPr>
          <a:xfrm>
            <a:off x="6839712" y="5513832"/>
            <a:ext cx="4754880" cy="548640"/>
          </a:xfrm>
          <a:prstGeom prst="rect">
            <a:avLst/>
          </a:prstGeom>
          <a:noFill/>
        </p:spPr>
        <p:txBody>
          <a:bodyPr wrap="square">
            <a:spAutoFit/>
          </a:bodyPr>
          <a:lstStyle/>
          <a:p>
            <a:pPr algn="l"/>
            <a:r>
              <a:rPr sz="1100" b="0" i="0">
                <a:solidFill>
                  <a:srgbClr val="94A3B8"/>
                </a:solidFill>
                <a:latin typeface="Calibri"/>
              </a:rPr>
              <a:t>Dihitung seberapa jauh selisih prediksi vs tagihan asli (MAE, RMSE, RÂ²)</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9 / 22</a:t>
            </a:r>
          </a:p>
        </p:txBody>
      </p:sp>
      <p:sp>
        <p:nvSpPr>
          <p:cNvPr id="4" name="TextBox 3"/>
          <p:cNvSpPr txBox="1"/>
          <p:nvPr/>
        </p:nvSpPr>
        <p:spPr>
          <a:xfrm>
            <a:off x="457200" y="137160"/>
            <a:ext cx="10972800" cy="502920"/>
          </a:xfrm>
          <a:prstGeom prst="rect">
            <a:avLst/>
          </a:prstGeom>
          <a:noFill/>
        </p:spPr>
        <p:txBody>
          <a:bodyPr wrap="square">
            <a:spAutoFit/>
          </a:bodyPr>
          <a:lstStyle/>
          <a:p>
            <a:pPr algn="l"/>
            <a:r>
              <a:rPr sz="2200" b="1" i="0">
                <a:solidFill>
                  <a:srgbClr val="F1F5F9"/>
                </a:solidFill>
                <a:latin typeface="Calibri"/>
              </a:rPr>
              <a:t>04  Rancangan 1: Regresi</a:t>
            </a:r>
          </a:p>
        </p:txBody>
      </p:sp>
      <p:sp>
        <p:nvSpPr>
          <p:cNvPr id="5" name="TextBox 4"/>
          <p:cNvSpPr txBox="1"/>
          <p:nvPr/>
        </p:nvSpPr>
        <p:spPr>
          <a:xfrm>
            <a:off x="457200" y="658368"/>
            <a:ext cx="11430000" cy="475488"/>
          </a:xfrm>
          <a:prstGeom prst="rect">
            <a:avLst/>
          </a:prstGeom>
          <a:noFill/>
        </p:spPr>
        <p:txBody>
          <a:bodyPr wrap="square">
            <a:spAutoFit/>
          </a:bodyPr>
          <a:lstStyle/>
          <a:p>
            <a:pPr algn="l"/>
            <a:r>
              <a:rPr sz="1500" b="1" i="0">
                <a:solidFill>
                  <a:srgbClr val="60A5FA"/>
                </a:solidFill>
                <a:latin typeface="Calibri"/>
              </a:rPr>
              <a:t>ðŸŽ¯  Fungsi dalam Mendukung Pengambilan Keputusan Rumah Sakit</a:t>
            </a:r>
          </a:p>
        </p:txBody>
      </p:sp>
      <p:sp>
        <p:nvSpPr>
          <p:cNvPr id="6" name="Rectangle 5"/>
          <p:cNvSpPr/>
          <p:nvPr/>
        </p:nvSpPr>
        <p:spPr>
          <a:xfrm>
            <a:off x="365760" y="1234440"/>
            <a:ext cx="5577840" cy="1691640"/>
          </a:xfrm>
          <a:prstGeom prst="rect">
            <a:avLst/>
          </a:prstGeom>
          <a:solidFill>
            <a:srgbClr val="0D1224"/>
          </a:solidFill>
          <a:ln w="9525">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64008" cy="169164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44168"/>
            <a:ext cx="5212080" cy="411480"/>
          </a:xfrm>
          <a:prstGeom prst="rect">
            <a:avLst/>
          </a:prstGeom>
          <a:noFill/>
        </p:spPr>
        <p:txBody>
          <a:bodyPr wrap="square">
            <a:spAutoFit/>
          </a:bodyPr>
          <a:lstStyle/>
          <a:p>
            <a:pPr algn="l"/>
            <a:r>
              <a:rPr sz="1300" b="1" i="0">
                <a:solidFill>
                  <a:srgbClr val="60A5FA"/>
                </a:solidFill>
                <a:latin typeface="Calibri"/>
              </a:rPr>
              <a:t>ðŸ’°  Kelola Keuangan Lebih Baik</a:t>
            </a:r>
          </a:p>
        </p:txBody>
      </p:sp>
      <p:sp>
        <p:nvSpPr>
          <p:cNvPr id="9" name="TextBox 8"/>
          <p:cNvSpPr txBox="1"/>
          <p:nvPr/>
        </p:nvSpPr>
        <p:spPr>
          <a:xfrm>
            <a:off x="548640" y="1755647"/>
            <a:ext cx="5212080" cy="1051560"/>
          </a:xfrm>
          <a:prstGeom prst="rect">
            <a:avLst/>
          </a:prstGeom>
          <a:noFill/>
        </p:spPr>
        <p:txBody>
          <a:bodyPr wrap="square">
            <a:spAutoFit/>
          </a:bodyPr>
          <a:lstStyle/>
          <a:p>
            <a:pPr algn="l"/>
            <a:r>
              <a:rPr sz="1200" b="0" i="0">
                <a:solidFill>
                  <a:srgbClr val="94A3B8"/>
                </a:solidFill>
                <a:latin typeface="Calibri"/>
              </a:rPr>
              <a:t>Pihak manajemen rumah sakit dapat memperkirakan berapa total pendapatan yang akan masuk dalam sebulan ke depan, sehingga pengelolaan anggaran menjadi lebih terencana dan akurat.</a:t>
            </a:r>
          </a:p>
        </p:txBody>
      </p:sp>
      <p:sp>
        <p:nvSpPr>
          <p:cNvPr id="10" name="Rectangle 9"/>
          <p:cNvSpPr/>
          <p:nvPr/>
        </p:nvSpPr>
        <p:spPr>
          <a:xfrm>
            <a:off x="6217920" y="1234440"/>
            <a:ext cx="5577840" cy="1691640"/>
          </a:xfrm>
          <a:prstGeom prst="rect">
            <a:avLst/>
          </a:prstGeom>
          <a:solidFill>
            <a:srgbClr val="0D1224"/>
          </a:solidFill>
          <a:ln w="9525">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234440"/>
            <a:ext cx="64008" cy="169164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44168"/>
            <a:ext cx="5212080" cy="411480"/>
          </a:xfrm>
          <a:prstGeom prst="rect">
            <a:avLst/>
          </a:prstGeom>
          <a:noFill/>
        </p:spPr>
        <p:txBody>
          <a:bodyPr wrap="square">
            <a:spAutoFit/>
          </a:bodyPr>
          <a:lstStyle/>
          <a:p>
            <a:pPr algn="l"/>
            <a:r>
              <a:rPr sz="1300" b="1" i="0">
                <a:solidFill>
                  <a:srgbClr val="60A5FA"/>
                </a:solidFill>
                <a:latin typeface="Calibri"/>
              </a:rPr>
              <a:t>ðŸ·ï¸  Tentukan Tarif yang Adil</a:t>
            </a:r>
          </a:p>
        </p:txBody>
      </p:sp>
      <p:sp>
        <p:nvSpPr>
          <p:cNvPr id="13" name="TextBox 12"/>
          <p:cNvSpPr txBox="1"/>
          <p:nvPr/>
        </p:nvSpPr>
        <p:spPr>
          <a:xfrm>
            <a:off x="6400800" y="1755647"/>
            <a:ext cx="5212080" cy="1051560"/>
          </a:xfrm>
          <a:prstGeom prst="rect">
            <a:avLst/>
          </a:prstGeom>
          <a:noFill/>
        </p:spPr>
        <p:txBody>
          <a:bodyPr wrap="square">
            <a:spAutoFit/>
          </a:bodyPr>
          <a:lstStyle/>
          <a:p>
            <a:pPr algn="l"/>
            <a:r>
              <a:rPr sz="1200" b="0" i="0">
                <a:solidFill>
                  <a:srgbClr val="94A3B8"/>
                </a:solidFill>
                <a:latin typeface="Calibri"/>
              </a:rPr>
              <a:t>Manajemen bisa menentukan tarif layanan yang wajar berdasarkan data nyata dari ribuan pasien sebelumnya, bukan hanya berdasarkan perkiraan atau intuisi belaka.</a:t>
            </a:r>
          </a:p>
        </p:txBody>
      </p:sp>
      <p:sp>
        <p:nvSpPr>
          <p:cNvPr id="14" name="Rectangle 13"/>
          <p:cNvSpPr/>
          <p:nvPr/>
        </p:nvSpPr>
        <p:spPr>
          <a:xfrm>
            <a:off x="365760" y="3063240"/>
            <a:ext cx="5577840" cy="1691640"/>
          </a:xfrm>
          <a:prstGeom prst="rect">
            <a:avLst/>
          </a:prstGeom>
          <a:solidFill>
            <a:srgbClr val="0D1224"/>
          </a:solidFill>
          <a:ln w="9525">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063240"/>
            <a:ext cx="64008" cy="169164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172968"/>
            <a:ext cx="5212080" cy="411480"/>
          </a:xfrm>
          <a:prstGeom prst="rect">
            <a:avLst/>
          </a:prstGeom>
          <a:noFill/>
        </p:spPr>
        <p:txBody>
          <a:bodyPr wrap="square">
            <a:spAutoFit/>
          </a:bodyPr>
          <a:lstStyle/>
          <a:p>
            <a:pPr algn="l"/>
            <a:r>
              <a:rPr sz="1300" b="1" i="0">
                <a:solidFill>
                  <a:srgbClr val="60A5FA"/>
                </a:solidFill>
                <a:latin typeface="Calibri"/>
              </a:rPr>
              <a:t>ðŸ“‹  Bantu Pasien Rencanakan Biaya</a:t>
            </a:r>
          </a:p>
        </p:txBody>
      </p:sp>
      <p:sp>
        <p:nvSpPr>
          <p:cNvPr id="17" name="TextBox 16"/>
          <p:cNvSpPr txBox="1"/>
          <p:nvPr/>
        </p:nvSpPr>
        <p:spPr>
          <a:xfrm>
            <a:off x="548640" y="3584447"/>
            <a:ext cx="5212080" cy="1051560"/>
          </a:xfrm>
          <a:prstGeom prst="rect">
            <a:avLst/>
          </a:prstGeom>
          <a:noFill/>
        </p:spPr>
        <p:txBody>
          <a:bodyPr wrap="square">
            <a:spAutoFit/>
          </a:bodyPr>
          <a:lstStyle/>
          <a:p>
            <a:pPr algn="l"/>
            <a:r>
              <a:rPr sz="1200" b="0" i="0">
                <a:solidFill>
                  <a:srgbClr val="94A3B8"/>
                </a:solidFill>
                <a:latin typeface="Calibri"/>
              </a:rPr>
              <a:t>Sebelum pasien masuk rawat inap, pihak RS bisa memberikan estimasi biaya sehingga pasien dan keluarga dapat mempersiapkan dana sejak awal dan tidak terkejut dengan tagihan.</a:t>
            </a:r>
          </a:p>
        </p:txBody>
      </p:sp>
      <p:sp>
        <p:nvSpPr>
          <p:cNvPr id="18" name="Rectangle 17"/>
          <p:cNvSpPr/>
          <p:nvPr/>
        </p:nvSpPr>
        <p:spPr>
          <a:xfrm>
            <a:off x="6217920" y="3063240"/>
            <a:ext cx="5577840" cy="1691640"/>
          </a:xfrm>
          <a:prstGeom prst="rect">
            <a:avLst/>
          </a:prstGeom>
          <a:solidFill>
            <a:srgbClr val="0D1224"/>
          </a:solidFill>
          <a:ln w="9525">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063240"/>
            <a:ext cx="64008" cy="169164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172968"/>
            <a:ext cx="5212080" cy="411480"/>
          </a:xfrm>
          <a:prstGeom prst="rect">
            <a:avLst/>
          </a:prstGeom>
          <a:noFill/>
        </p:spPr>
        <p:txBody>
          <a:bodyPr wrap="square">
            <a:spAutoFit/>
          </a:bodyPr>
          <a:lstStyle/>
          <a:p>
            <a:pPr algn="l"/>
            <a:r>
              <a:rPr sz="1300" b="1" i="0">
                <a:solidFill>
                  <a:srgbClr val="60A5FA"/>
                </a:solidFill>
                <a:latin typeface="Calibri"/>
              </a:rPr>
              <a:t>ðŸ¤  Percepat Proses Klaim Asuransi</a:t>
            </a:r>
          </a:p>
        </p:txBody>
      </p:sp>
      <p:sp>
        <p:nvSpPr>
          <p:cNvPr id="21" name="TextBox 20"/>
          <p:cNvSpPr txBox="1"/>
          <p:nvPr/>
        </p:nvSpPr>
        <p:spPr>
          <a:xfrm>
            <a:off x="6400800" y="3584447"/>
            <a:ext cx="5212080" cy="1051560"/>
          </a:xfrm>
          <a:prstGeom prst="rect">
            <a:avLst/>
          </a:prstGeom>
          <a:noFill/>
        </p:spPr>
        <p:txBody>
          <a:bodyPr wrap="square">
            <a:spAutoFit/>
          </a:bodyPr>
          <a:lstStyle/>
          <a:p>
            <a:pPr algn="l"/>
            <a:r>
              <a:rPr sz="1200" b="0" i="0">
                <a:solidFill>
                  <a:srgbClr val="94A3B8"/>
                </a:solidFill>
                <a:latin typeface="Calibri"/>
              </a:rPr>
              <a:t>Data prediksi tagihan dapat dijadikan referensi awal saat mengajukan klaim kepada perusahaan asuransi, sehingga proses administrasi menjadi lebih cepat dan transparan.</a:t>
            </a:r>
          </a:p>
        </p:txBody>
      </p:sp>
      <p:sp>
        <p:nvSpPr>
          <p:cNvPr id="22" name="Rectangle 21"/>
          <p:cNvSpPr/>
          <p:nvPr/>
        </p:nvSpPr>
        <p:spPr>
          <a:xfrm>
            <a:off x="365760" y="4956048"/>
            <a:ext cx="11430000" cy="1691640"/>
          </a:xfrm>
          <a:prstGeom prst="rect">
            <a:avLst/>
          </a:prstGeom>
          <a:solidFill>
            <a:srgbClr val="0D1224"/>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577840"/>
            <a:ext cx="11430000" cy="548640"/>
          </a:xfrm>
          <a:prstGeom prst="rect">
            <a:avLst/>
          </a:prstGeom>
          <a:noFill/>
        </p:spPr>
        <p:txBody>
          <a:bodyPr wrap="square">
            <a:spAutoFit/>
          </a:bodyPr>
          <a:lstStyle/>
          <a:p>
            <a:pPr algn="ctr"/>
            <a:r>
              <a:rPr sz="1300" b="0" i="1">
                <a:solidFill>
                  <a:srgbClr val="94A3B8"/>
                </a:solidFill>
                <a:latin typeface="Calibri"/>
              </a:rPr>
              <a:t>[ Screenshot Halaman Regresi â€” http://localhost:8501/1_Regresi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1008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10 / 22</a:t>
            </a:r>
          </a:p>
        </p:txBody>
      </p:sp>
      <p:sp>
        <p:nvSpPr>
          <p:cNvPr id="5" name="TextBox 4"/>
          <p:cNvSpPr txBox="1"/>
          <p:nvPr/>
        </p:nvSpPr>
        <p:spPr>
          <a:xfrm>
            <a:off x="1371600" y="1645920"/>
            <a:ext cx="9144000" cy="594360"/>
          </a:xfrm>
          <a:prstGeom prst="rect">
            <a:avLst/>
          </a:prstGeom>
          <a:noFill/>
        </p:spPr>
        <p:txBody>
          <a:bodyPr wrap="square">
            <a:spAutoFit/>
          </a:bodyPr>
          <a:lstStyle/>
          <a:p>
            <a:pPr algn="ctr"/>
            <a:r>
              <a:rPr sz="1600" b="1" i="0">
                <a:solidFill>
                  <a:srgbClr val="C084FC"/>
                </a:solidFill>
                <a:latin typeface="Calibri"/>
              </a:rPr>
              <a:t>RANCANGAN 2</a:t>
            </a:r>
          </a:p>
        </p:txBody>
      </p:sp>
      <p:sp>
        <p:nvSpPr>
          <p:cNvPr id="6" name="TextBox 5"/>
          <p:cNvSpPr txBox="1"/>
          <p:nvPr/>
        </p:nvSpPr>
        <p:spPr>
          <a:xfrm>
            <a:off x="914400" y="2103120"/>
            <a:ext cx="10058400" cy="1371600"/>
          </a:xfrm>
          <a:prstGeom prst="rect">
            <a:avLst/>
          </a:prstGeom>
          <a:noFill/>
        </p:spPr>
        <p:txBody>
          <a:bodyPr wrap="square">
            <a:spAutoFit/>
          </a:bodyPr>
          <a:lstStyle/>
          <a:p>
            <a:pPr algn="ctr"/>
            <a:r>
              <a:rPr sz="5400" b="1" i="0">
                <a:solidFill>
                  <a:srgbClr val="F1F5F9"/>
                </a:solidFill>
                <a:latin typeface="Calibri"/>
              </a:rPr>
              <a:t>ðŸ”¬  Klasifikasi</a:t>
            </a:r>
          </a:p>
        </p:txBody>
      </p:sp>
      <p:sp>
        <p:nvSpPr>
          <p:cNvPr id="7" name="TextBox 6"/>
          <p:cNvSpPr txBox="1"/>
          <p:nvPr/>
        </p:nvSpPr>
        <p:spPr>
          <a:xfrm>
            <a:off x="914400" y="3429000"/>
            <a:ext cx="10058400" cy="594360"/>
          </a:xfrm>
          <a:prstGeom prst="rect">
            <a:avLst/>
          </a:prstGeom>
          <a:noFill/>
        </p:spPr>
        <p:txBody>
          <a:bodyPr wrap="square">
            <a:spAutoFit/>
          </a:bodyPr>
          <a:lstStyle/>
          <a:p>
            <a:pPr algn="ctr"/>
            <a:r>
              <a:rPr sz="2200" b="0" i="0">
                <a:solidFill>
                  <a:srgbClr val="C084FC"/>
                </a:solidFill>
                <a:latin typeface="Calibri"/>
              </a:rPr>
              <a:t>Prediksi Hasil Tes Pasien</a:t>
            </a:r>
          </a:p>
        </p:txBody>
      </p:sp>
      <p:sp>
        <p:nvSpPr>
          <p:cNvPr id="8" name="Rectangle 7"/>
          <p:cNvSpPr/>
          <p:nvPr/>
        </p:nvSpPr>
        <p:spPr>
          <a:xfrm>
            <a:off x="3657600" y="4114800"/>
            <a:ext cx="4846320" cy="54864"/>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97680"/>
            <a:ext cx="10058400" cy="457200"/>
          </a:xfrm>
          <a:prstGeom prst="rect">
            <a:avLst/>
          </a:prstGeom>
          <a:noFill/>
        </p:spPr>
        <p:txBody>
          <a:bodyPr wrap="square">
            <a:spAutoFit/>
          </a:bodyPr>
          <a:lstStyle/>
          <a:p>
            <a:pPr algn="ctr"/>
            <a:r>
              <a:rPr sz="1600" b="0" i="0">
                <a:solidFill>
                  <a:srgbClr val="94A3B8"/>
                </a:solidFill>
                <a:latin typeface="Calibri"/>
              </a:rPr>
              <a:t>Algoritma: Decision Tree (Pohon Keputusan)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11 / 22</a:t>
            </a:r>
          </a:p>
        </p:txBody>
      </p:sp>
      <p:sp>
        <p:nvSpPr>
          <p:cNvPr id="4" name="TextBox 3"/>
          <p:cNvSpPr txBox="1"/>
          <p:nvPr/>
        </p:nvSpPr>
        <p:spPr>
          <a:xfrm>
            <a:off x="457200" y="137160"/>
            <a:ext cx="10972800" cy="502920"/>
          </a:xfrm>
          <a:prstGeom prst="rect">
            <a:avLst/>
          </a:prstGeom>
          <a:noFill/>
        </p:spPr>
        <p:txBody>
          <a:bodyPr wrap="square">
            <a:spAutoFit/>
          </a:bodyPr>
          <a:lstStyle/>
          <a:p>
            <a:pPr algn="l"/>
            <a:r>
              <a:rPr sz="2200" b="1" i="0">
                <a:solidFill>
                  <a:srgbClr val="F1F5F9"/>
                </a:solidFill>
                <a:latin typeface="Calibri"/>
              </a:rPr>
              <a:t>05  Rancangan 2: Klasifikasi</a:t>
            </a:r>
          </a:p>
        </p:txBody>
      </p:sp>
      <p:sp>
        <p:nvSpPr>
          <p:cNvPr id="5" name="TextBox 4"/>
          <p:cNvSpPr txBox="1"/>
          <p:nvPr/>
        </p:nvSpPr>
        <p:spPr>
          <a:xfrm>
            <a:off x="457200" y="658368"/>
            <a:ext cx="11430000" cy="475488"/>
          </a:xfrm>
          <a:prstGeom prst="rect">
            <a:avLst/>
          </a:prstGeom>
          <a:noFill/>
        </p:spPr>
        <p:txBody>
          <a:bodyPr wrap="square">
            <a:spAutoFit/>
          </a:bodyPr>
          <a:lstStyle/>
          <a:p>
            <a:pPr algn="l"/>
            <a:r>
              <a:rPr sz="1600" b="1" i="0">
                <a:solidFill>
                  <a:srgbClr val="C084FC"/>
                </a:solidFill>
                <a:latin typeface="Calibri"/>
              </a:rPr>
              <a:t>ðŸŒ³  Algoritma yang Diterapkan â€” Decision Tree (Pohon Keputusan)</a:t>
            </a:r>
          </a:p>
        </p:txBody>
      </p:sp>
      <p:sp>
        <p:nvSpPr>
          <p:cNvPr id="6" name="Rectangle 5"/>
          <p:cNvSpPr/>
          <p:nvPr/>
        </p:nvSpPr>
        <p:spPr>
          <a:xfrm>
            <a:off x="457200" y="1115568"/>
            <a:ext cx="4114800" cy="4572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11430000" cy="2103120"/>
          </a:xfrm>
          <a:prstGeom prst="rect">
            <a:avLst/>
          </a:prstGeom>
          <a:solidFill>
            <a:srgbClr val="0D1224"/>
          </a:solidFill>
          <a:ln w="9525">
            <a:solidFill>
              <a:srgbClr val="402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54864" cy="210312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98448"/>
            <a:ext cx="10972800" cy="365760"/>
          </a:xfrm>
          <a:prstGeom prst="rect">
            <a:avLst/>
          </a:prstGeom>
          <a:noFill/>
        </p:spPr>
        <p:txBody>
          <a:bodyPr wrap="square">
            <a:spAutoFit/>
          </a:bodyPr>
          <a:lstStyle/>
          <a:p>
            <a:pPr algn="l"/>
            <a:r>
              <a:rPr sz="1300" b="1" i="0">
                <a:solidFill>
                  <a:srgbClr val="C084FC"/>
                </a:solidFill>
                <a:latin typeface="Calibri"/>
              </a:rPr>
              <a:t>Apa itu Decision Tree (Pohon Keputusan)?</a:t>
            </a:r>
          </a:p>
        </p:txBody>
      </p:sp>
      <p:sp>
        <p:nvSpPr>
          <p:cNvPr id="10" name="TextBox 9"/>
          <p:cNvSpPr txBox="1"/>
          <p:nvPr/>
        </p:nvSpPr>
        <p:spPr>
          <a:xfrm>
            <a:off x="594360" y="1664208"/>
            <a:ext cx="10972800" cy="1600200"/>
          </a:xfrm>
          <a:prstGeom prst="rect">
            <a:avLst/>
          </a:prstGeom>
          <a:noFill/>
        </p:spPr>
        <p:txBody>
          <a:bodyPr wrap="square">
            <a:spAutoFit/>
          </a:bodyPr>
          <a:lstStyle/>
          <a:p>
            <a:pPr>
              <a:spcBef>
                <a:spcPts val="300"/>
              </a:spcBef>
            </a:pPr>
            <a:r>
              <a:rPr sz="1250" b="0">
                <a:solidFill>
                  <a:srgbClr val="94A3B8"/>
                </a:solidFill>
                <a:latin typeface="Calibri"/>
              </a:rPr>
              <a:t>Decision Tree adalah metode yang cara kerjanya mirip seperti alur tanya-jawab bercabang â€” persis seperti ketika dokter mendiagnosis penyakit dengan mengajukan pertanyaan satu per satu.</a:t>
            </a:r>
          </a:p>
          <a:p>
            <a:pPr>
              <a:spcBef>
                <a:spcPts val="300"/>
              </a:spcBef>
            </a:pPr>
            <a:r>
              <a:rPr sz="1250" b="0">
                <a:solidFill>
                  <a:srgbClr val="94A3B8"/>
                </a:solidFill>
                <a:latin typeface="Calibri"/>
              </a:rPr>
              <a:t/>
            </a:r>
          </a:p>
          <a:p>
            <a:pPr>
              <a:spcBef>
                <a:spcPts val="300"/>
              </a:spcBef>
            </a:pPr>
            <a:r>
              <a:rPr sz="1250" b="0">
                <a:solidFill>
                  <a:srgbClr val="94A3B8"/>
                </a:solidFill>
                <a:latin typeface="Calibri"/>
              </a:rPr>
              <a:t>Contoh: "Apakah pasien berumur di atas 60?" â†’ Ya â†’ "Apakah penyakitnya Kanker?" â†’ Ya â†’ "Hasil tes kemungkinan: Abnormal"</a:t>
            </a:r>
          </a:p>
          <a:p>
            <a:pPr>
              <a:spcBef>
                <a:spcPts val="300"/>
              </a:spcBef>
            </a:pPr>
            <a:r>
              <a:rPr sz="1250" b="0">
                <a:solidFill>
                  <a:srgbClr val="94A3B8"/>
                </a:solidFill>
                <a:latin typeface="Calibri"/>
              </a:rPr>
              <a:t/>
            </a:r>
          </a:p>
          <a:p>
            <a:pPr>
              <a:spcBef>
                <a:spcPts val="300"/>
              </a:spcBef>
            </a:pPr>
            <a:r>
              <a:rPr sz="1250" b="0">
                <a:solidFill>
                  <a:srgbClr val="94A3B8"/>
                </a:solidFill>
                <a:latin typeface="Calibri"/>
              </a:rPr>
              <a:t>Komputer membuat ribuan pertanyaan seperti itu secara otomatis dari data pasien yang sudah ada, lalu menyusunnya menjadi sebuah pohon keputusan yang bisa dipakai untuk memprediksi pasien baru.</a:t>
            </a:r>
          </a:p>
        </p:txBody>
      </p:sp>
      <p:sp>
        <p:nvSpPr>
          <p:cNvPr id="11" name="Rectangle 10"/>
          <p:cNvSpPr/>
          <p:nvPr/>
        </p:nvSpPr>
        <p:spPr>
          <a:xfrm>
            <a:off x="365760" y="3456432"/>
            <a:ext cx="11430000" cy="3154680"/>
          </a:xfrm>
          <a:prstGeom prst="rect">
            <a:avLst/>
          </a:prstGeom>
          <a:solidFill>
            <a:srgbClr val="0D1224"/>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520440"/>
            <a:ext cx="10972800" cy="347472"/>
          </a:xfrm>
          <a:prstGeom prst="rect">
            <a:avLst/>
          </a:prstGeom>
          <a:noFill/>
        </p:spPr>
        <p:txBody>
          <a:bodyPr wrap="square">
            <a:spAutoFit/>
          </a:bodyPr>
          <a:lstStyle/>
          <a:p>
            <a:pPr algn="l"/>
            <a:r>
              <a:rPr sz="1200" b="1" i="0">
                <a:solidFill>
                  <a:srgbClr val="C084FC"/>
                </a:solidFill>
                <a:latin typeface="Calibri"/>
              </a:rPr>
              <a:t>Ilustrasi Alur Pohon Keputusan:</a:t>
            </a:r>
          </a:p>
        </p:txBody>
      </p:sp>
      <p:sp>
        <p:nvSpPr>
          <p:cNvPr id="13" name="Rectangle 12"/>
          <p:cNvSpPr/>
          <p:nvPr/>
        </p:nvSpPr>
        <p:spPr>
          <a:xfrm>
            <a:off x="5029200" y="3931920"/>
            <a:ext cx="2011680" cy="457200"/>
          </a:xfrm>
          <a:prstGeom prst="rect">
            <a:avLst/>
          </a:prstGeom>
          <a:solidFill>
            <a:srgbClr val="10172E"/>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4005072"/>
            <a:ext cx="2011680" cy="347472"/>
          </a:xfrm>
          <a:prstGeom prst="rect">
            <a:avLst/>
          </a:prstGeom>
          <a:noFill/>
        </p:spPr>
        <p:txBody>
          <a:bodyPr wrap="square">
            <a:spAutoFit/>
          </a:bodyPr>
          <a:lstStyle/>
          <a:p>
            <a:pPr algn="ctr"/>
            <a:r>
              <a:rPr sz="1100" b="1" i="0">
                <a:solidFill>
                  <a:srgbClr val="C084FC"/>
                </a:solidFill>
                <a:latin typeface="Calibri"/>
              </a:rPr>
              <a:t>Umur &gt; 60?</a:t>
            </a:r>
          </a:p>
        </p:txBody>
      </p:sp>
      <p:sp>
        <p:nvSpPr>
          <p:cNvPr id="15" name="Rectangle 14"/>
          <p:cNvSpPr/>
          <p:nvPr/>
        </p:nvSpPr>
        <p:spPr>
          <a:xfrm>
            <a:off x="1828800" y="4709160"/>
            <a:ext cx="2011680" cy="457200"/>
          </a:xfrm>
          <a:prstGeom prst="rect">
            <a:avLst/>
          </a:prstGeom>
          <a:solidFill>
            <a:srgbClr val="10172E"/>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0" y="4782312"/>
            <a:ext cx="2011680" cy="347472"/>
          </a:xfrm>
          <a:prstGeom prst="rect">
            <a:avLst/>
          </a:prstGeom>
          <a:noFill/>
        </p:spPr>
        <p:txBody>
          <a:bodyPr wrap="square">
            <a:spAutoFit/>
          </a:bodyPr>
          <a:lstStyle/>
          <a:p>
            <a:pPr algn="ctr"/>
            <a:r>
              <a:rPr sz="1100" b="1" i="0">
                <a:solidFill>
                  <a:srgbClr val="60A5FA"/>
                </a:solidFill>
                <a:latin typeface="Calibri"/>
              </a:rPr>
              <a:t>Penyakit Kanker?</a:t>
            </a:r>
          </a:p>
        </p:txBody>
      </p:sp>
      <p:sp>
        <p:nvSpPr>
          <p:cNvPr id="17" name="Rectangle 16"/>
          <p:cNvSpPr/>
          <p:nvPr/>
        </p:nvSpPr>
        <p:spPr>
          <a:xfrm>
            <a:off x="8229600" y="4709160"/>
            <a:ext cx="2011680" cy="457200"/>
          </a:xfrm>
          <a:prstGeom prst="rect">
            <a:avLst/>
          </a:prstGeom>
          <a:solidFill>
            <a:srgbClr val="10172E"/>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4782312"/>
            <a:ext cx="2011680" cy="347472"/>
          </a:xfrm>
          <a:prstGeom prst="rect">
            <a:avLst/>
          </a:prstGeom>
          <a:noFill/>
        </p:spPr>
        <p:txBody>
          <a:bodyPr wrap="square">
            <a:spAutoFit/>
          </a:bodyPr>
          <a:lstStyle/>
          <a:p>
            <a:pPr algn="ctr"/>
            <a:r>
              <a:rPr sz="1100" b="1" i="0">
                <a:solidFill>
                  <a:srgbClr val="60A5FA"/>
                </a:solidFill>
                <a:latin typeface="Calibri"/>
              </a:rPr>
              <a:t>Penyakit Diabetes?</a:t>
            </a:r>
          </a:p>
        </p:txBody>
      </p:sp>
      <p:sp>
        <p:nvSpPr>
          <p:cNvPr id="19" name="Rectangle 18"/>
          <p:cNvSpPr/>
          <p:nvPr/>
        </p:nvSpPr>
        <p:spPr>
          <a:xfrm>
            <a:off x="640080" y="5577840"/>
            <a:ext cx="2011680" cy="457200"/>
          </a:xfrm>
          <a:prstGeom prst="rect">
            <a:avLst/>
          </a:prstGeom>
          <a:solidFill>
            <a:srgbClr val="10172E"/>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650992"/>
            <a:ext cx="2011680" cy="347472"/>
          </a:xfrm>
          <a:prstGeom prst="rect">
            <a:avLst/>
          </a:prstGeom>
          <a:noFill/>
        </p:spPr>
        <p:txBody>
          <a:bodyPr wrap="square">
            <a:spAutoFit/>
          </a:bodyPr>
          <a:lstStyle/>
          <a:p>
            <a:pPr algn="ctr"/>
            <a:r>
              <a:rPr sz="1100" b="1" i="0">
                <a:solidFill>
                  <a:srgbClr val="4ADE80"/>
                </a:solidFill>
                <a:latin typeface="Calibri"/>
              </a:rPr>
              <a:t>âœ… NORMAL</a:t>
            </a:r>
          </a:p>
        </p:txBody>
      </p:sp>
      <p:sp>
        <p:nvSpPr>
          <p:cNvPr id="21" name="Rectangle 20"/>
          <p:cNvSpPr/>
          <p:nvPr/>
        </p:nvSpPr>
        <p:spPr>
          <a:xfrm>
            <a:off x="3017520" y="5577840"/>
            <a:ext cx="2011680" cy="457200"/>
          </a:xfrm>
          <a:prstGeom prst="rect">
            <a:avLst/>
          </a:prstGeom>
          <a:solidFill>
            <a:srgbClr val="1017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5650992"/>
            <a:ext cx="2011680" cy="347472"/>
          </a:xfrm>
          <a:prstGeom prst="rect">
            <a:avLst/>
          </a:prstGeom>
          <a:noFill/>
        </p:spPr>
        <p:txBody>
          <a:bodyPr wrap="square">
            <a:spAutoFit/>
          </a:bodyPr>
          <a:lstStyle/>
          <a:p>
            <a:pPr algn="ctr"/>
            <a:r>
              <a:rPr sz="1100" b="1" i="0">
                <a:solidFill>
                  <a:srgbClr val="F87171"/>
                </a:solidFill>
                <a:latin typeface="Calibri"/>
              </a:rPr>
              <a:t>ðŸš¨ ABNORMAL</a:t>
            </a:r>
          </a:p>
        </p:txBody>
      </p:sp>
      <p:sp>
        <p:nvSpPr>
          <p:cNvPr id="23" name="Rectangle 22"/>
          <p:cNvSpPr/>
          <p:nvPr/>
        </p:nvSpPr>
        <p:spPr>
          <a:xfrm>
            <a:off x="7040880" y="5577840"/>
            <a:ext cx="2011680" cy="457200"/>
          </a:xfrm>
          <a:prstGeom prst="rect">
            <a:avLst/>
          </a:prstGeom>
          <a:solidFill>
            <a:srgbClr val="10172E"/>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0" y="5650992"/>
            <a:ext cx="2011680" cy="347472"/>
          </a:xfrm>
          <a:prstGeom prst="rect">
            <a:avLst/>
          </a:prstGeom>
          <a:noFill/>
        </p:spPr>
        <p:txBody>
          <a:bodyPr wrap="square">
            <a:spAutoFit/>
          </a:bodyPr>
          <a:lstStyle/>
          <a:p>
            <a:pPr algn="ctr"/>
            <a:r>
              <a:rPr sz="1100" b="1" i="0">
                <a:solidFill>
                  <a:srgbClr val="FB923C"/>
                </a:solidFill>
                <a:latin typeface="Calibri"/>
              </a:rPr>
              <a:t>âš ï¸ TIDAK MEYAKINKAN</a:t>
            </a:r>
          </a:p>
        </p:txBody>
      </p:sp>
      <p:sp>
        <p:nvSpPr>
          <p:cNvPr id="25" name="Rectangle 24"/>
          <p:cNvSpPr/>
          <p:nvPr/>
        </p:nvSpPr>
        <p:spPr>
          <a:xfrm>
            <a:off x="9326880" y="5577840"/>
            <a:ext cx="2011680" cy="457200"/>
          </a:xfrm>
          <a:prstGeom prst="rect">
            <a:avLst/>
          </a:prstGeom>
          <a:solidFill>
            <a:srgbClr val="10172E"/>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5650992"/>
            <a:ext cx="2011680" cy="347472"/>
          </a:xfrm>
          <a:prstGeom prst="rect">
            <a:avLst/>
          </a:prstGeom>
          <a:noFill/>
        </p:spPr>
        <p:txBody>
          <a:bodyPr wrap="square">
            <a:spAutoFit/>
          </a:bodyPr>
          <a:lstStyle/>
          <a:p>
            <a:pPr algn="ctr"/>
            <a:r>
              <a:rPr sz="1100" b="1" i="0">
                <a:solidFill>
                  <a:srgbClr val="4ADE80"/>
                </a:solidFill>
                <a:latin typeface="Calibri"/>
              </a:rPr>
              <a:t>âœ… NORMAL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12 / 22</a:t>
            </a:r>
          </a:p>
        </p:txBody>
      </p:sp>
      <p:sp>
        <p:nvSpPr>
          <p:cNvPr id="4" name="TextBox 3"/>
          <p:cNvSpPr txBox="1"/>
          <p:nvPr/>
        </p:nvSpPr>
        <p:spPr>
          <a:xfrm>
            <a:off x="457200" y="137160"/>
            <a:ext cx="10972800" cy="502920"/>
          </a:xfrm>
          <a:prstGeom prst="rect">
            <a:avLst/>
          </a:prstGeom>
          <a:noFill/>
        </p:spPr>
        <p:txBody>
          <a:bodyPr wrap="square">
            <a:spAutoFit/>
          </a:bodyPr>
          <a:lstStyle/>
          <a:p>
            <a:pPr algn="l"/>
            <a:r>
              <a:rPr sz="2200" b="1" i="0">
                <a:solidFill>
                  <a:srgbClr val="F1F5F9"/>
                </a:solidFill>
                <a:latin typeface="Calibri"/>
              </a:rPr>
              <a:t>05  Rancangan 2: Klasifikasi</a:t>
            </a:r>
          </a:p>
        </p:txBody>
      </p:sp>
      <p:sp>
        <p:nvSpPr>
          <p:cNvPr id="5" name="Rectangle 4"/>
          <p:cNvSpPr/>
          <p:nvPr/>
        </p:nvSpPr>
        <p:spPr>
          <a:xfrm>
            <a:off x="365760" y="777240"/>
            <a:ext cx="5577840" cy="5760720"/>
          </a:xfrm>
          <a:prstGeom prst="rect">
            <a:avLst/>
          </a:prstGeom>
          <a:solidFill>
            <a:srgbClr val="0D1224"/>
          </a:solidFill>
          <a:ln w="9525">
            <a:solidFill>
              <a:srgbClr val="402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777240"/>
            <a:ext cx="54864" cy="576072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50392"/>
            <a:ext cx="5303520" cy="457200"/>
          </a:xfrm>
          <a:prstGeom prst="rect">
            <a:avLst/>
          </a:prstGeom>
          <a:noFill/>
        </p:spPr>
        <p:txBody>
          <a:bodyPr wrap="square">
            <a:spAutoFit/>
          </a:bodyPr>
          <a:lstStyle/>
          <a:p>
            <a:pPr algn="l"/>
            <a:r>
              <a:rPr sz="1400" b="1" i="0">
                <a:solidFill>
                  <a:srgbClr val="C084FC"/>
                </a:solidFill>
                <a:latin typeface="Calibri"/>
              </a:rPr>
              <a:t>ðŸ“Š  Data / Kolom yang Digunakan</a:t>
            </a:r>
          </a:p>
        </p:txBody>
      </p:sp>
      <p:sp>
        <p:nvSpPr>
          <p:cNvPr id="8" name="TextBox 7"/>
          <p:cNvSpPr txBox="1"/>
          <p:nvPr/>
        </p:nvSpPr>
        <p:spPr>
          <a:xfrm>
            <a:off x="594360" y="1325880"/>
            <a:ext cx="5212080" cy="347472"/>
          </a:xfrm>
          <a:prstGeom prst="rect">
            <a:avLst/>
          </a:prstGeom>
          <a:noFill/>
        </p:spPr>
        <p:txBody>
          <a:bodyPr wrap="square">
            <a:spAutoFit/>
          </a:bodyPr>
          <a:lstStyle/>
          <a:p>
            <a:pPr algn="l"/>
            <a:r>
              <a:rPr sz="1200" b="1" i="0">
                <a:solidFill>
                  <a:srgbClr val="F1F5F9"/>
                </a:solidFill>
                <a:latin typeface="Calibri"/>
              </a:rPr>
              <a:t>Data Masukan (Bahan Prediksi):</a:t>
            </a:r>
          </a:p>
        </p:txBody>
      </p:sp>
      <p:sp>
        <p:nvSpPr>
          <p:cNvPr id="9" name="Rectangle 8"/>
          <p:cNvSpPr/>
          <p:nvPr/>
        </p:nvSpPr>
        <p:spPr>
          <a:xfrm>
            <a:off x="594360" y="1691640"/>
            <a:ext cx="5120640" cy="365760"/>
          </a:xfrm>
          <a:prstGeom prst="rect">
            <a:avLst/>
          </a:prstGeom>
          <a:solidFill>
            <a:srgbClr val="120A28"/>
          </a:solidFill>
          <a:ln w="6350">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728216"/>
            <a:ext cx="1920240" cy="329184"/>
          </a:xfrm>
          <a:prstGeom prst="rect">
            <a:avLst/>
          </a:prstGeom>
          <a:noFill/>
        </p:spPr>
        <p:txBody>
          <a:bodyPr wrap="square">
            <a:spAutoFit/>
          </a:bodyPr>
          <a:lstStyle/>
          <a:p>
            <a:pPr algn="l"/>
            <a:r>
              <a:rPr sz="1100" b="1" i="0">
                <a:solidFill>
                  <a:srgbClr val="C084FC"/>
                </a:solidFill>
                <a:latin typeface="Calibri"/>
              </a:rPr>
              <a:t>  Age</a:t>
            </a:r>
          </a:p>
        </p:txBody>
      </p:sp>
      <p:sp>
        <p:nvSpPr>
          <p:cNvPr id="11" name="TextBox 10"/>
          <p:cNvSpPr txBox="1"/>
          <p:nvPr/>
        </p:nvSpPr>
        <p:spPr>
          <a:xfrm>
            <a:off x="2606040" y="1728216"/>
            <a:ext cx="3017520" cy="329184"/>
          </a:xfrm>
          <a:prstGeom prst="rect">
            <a:avLst/>
          </a:prstGeom>
          <a:noFill/>
        </p:spPr>
        <p:txBody>
          <a:bodyPr wrap="square">
            <a:spAutoFit/>
          </a:bodyPr>
          <a:lstStyle/>
          <a:p>
            <a:pPr algn="l"/>
            <a:r>
              <a:rPr sz="1100" b="0" i="0">
                <a:solidFill>
                  <a:srgbClr val="94A3B8"/>
                </a:solidFill>
                <a:latin typeface="Calibri"/>
              </a:rPr>
              <a:t>â†’  Umur pasien</a:t>
            </a:r>
          </a:p>
        </p:txBody>
      </p:sp>
      <p:sp>
        <p:nvSpPr>
          <p:cNvPr id="12" name="Rectangle 11"/>
          <p:cNvSpPr/>
          <p:nvPr/>
        </p:nvSpPr>
        <p:spPr>
          <a:xfrm>
            <a:off x="594360" y="2121408"/>
            <a:ext cx="5120640" cy="365760"/>
          </a:xfrm>
          <a:prstGeom prst="rect">
            <a:avLst/>
          </a:prstGeom>
          <a:solidFill>
            <a:srgbClr val="120A28"/>
          </a:solidFill>
          <a:ln w="6350">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157984"/>
            <a:ext cx="1920240" cy="329184"/>
          </a:xfrm>
          <a:prstGeom prst="rect">
            <a:avLst/>
          </a:prstGeom>
          <a:noFill/>
        </p:spPr>
        <p:txBody>
          <a:bodyPr wrap="square">
            <a:spAutoFit/>
          </a:bodyPr>
          <a:lstStyle/>
          <a:p>
            <a:pPr algn="l"/>
            <a:r>
              <a:rPr sz="1100" b="1" i="0">
                <a:solidFill>
                  <a:srgbClr val="C084FC"/>
                </a:solidFill>
                <a:latin typeface="Calibri"/>
              </a:rPr>
              <a:t>  Gender</a:t>
            </a:r>
          </a:p>
        </p:txBody>
      </p:sp>
      <p:sp>
        <p:nvSpPr>
          <p:cNvPr id="14" name="TextBox 13"/>
          <p:cNvSpPr txBox="1"/>
          <p:nvPr/>
        </p:nvSpPr>
        <p:spPr>
          <a:xfrm>
            <a:off x="2606040" y="2157984"/>
            <a:ext cx="3017520" cy="329184"/>
          </a:xfrm>
          <a:prstGeom prst="rect">
            <a:avLst/>
          </a:prstGeom>
          <a:noFill/>
        </p:spPr>
        <p:txBody>
          <a:bodyPr wrap="square">
            <a:spAutoFit/>
          </a:bodyPr>
          <a:lstStyle/>
          <a:p>
            <a:pPr algn="l"/>
            <a:r>
              <a:rPr sz="1100" b="0" i="0">
                <a:solidFill>
                  <a:srgbClr val="94A3B8"/>
                </a:solidFill>
                <a:latin typeface="Calibri"/>
              </a:rPr>
              <a:t>â†’  Jenis kelamin</a:t>
            </a:r>
          </a:p>
        </p:txBody>
      </p:sp>
      <p:sp>
        <p:nvSpPr>
          <p:cNvPr id="15" name="Rectangle 14"/>
          <p:cNvSpPr/>
          <p:nvPr/>
        </p:nvSpPr>
        <p:spPr>
          <a:xfrm>
            <a:off x="594360" y="2551176"/>
            <a:ext cx="5120640" cy="365760"/>
          </a:xfrm>
          <a:prstGeom prst="rect">
            <a:avLst/>
          </a:prstGeom>
          <a:solidFill>
            <a:srgbClr val="120A28"/>
          </a:solidFill>
          <a:ln w="6350">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587752"/>
            <a:ext cx="1920240" cy="329184"/>
          </a:xfrm>
          <a:prstGeom prst="rect">
            <a:avLst/>
          </a:prstGeom>
          <a:noFill/>
        </p:spPr>
        <p:txBody>
          <a:bodyPr wrap="square">
            <a:spAutoFit/>
          </a:bodyPr>
          <a:lstStyle/>
          <a:p>
            <a:pPr algn="l"/>
            <a:r>
              <a:rPr sz="1100" b="1" i="0">
                <a:solidFill>
                  <a:srgbClr val="C084FC"/>
                </a:solidFill>
                <a:latin typeface="Calibri"/>
              </a:rPr>
              <a:t>  Blood Type</a:t>
            </a:r>
          </a:p>
        </p:txBody>
      </p:sp>
      <p:sp>
        <p:nvSpPr>
          <p:cNvPr id="17" name="TextBox 16"/>
          <p:cNvSpPr txBox="1"/>
          <p:nvPr/>
        </p:nvSpPr>
        <p:spPr>
          <a:xfrm>
            <a:off x="2606040" y="2587752"/>
            <a:ext cx="3017520" cy="329184"/>
          </a:xfrm>
          <a:prstGeom prst="rect">
            <a:avLst/>
          </a:prstGeom>
          <a:noFill/>
        </p:spPr>
        <p:txBody>
          <a:bodyPr wrap="square">
            <a:spAutoFit/>
          </a:bodyPr>
          <a:lstStyle/>
          <a:p>
            <a:pPr algn="l"/>
            <a:r>
              <a:rPr sz="1100" b="0" i="0">
                <a:solidFill>
                  <a:srgbClr val="94A3B8"/>
                </a:solidFill>
                <a:latin typeface="Calibri"/>
              </a:rPr>
              <a:t>â†’  Golongan darah</a:t>
            </a:r>
          </a:p>
        </p:txBody>
      </p:sp>
      <p:sp>
        <p:nvSpPr>
          <p:cNvPr id="18" name="Rectangle 17"/>
          <p:cNvSpPr/>
          <p:nvPr/>
        </p:nvSpPr>
        <p:spPr>
          <a:xfrm>
            <a:off x="594360" y="2980944"/>
            <a:ext cx="5120640" cy="365760"/>
          </a:xfrm>
          <a:prstGeom prst="rect">
            <a:avLst/>
          </a:prstGeom>
          <a:solidFill>
            <a:srgbClr val="120A28"/>
          </a:solidFill>
          <a:ln w="6350">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017520"/>
            <a:ext cx="1920240" cy="329184"/>
          </a:xfrm>
          <a:prstGeom prst="rect">
            <a:avLst/>
          </a:prstGeom>
          <a:noFill/>
        </p:spPr>
        <p:txBody>
          <a:bodyPr wrap="square">
            <a:spAutoFit/>
          </a:bodyPr>
          <a:lstStyle/>
          <a:p>
            <a:pPr algn="l"/>
            <a:r>
              <a:rPr sz="1100" b="1" i="0">
                <a:solidFill>
                  <a:srgbClr val="C084FC"/>
                </a:solidFill>
                <a:latin typeface="Calibri"/>
              </a:rPr>
              <a:t>  Medical Condition</a:t>
            </a:r>
          </a:p>
        </p:txBody>
      </p:sp>
      <p:sp>
        <p:nvSpPr>
          <p:cNvPr id="20" name="TextBox 19"/>
          <p:cNvSpPr txBox="1"/>
          <p:nvPr/>
        </p:nvSpPr>
        <p:spPr>
          <a:xfrm>
            <a:off x="2606040" y="3017520"/>
            <a:ext cx="3017520" cy="329184"/>
          </a:xfrm>
          <a:prstGeom prst="rect">
            <a:avLst/>
          </a:prstGeom>
          <a:noFill/>
        </p:spPr>
        <p:txBody>
          <a:bodyPr wrap="square">
            <a:spAutoFit/>
          </a:bodyPr>
          <a:lstStyle/>
          <a:p>
            <a:pPr algn="l"/>
            <a:r>
              <a:rPr sz="1100" b="0" i="0">
                <a:solidFill>
                  <a:srgbClr val="94A3B8"/>
                </a:solidFill>
                <a:latin typeface="Calibri"/>
              </a:rPr>
              <a:t>â†’  Jenis penyakit yang diderita</a:t>
            </a:r>
          </a:p>
        </p:txBody>
      </p:sp>
      <p:sp>
        <p:nvSpPr>
          <p:cNvPr id="21" name="Rectangle 20"/>
          <p:cNvSpPr/>
          <p:nvPr/>
        </p:nvSpPr>
        <p:spPr>
          <a:xfrm>
            <a:off x="594360" y="3410712"/>
            <a:ext cx="5120640" cy="365760"/>
          </a:xfrm>
          <a:prstGeom prst="rect">
            <a:avLst/>
          </a:prstGeom>
          <a:solidFill>
            <a:srgbClr val="120A28"/>
          </a:solidFill>
          <a:ln w="6350">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3447288"/>
            <a:ext cx="1920240" cy="329184"/>
          </a:xfrm>
          <a:prstGeom prst="rect">
            <a:avLst/>
          </a:prstGeom>
          <a:noFill/>
        </p:spPr>
        <p:txBody>
          <a:bodyPr wrap="square">
            <a:spAutoFit/>
          </a:bodyPr>
          <a:lstStyle/>
          <a:p>
            <a:pPr algn="l"/>
            <a:r>
              <a:rPr sz="1100" b="1" i="0">
                <a:solidFill>
                  <a:srgbClr val="C084FC"/>
                </a:solidFill>
                <a:latin typeface="Calibri"/>
              </a:rPr>
              <a:t>  Admission Type</a:t>
            </a:r>
          </a:p>
        </p:txBody>
      </p:sp>
      <p:sp>
        <p:nvSpPr>
          <p:cNvPr id="23" name="TextBox 22"/>
          <p:cNvSpPr txBox="1"/>
          <p:nvPr/>
        </p:nvSpPr>
        <p:spPr>
          <a:xfrm>
            <a:off x="2606040" y="3447288"/>
            <a:ext cx="3017520" cy="329184"/>
          </a:xfrm>
          <a:prstGeom prst="rect">
            <a:avLst/>
          </a:prstGeom>
          <a:noFill/>
        </p:spPr>
        <p:txBody>
          <a:bodyPr wrap="square">
            <a:spAutoFit/>
          </a:bodyPr>
          <a:lstStyle/>
          <a:p>
            <a:pPr algn="l"/>
            <a:r>
              <a:rPr sz="1100" b="0" i="0">
                <a:solidFill>
                  <a:srgbClr val="94A3B8"/>
                </a:solidFill>
                <a:latin typeface="Calibri"/>
              </a:rPr>
              <a:t>â†’  Tipe rawat inap</a:t>
            </a:r>
          </a:p>
        </p:txBody>
      </p:sp>
      <p:sp>
        <p:nvSpPr>
          <p:cNvPr id="24" name="Rectangle 23"/>
          <p:cNvSpPr/>
          <p:nvPr/>
        </p:nvSpPr>
        <p:spPr>
          <a:xfrm>
            <a:off x="594360" y="3840480"/>
            <a:ext cx="5120640" cy="365760"/>
          </a:xfrm>
          <a:prstGeom prst="rect">
            <a:avLst/>
          </a:prstGeom>
          <a:solidFill>
            <a:srgbClr val="120A28"/>
          </a:solidFill>
          <a:ln w="6350">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3877056"/>
            <a:ext cx="1920240" cy="329184"/>
          </a:xfrm>
          <a:prstGeom prst="rect">
            <a:avLst/>
          </a:prstGeom>
          <a:noFill/>
        </p:spPr>
        <p:txBody>
          <a:bodyPr wrap="square">
            <a:spAutoFit/>
          </a:bodyPr>
          <a:lstStyle/>
          <a:p>
            <a:pPr algn="l"/>
            <a:r>
              <a:rPr sz="1100" b="1" i="0">
                <a:solidFill>
                  <a:srgbClr val="C084FC"/>
                </a:solidFill>
                <a:latin typeface="Calibri"/>
              </a:rPr>
              <a:t>  Medication</a:t>
            </a:r>
          </a:p>
        </p:txBody>
      </p:sp>
      <p:sp>
        <p:nvSpPr>
          <p:cNvPr id="26" name="TextBox 25"/>
          <p:cNvSpPr txBox="1"/>
          <p:nvPr/>
        </p:nvSpPr>
        <p:spPr>
          <a:xfrm>
            <a:off x="2606040" y="3877056"/>
            <a:ext cx="3017520" cy="329184"/>
          </a:xfrm>
          <a:prstGeom prst="rect">
            <a:avLst/>
          </a:prstGeom>
          <a:noFill/>
        </p:spPr>
        <p:txBody>
          <a:bodyPr wrap="square">
            <a:spAutoFit/>
          </a:bodyPr>
          <a:lstStyle/>
          <a:p>
            <a:pPr algn="l"/>
            <a:r>
              <a:rPr sz="1100" b="0" i="0">
                <a:solidFill>
                  <a:srgbClr val="94A3B8"/>
                </a:solidFill>
                <a:latin typeface="Calibri"/>
              </a:rPr>
              <a:t>â†’  Obat yang diberikan kepada pasien</a:t>
            </a:r>
          </a:p>
        </p:txBody>
      </p:sp>
      <p:sp>
        <p:nvSpPr>
          <p:cNvPr id="27" name="Rectangle 26"/>
          <p:cNvSpPr/>
          <p:nvPr/>
        </p:nvSpPr>
        <p:spPr>
          <a:xfrm>
            <a:off x="594360" y="4270248"/>
            <a:ext cx="5120640" cy="365760"/>
          </a:xfrm>
          <a:prstGeom prst="rect">
            <a:avLst/>
          </a:prstGeom>
          <a:solidFill>
            <a:srgbClr val="120A28"/>
          </a:solidFill>
          <a:ln w="6350">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 y="4306824"/>
            <a:ext cx="1920240" cy="329184"/>
          </a:xfrm>
          <a:prstGeom prst="rect">
            <a:avLst/>
          </a:prstGeom>
          <a:noFill/>
        </p:spPr>
        <p:txBody>
          <a:bodyPr wrap="square">
            <a:spAutoFit/>
          </a:bodyPr>
          <a:lstStyle/>
          <a:p>
            <a:pPr algn="l"/>
            <a:r>
              <a:rPr sz="1100" b="1" i="0">
                <a:solidFill>
                  <a:srgbClr val="C084FC"/>
                </a:solidFill>
                <a:latin typeface="Calibri"/>
              </a:rPr>
              <a:t>  Billing Amount</a:t>
            </a:r>
          </a:p>
        </p:txBody>
      </p:sp>
      <p:sp>
        <p:nvSpPr>
          <p:cNvPr id="29" name="TextBox 28"/>
          <p:cNvSpPr txBox="1"/>
          <p:nvPr/>
        </p:nvSpPr>
        <p:spPr>
          <a:xfrm>
            <a:off x="2606040" y="4306824"/>
            <a:ext cx="3017520" cy="329184"/>
          </a:xfrm>
          <a:prstGeom prst="rect">
            <a:avLst/>
          </a:prstGeom>
          <a:noFill/>
        </p:spPr>
        <p:txBody>
          <a:bodyPr wrap="square">
            <a:spAutoFit/>
          </a:bodyPr>
          <a:lstStyle/>
          <a:p>
            <a:pPr algn="l"/>
            <a:r>
              <a:rPr sz="1100" b="0" i="0">
                <a:solidFill>
                  <a:srgbClr val="94A3B8"/>
                </a:solidFill>
                <a:latin typeface="Calibri"/>
              </a:rPr>
              <a:t>â†’  Total tagihan biaya perawatan</a:t>
            </a:r>
          </a:p>
        </p:txBody>
      </p:sp>
      <p:sp>
        <p:nvSpPr>
          <p:cNvPr id="30" name="Rectangle 29"/>
          <p:cNvSpPr/>
          <p:nvPr/>
        </p:nvSpPr>
        <p:spPr>
          <a:xfrm>
            <a:off x="594360" y="4718304"/>
            <a:ext cx="5120640" cy="548640"/>
          </a:xfrm>
          <a:prstGeom prst="rect">
            <a:avLst/>
          </a:prstGeom>
          <a:solidFill>
            <a:srgbClr val="12082E"/>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4773168"/>
            <a:ext cx="5029200" cy="475488"/>
          </a:xfrm>
          <a:prstGeom prst="rect">
            <a:avLst/>
          </a:prstGeom>
          <a:noFill/>
        </p:spPr>
        <p:txBody>
          <a:bodyPr wrap="square">
            <a:spAutoFit/>
          </a:bodyPr>
          <a:lstStyle/>
          <a:p>
            <a:pPr algn="l"/>
            <a:r>
              <a:rPr sz="1100" b="1" i="0">
                <a:solidFill>
                  <a:srgbClr val="F1F5F9"/>
                </a:solidFill>
                <a:latin typeface="Calibri"/>
              </a:rPr>
              <a:t>  ðŸŽ¯  Output / Target  â†’  Test Results
        (Normal / Abnormal / Tidak Meyakinkan)</a:t>
            </a:r>
          </a:p>
        </p:txBody>
      </p:sp>
      <p:sp>
        <p:nvSpPr>
          <p:cNvPr id="32" name="Rectangle 31"/>
          <p:cNvSpPr/>
          <p:nvPr/>
        </p:nvSpPr>
        <p:spPr>
          <a:xfrm>
            <a:off x="6172200" y="777240"/>
            <a:ext cx="5669280" cy="5760720"/>
          </a:xfrm>
          <a:prstGeom prst="rect">
            <a:avLst/>
          </a:prstGeom>
          <a:solidFill>
            <a:srgbClr val="0D1224"/>
          </a:solidFill>
          <a:ln w="9525">
            <a:solidFill>
              <a:srgbClr val="402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777240"/>
            <a:ext cx="54864" cy="576072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850392"/>
            <a:ext cx="5394960" cy="457200"/>
          </a:xfrm>
          <a:prstGeom prst="rect">
            <a:avLst/>
          </a:prstGeom>
          <a:noFill/>
        </p:spPr>
        <p:txBody>
          <a:bodyPr wrap="square">
            <a:spAutoFit/>
          </a:bodyPr>
          <a:lstStyle/>
          <a:p>
            <a:pPr algn="l"/>
            <a:r>
              <a:rPr sz="1400" b="1" i="0">
                <a:solidFill>
                  <a:srgbClr val="C084FC"/>
                </a:solidFill>
                <a:latin typeface="Calibri"/>
              </a:rPr>
              <a:t>âš™ï¸  Cara Kerja</a:t>
            </a:r>
          </a:p>
        </p:txBody>
      </p:sp>
      <p:sp>
        <p:nvSpPr>
          <p:cNvPr id="35" name="Rectangle 34"/>
          <p:cNvSpPr/>
          <p:nvPr/>
        </p:nvSpPr>
        <p:spPr>
          <a:xfrm>
            <a:off x="6355080" y="1325880"/>
            <a:ext cx="411480" cy="41148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1362456"/>
            <a:ext cx="411480" cy="384048"/>
          </a:xfrm>
          <a:prstGeom prst="rect">
            <a:avLst/>
          </a:prstGeom>
          <a:noFill/>
        </p:spPr>
        <p:txBody>
          <a:bodyPr wrap="square">
            <a:spAutoFit/>
          </a:bodyPr>
          <a:lstStyle/>
          <a:p>
            <a:pPr algn="ctr"/>
            <a:r>
              <a:rPr sz="1400" b="1" i="0">
                <a:solidFill>
                  <a:srgbClr val="0A0E1A"/>
                </a:solidFill>
                <a:latin typeface="Calibri"/>
              </a:rPr>
              <a:t>1</a:t>
            </a:r>
          </a:p>
        </p:txBody>
      </p:sp>
      <p:sp>
        <p:nvSpPr>
          <p:cNvPr id="37" name="TextBox 36"/>
          <p:cNvSpPr txBox="1"/>
          <p:nvPr/>
        </p:nvSpPr>
        <p:spPr>
          <a:xfrm>
            <a:off x="6839712" y="1325880"/>
            <a:ext cx="4754880" cy="365760"/>
          </a:xfrm>
          <a:prstGeom prst="rect">
            <a:avLst/>
          </a:prstGeom>
          <a:noFill/>
        </p:spPr>
        <p:txBody>
          <a:bodyPr wrap="square">
            <a:spAutoFit/>
          </a:bodyPr>
          <a:lstStyle/>
          <a:p>
            <a:pPr algn="l"/>
            <a:r>
              <a:rPr sz="1200" b="1" i="0">
                <a:solidFill>
                  <a:srgbClr val="F1F5F9"/>
                </a:solidFill>
                <a:latin typeface="Calibri"/>
              </a:rPr>
              <a:t>Persiapan Data</a:t>
            </a:r>
          </a:p>
        </p:txBody>
      </p:sp>
      <p:sp>
        <p:nvSpPr>
          <p:cNvPr id="38" name="TextBox 37"/>
          <p:cNvSpPr txBox="1"/>
          <p:nvPr/>
        </p:nvSpPr>
        <p:spPr>
          <a:xfrm>
            <a:off x="6839712" y="1673352"/>
            <a:ext cx="4754880" cy="566928"/>
          </a:xfrm>
          <a:prstGeom prst="rect">
            <a:avLst/>
          </a:prstGeom>
          <a:noFill/>
        </p:spPr>
        <p:txBody>
          <a:bodyPr wrap="square">
            <a:spAutoFit/>
          </a:bodyPr>
          <a:lstStyle/>
          <a:p>
            <a:pPr algn="l"/>
            <a:r>
              <a:rPr sz="1100" b="0" i="0">
                <a:solidFill>
                  <a:srgbClr val="94A3B8"/>
                </a:solidFill>
                <a:latin typeface="Calibri"/>
              </a:rPr>
              <a:t>Teks seperti nama obat dan jenis penyakit diubah menjadi angka agar bisa diproses</a:t>
            </a:r>
          </a:p>
        </p:txBody>
      </p:sp>
      <p:sp>
        <p:nvSpPr>
          <p:cNvPr id="39" name="Rectangle 38"/>
          <p:cNvSpPr/>
          <p:nvPr/>
        </p:nvSpPr>
        <p:spPr>
          <a:xfrm>
            <a:off x="6355080" y="2286000"/>
            <a:ext cx="411480" cy="41148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2322576"/>
            <a:ext cx="411480" cy="384048"/>
          </a:xfrm>
          <a:prstGeom prst="rect">
            <a:avLst/>
          </a:prstGeom>
          <a:noFill/>
        </p:spPr>
        <p:txBody>
          <a:bodyPr wrap="square">
            <a:spAutoFit/>
          </a:bodyPr>
          <a:lstStyle/>
          <a:p>
            <a:pPr algn="ctr"/>
            <a:r>
              <a:rPr sz="1400" b="1" i="0">
                <a:solidFill>
                  <a:srgbClr val="0A0E1A"/>
                </a:solidFill>
                <a:latin typeface="Calibri"/>
              </a:rPr>
              <a:t>2</a:t>
            </a:r>
          </a:p>
        </p:txBody>
      </p:sp>
      <p:sp>
        <p:nvSpPr>
          <p:cNvPr id="41" name="TextBox 40"/>
          <p:cNvSpPr txBox="1"/>
          <p:nvPr/>
        </p:nvSpPr>
        <p:spPr>
          <a:xfrm>
            <a:off x="6839712" y="2286000"/>
            <a:ext cx="4754880" cy="365760"/>
          </a:xfrm>
          <a:prstGeom prst="rect">
            <a:avLst/>
          </a:prstGeom>
          <a:noFill/>
        </p:spPr>
        <p:txBody>
          <a:bodyPr wrap="square">
            <a:spAutoFit/>
          </a:bodyPr>
          <a:lstStyle/>
          <a:p>
            <a:pPr algn="l"/>
            <a:r>
              <a:rPr sz="1200" b="1" i="0">
                <a:solidFill>
                  <a:srgbClr val="F1F5F9"/>
                </a:solidFill>
                <a:latin typeface="Calibri"/>
              </a:rPr>
              <a:t>Bagi Data</a:t>
            </a:r>
          </a:p>
        </p:txBody>
      </p:sp>
      <p:sp>
        <p:nvSpPr>
          <p:cNvPr id="42" name="TextBox 41"/>
          <p:cNvSpPr txBox="1"/>
          <p:nvPr/>
        </p:nvSpPr>
        <p:spPr>
          <a:xfrm>
            <a:off x="6839712" y="2633472"/>
            <a:ext cx="4754880" cy="566928"/>
          </a:xfrm>
          <a:prstGeom prst="rect">
            <a:avLst/>
          </a:prstGeom>
          <a:noFill/>
        </p:spPr>
        <p:txBody>
          <a:bodyPr wrap="square">
            <a:spAutoFit/>
          </a:bodyPr>
          <a:lstStyle/>
          <a:p>
            <a:pPr algn="l"/>
            <a:r>
              <a:rPr sz="1100" b="0" i="0">
                <a:solidFill>
                  <a:srgbClr val="94A3B8"/>
                </a:solidFill>
                <a:latin typeface="Calibri"/>
              </a:rPr>
              <a:t>80% untuk belajar, 20% untuk diuji â€” pembagian dilakukan secara merata untuk tiap kelas hasil tes</a:t>
            </a:r>
          </a:p>
        </p:txBody>
      </p:sp>
      <p:sp>
        <p:nvSpPr>
          <p:cNvPr id="43" name="Rectangle 42"/>
          <p:cNvSpPr/>
          <p:nvPr/>
        </p:nvSpPr>
        <p:spPr>
          <a:xfrm>
            <a:off x="6355080" y="3246120"/>
            <a:ext cx="411480" cy="41148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3282696"/>
            <a:ext cx="411480" cy="384048"/>
          </a:xfrm>
          <a:prstGeom prst="rect">
            <a:avLst/>
          </a:prstGeom>
          <a:noFill/>
        </p:spPr>
        <p:txBody>
          <a:bodyPr wrap="square">
            <a:spAutoFit/>
          </a:bodyPr>
          <a:lstStyle/>
          <a:p>
            <a:pPr algn="ctr"/>
            <a:r>
              <a:rPr sz="1400" b="1" i="0">
                <a:solidFill>
                  <a:srgbClr val="0A0E1A"/>
                </a:solidFill>
                <a:latin typeface="Calibri"/>
              </a:rPr>
              <a:t>3</a:t>
            </a:r>
          </a:p>
        </p:txBody>
      </p:sp>
      <p:sp>
        <p:nvSpPr>
          <p:cNvPr id="45" name="TextBox 44"/>
          <p:cNvSpPr txBox="1"/>
          <p:nvPr/>
        </p:nvSpPr>
        <p:spPr>
          <a:xfrm>
            <a:off x="6839712" y="3246120"/>
            <a:ext cx="4754880" cy="365760"/>
          </a:xfrm>
          <a:prstGeom prst="rect">
            <a:avLst/>
          </a:prstGeom>
          <a:noFill/>
        </p:spPr>
        <p:txBody>
          <a:bodyPr wrap="square">
            <a:spAutoFit/>
          </a:bodyPr>
          <a:lstStyle/>
          <a:p>
            <a:pPr algn="l"/>
            <a:r>
              <a:rPr sz="1200" b="1" i="0">
                <a:solidFill>
                  <a:srgbClr val="F1F5F9"/>
                </a:solidFill>
                <a:latin typeface="Calibri"/>
              </a:rPr>
              <a:t>Proses Belajar</a:t>
            </a:r>
          </a:p>
        </p:txBody>
      </p:sp>
      <p:sp>
        <p:nvSpPr>
          <p:cNvPr id="46" name="TextBox 45"/>
          <p:cNvSpPr txBox="1"/>
          <p:nvPr/>
        </p:nvSpPr>
        <p:spPr>
          <a:xfrm>
            <a:off x="6839712" y="3593592"/>
            <a:ext cx="4754880" cy="566928"/>
          </a:xfrm>
          <a:prstGeom prst="rect">
            <a:avLst/>
          </a:prstGeom>
          <a:noFill/>
        </p:spPr>
        <p:txBody>
          <a:bodyPr wrap="square">
            <a:spAutoFit/>
          </a:bodyPr>
          <a:lstStyle/>
          <a:p>
            <a:pPr algn="l"/>
            <a:r>
              <a:rPr sz="1100" b="0" i="0">
                <a:solidFill>
                  <a:srgbClr val="94A3B8"/>
                </a:solidFill>
                <a:latin typeface="Calibri"/>
              </a:rPr>
              <a:t>Komputer membuat pohon keputusan â€” mencari pertanyaan terbaik yang bisa memisahkan Normal, Abnormal, dan Tidak Meyakinkan</a:t>
            </a:r>
          </a:p>
        </p:txBody>
      </p:sp>
      <p:sp>
        <p:nvSpPr>
          <p:cNvPr id="47" name="Rectangle 46"/>
          <p:cNvSpPr/>
          <p:nvPr/>
        </p:nvSpPr>
        <p:spPr>
          <a:xfrm>
            <a:off x="6355080" y="4206240"/>
            <a:ext cx="411480" cy="41148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55080" y="4242816"/>
            <a:ext cx="411480" cy="384048"/>
          </a:xfrm>
          <a:prstGeom prst="rect">
            <a:avLst/>
          </a:prstGeom>
          <a:noFill/>
        </p:spPr>
        <p:txBody>
          <a:bodyPr wrap="square">
            <a:spAutoFit/>
          </a:bodyPr>
          <a:lstStyle/>
          <a:p>
            <a:pPr algn="ctr"/>
            <a:r>
              <a:rPr sz="1400" b="1" i="0">
                <a:solidFill>
                  <a:srgbClr val="0A0E1A"/>
                </a:solidFill>
                <a:latin typeface="Calibri"/>
              </a:rPr>
              <a:t>4</a:t>
            </a:r>
          </a:p>
        </p:txBody>
      </p:sp>
      <p:sp>
        <p:nvSpPr>
          <p:cNvPr id="49" name="TextBox 48"/>
          <p:cNvSpPr txBox="1"/>
          <p:nvPr/>
        </p:nvSpPr>
        <p:spPr>
          <a:xfrm>
            <a:off x="6839712" y="4206240"/>
            <a:ext cx="4754880" cy="365760"/>
          </a:xfrm>
          <a:prstGeom prst="rect">
            <a:avLst/>
          </a:prstGeom>
          <a:noFill/>
        </p:spPr>
        <p:txBody>
          <a:bodyPr wrap="square">
            <a:spAutoFit/>
          </a:bodyPr>
          <a:lstStyle/>
          <a:p>
            <a:pPr algn="l"/>
            <a:r>
              <a:rPr sz="1200" b="1" i="0">
                <a:solidFill>
                  <a:srgbClr val="F1F5F9"/>
                </a:solidFill>
                <a:latin typeface="Calibri"/>
              </a:rPr>
              <a:t>Prediksi</a:t>
            </a:r>
          </a:p>
        </p:txBody>
      </p:sp>
      <p:sp>
        <p:nvSpPr>
          <p:cNvPr id="50" name="TextBox 49"/>
          <p:cNvSpPr txBox="1"/>
          <p:nvPr/>
        </p:nvSpPr>
        <p:spPr>
          <a:xfrm>
            <a:off x="6839712" y="4553712"/>
            <a:ext cx="4754880" cy="566928"/>
          </a:xfrm>
          <a:prstGeom prst="rect">
            <a:avLst/>
          </a:prstGeom>
          <a:noFill/>
        </p:spPr>
        <p:txBody>
          <a:bodyPr wrap="square">
            <a:spAutoFit/>
          </a:bodyPr>
          <a:lstStyle/>
          <a:p>
            <a:pPr algn="l"/>
            <a:r>
              <a:rPr sz="1100" b="0" i="0">
                <a:solidFill>
                  <a:srgbClr val="94A3B8"/>
                </a:solidFill>
                <a:latin typeface="Calibri"/>
              </a:rPr>
              <a:t>Pasien baru 'ditelusuri' melalui pohon keputusan dari atas hingga mendapat jawaban akhir</a:t>
            </a:r>
          </a:p>
        </p:txBody>
      </p:sp>
      <p:sp>
        <p:nvSpPr>
          <p:cNvPr id="51" name="Rectangle 50"/>
          <p:cNvSpPr/>
          <p:nvPr/>
        </p:nvSpPr>
        <p:spPr>
          <a:xfrm>
            <a:off x="6355080" y="5166360"/>
            <a:ext cx="411480" cy="41148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55080" y="5202936"/>
            <a:ext cx="411480" cy="384048"/>
          </a:xfrm>
          <a:prstGeom prst="rect">
            <a:avLst/>
          </a:prstGeom>
          <a:noFill/>
        </p:spPr>
        <p:txBody>
          <a:bodyPr wrap="square">
            <a:spAutoFit/>
          </a:bodyPr>
          <a:lstStyle/>
          <a:p>
            <a:pPr algn="ctr"/>
            <a:r>
              <a:rPr sz="1400" b="1" i="0">
                <a:solidFill>
                  <a:srgbClr val="0A0E1A"/>
                </a:solidFill>
                <a:latin typeface="Calibri"/>
              </a:rPr>
              <a:t>5</a:t>
            </a:r>
          </a:p>
        </p:txBody>
      </p:sp>
      <p:sp>
        <p:nvSpPr>
          <p:cNvPr id="53" name="TextBox 52"/>
          <p:cNvSpPr txBox="1"/>
          <p:nvPr/>
        </p:nvSpPr>
        <p:spPr>
          <a:xfrm>
            <a:off x="6839712" y="5166360"/>
            <a:ext cx="4754880" cy="365760"/>
          </a:xfrm>
          <a:prstGeom prst="rect">
            <a:avLst/>
          </a:prstGeom>
          <a:noFill/>
        </p:spPr>
        <p:txBody>
          <a:bodyPr wrap="square">
            <a:spAutoFit/>
          </a:bodyPr>
          <a:lstStyle/>
          <a:p>
            <a:pPr algn="l"/>
            <a:r>
              <a:rPr sz="1200" b="1" i="0">
                <a:solidFill>
                  <a:srgbClr val="F1F5F9"/>
                </a:solidFill>
                <a:latin typeface="Calibri"/>
              </a:rPr>
              <a:t>Ukur Akurasi</a:t>
            </a:r>
          </a:p>
        </p:txBody>
      </p:sp>
      <p:sp>
        <p:nvSpPr>
          <p:cNvPr id="54" name="TextBox 53"/>
          <p:cNvSpPr txBox="1"/>
          <p:nvPr/>
        </p:nvSpPr>
        <p:spPr>
          <a:xfrm>
            <a:off x="6839712" y="5513832"/>
            <a:ext cx="4754880" cy="566928"/>
          </a:xfrm>
          <a:prstGeom prst="rect">
            <a:avLst/>
          </a:prstGeom>
          <a:noFill/>
        </p:spPr>
        <p:txBody>
          <a:bodyPr wrap="square">
            <a:spAutoFit/>
          </a:bodyPr>
          <a:lstStyle/>
          <a:p>
            <a:pPr algn="l"/>
            <a:r>
              <a:rPr sz="1100" b="0" i="0">
                <a:solidFill>
                  <a:srgbClr val="94A3B8"/>
                </a:solidFill>
                <a:latin typeface="Calibri"/>
              </a:rPr>
              <a:t>Dihitung seberapa sering prediksi benar (Akurasi, Confusion Matrix, F1-Score)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13 / 22</a:t>
            </a:r>
          </a:p>
        </p:txBody>
      </p:sp>
      <p:sp>
        <p:nvSpPr>
          <p:cNvPr id="4" name="TextBox 3"/>
          <p:cNvSpPr txBox="1"/>
          <p:nvPr/>
        </p:nvSpPr>
        <p:spPr>
          <a:xfrm>
            <a:off x="457200" y="137160"/>
            <a:ext cx="10972800" cy="502920"/>
          </a:xfrm>
          <a:prstGeom prst="rect">
            <a:avLst/>
          </a:prstGeom>
          <a:noFill/>
        </p:spPr>
        <p:txBody>
          <a:bodyPr wrap="square">
            <a:spAutoFit/>
          </a:bodyPr>
          <a:lstStyle/>
          <a:p>
            <a:pPr algn="l"/>
            <a:r>
              <a:rPr sz="2200" b="1" i="0">
                <a:solidFill>
                  <a:srgbClr val="F1F5F9"/>
                </a:solidFill>
                <a:latin typeface="Calibri"/>
              </a:rPr>
              <a:t>05  Rancangan 2: Klasifikasi</a:t>
            </a:r>
          </a:p>
        </p:txBody>
      </p:sp>
      <p:sp>
        <p:nvSpPr>
          <p:cNvPr id="5" name="TextBox 4"/>
          <p:cNvSpPr txBox="1"/>
          <p:nvPr/>
        </p:nvSpPr>
        <p:spPr>
          <a:xfrm>
            <a:off x="457200" y="658368"/>
            <a:ext cx="11430000" cy="475488"/>
          </a:xfrm>
          <a:prstGeom prst="rect">
            <a:avLst/>
          </a:prstGeom>
          <a:noFill/>
        </p:spPr>
        <p:txBody>
          <a:bodyPr wrap="square">
            <a:spAutoFit/>
          </a:bodyPr>
          <a:lstStyle/>
          <a:p>
            <a:pPr algn="l"/>
            <a:r>
              <a:rPr sz="1500" b="1" i="0">
                <a:solidFill>
                  <a:srgbClr val="C084FC"/>
                </a:solidFill>
                <a:latin typeface="Calibri"/>
              </a:rPr>
              <a:t>ðŸŽ¯  Fungsi dalam Mendukung Pengambilan Keputusan Rumah Sakit</a:t>
            </a:r>
          </a:p>
        </p:txBody>
      </p:sp>
      <p:sp>
        <p:nvSpPr>
          <p:cNvPr id="6" name="Rectangle 5"/>
          <p:cNvSpPr/>
          <p:nvPr/>
        </p:nvSpPr>
        <p:spPr>
          <a:xfrm>
            <a:off x="365760" y="1234440"/>
            <a:ext cx="5577840" cy="1691640"/>
          </a:xfrm>
          <a:prstGeom prst="rect">
            <a:avLst/>
          </a:prstGeom>
          <a:solidFill>
            <a:srgbClr val="0D1224"/>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64008" cy="169164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44168"/>
            <a:ext cx="5212080" cy="411480"/>
          </a:xfrm>
          <a:prstGeom prst="rect">
            <a:avLst/>
          </a:prstGeom>
          <a:noFill/>
        </p:spPr>
        <p:txBody>
          <a:bodyPr wrap="square">
            <a:spAutoFit/>
          </a:bodyPr>
          <a:lstStyle/>
          <a:p>
            <a:pPr algn="l"/>
            <a:r>
              <a:rPr sz="1300" b="1" i="0">
                <a:solidFill>
                  <a:srgbClr val="C084FC"/>
                </a:solidFill>
                <a:latin typeface="Calibri"/>
              </a:rPr>
              <a:t>ðŸš‘  Utamakan Pasien yang Paling Butuh</a:t>
            </a:r>
          </a:p>
        </p:txBody>
      </p:sp>
      <p:sp>
        <p:nvSpPr>
          <p:cNvPr id="9" name="TextBox 8"/>
          <p:cNvSpPr txBox="1"/>
          <p:nvPr/>
        </p:nvSpPr>
        <p:spPr>
          <a:xfrm>
            <a:off x="548640" y="1755647"/>
            <a:ext cx="5212080" cy="1051560"/>
          </a:xfrm>
          <a:prstGeom prst="rect">
            <a:avLst/>
          </a:prstGeom>
          <a:noFill/>
        </p:spPr>
        <p:txBody>
          <a:bodyPr wrap="square">
            <a:spAutoFit/>
          </a:bodyPr>
          <a:lstStyle/>
          <a:p>
            <a:pPr algn="l"/>
            <a:r>
              <a:rPr sz="1200" b="0" i="0">
                <a:solidFill>
                  <a:srgbClr val="94A3B8"/>
                </a:solidFill>
                <a:latin typeface="Calibri"/>
              </a:rPr>
              <a:t>Pasien yang diprediksi hasilnya Abnormal bisa langsung ditangani lebih cepat tanpa perlu menunggu hasil lab keluar. Ini bisa menyelamatkan nyawa di situasi darurat.</a:t>
            </a:r>
          </a:p>
        </p:txBody>
      </p:sp>
      <p:sp>
        <p:nvSpPr>
          <p:cNvPr id="10" name="Rectangle 9"/>
          <p:cNvSpPr/>
          <p:nvPr/>
        </p:nvSpPr>
        <p:spPr>
          <a:xfrm>
            <a:off x="6217920" y="1234440"/>
            <a:ext cx="5577840" cy="1691640"/>
          </a:xfrm>
          <a:prstGeom prst="rect">
            <a:avLst/>
          </a:prstGeom>
          <a:solidFill>
            <a:srgbClr val="0D1224"/>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234440"/>
            <a:ext cx="64008" cy="169164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44168"/>
            <a:ext cx="5212080" cy="411480"/>
          </a:xfrm>
          <a:prstGeom prst="rect">
            <a:avLst/>
          </a:prstGeom>
          <a:noFill/>
        </p:spPr>
        <p:txBody>
          <a:bodyPr wrap="square">
            <a:spAutoFit/>
          </a:bodyPr>
          <a:lstStyle/>
          <a:p>
            <a:pPr algn="l"/>
            <a:r>
              <a:rPr sz="1300" b="1" i="0">
                <a:solidFill>
                  <a:srgbClr val="C084FC"/>
                </a:solidFill>
                <a:latin typeface="Calibri"/>
              </a:rPr>
              <a:t>ðŸ‘¨â€âš•ï¸  Atur Jumlah Tenaga Medis</a:t>
            </a:r>
          </a:p>
        </p:txBody>
      </p:sp>
      <p:sp>
        <p:nvSpPr>
          <p:cNvPr id="13" name="TextBox 12"/>
          <p:cNvSpPr txBox="1"/>
          <p:nvPr/>
        </p:nvSpPr>
        <p:spPr>
          <a:xfrm>
            <a:off x="6400800" y="1755647"/>
            <a:ext cx="5212080" cy="1051560"/>
          </a:xfrm>
          <a:prstGeom prst="rect">
            <a:avLst/>
          </a:prstGeom>
          <a:noFill/>
        </p:spPr>
        <p:txBody>
          <a:bodyPr wrap="square">
            <a:spAutoFit/>
          </a:bodyPr>
          <a:lstStyle/>
          <a:p>
            <a:pPr algn="l"/>
            <a:r>
              <a:rPr sz="1200" b="0" i="0">
                <a:solidFill>
                  <a:srgbClr val="94A3B8"/>
                </a:solidFill>
                <a:latin typeface="Calibri"/>
              </a:rPr>
              <a:t>Jika prediksi menunjukkan banyak pasien dengan hasil Abnormal minggu ini, manajemen bisa langsung menyiapkan dokter spesialis yang cukup sejak awal.</a:t>
            </a:r>
          </a:p>
        </p:txBody>
      </p:sp>
      <p:sp>
        <p:nvSpPr>
          <p:cNvPr id="14" name="Rectangle 13"/>
          <p:cNvSpPr/>
          <p:nvPr/>
        </p:nvSpPr>
        <p:spPr>
          <a:xfrm>
            <a:off x="365760" y="3063240"/>
            <a:ext cx="5577840" cy="1691640"/>
          </a:xfrm>
          <a:prstGeom prst="rect">
            <a:avLst/>
          </a:prstGeom>
          <a:solidFill>
            <a:srgbClr val="0D1224"/>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063240"/>
            <a:ext cx="64008" cy="169164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172968"/>
            <a:ext cx="5212080" cy="411480"/>
          </a:xfrm>
          <a:prstGeom prst="rect">
            <a:avLst/>
          </a:prstGeom>
          <a:noFill/>
        </p:spPr>
        <p:txBody>
          <a:bodyPr wrap="square">
            <a:spAutoFit/>
          </a:bodyPr>
          <a:lstStyle/>
          <a:p>
            <a:pPr algn="l"/>
            <a:r>
              <a:rPr sz="1300" b="1" i="0">
                <a:solidFill>
                  <a:srgbClr val="C084FC"/>
                </a:solidFill>
                <a:latin typeface="Calibri"/>
              </a:rPr>
              <a:t>âš ï¸  Sistem Peringatan Dini</a:t>
            </a:r>
          </a:p>
        </p:txBody>
      </p:sp>
      <p:sp>
        <p:nvSpPr>
          <p:cNvPr id="17" name="TextBox 16"/>
          <p:cNvSpPr txBox="1"/>
          <p:nvPr/>
        </p:nvSpPr>
        <p:spPr>
          <a:xfrm>
            <a:off x="548640" y="3584447"/>
            <a:ext cx="5212080" cy="1051560"/>
          </a:xfrm>
          <a:prstGeom prst="rect">
            <a:avLst/>
          </a:prstGeom>
          <a:noFill/>
        </p:spPr>
        <p:txBody>
          <a:bodyPr wrap="square">
            <a:spAutoFit/>
          </a:bodyPr>
          <a:lstStyle/>
          <a:p>
            <a:pPr algn="l"/>
            <a:r>
              <a:rPr sz="1200" b="0" i="0">
                <a:solidFill>
                  <a:srgbClr val="94A3B8"/>
                </a:solidFill>
                <a:latin typeface="Calibri"/>
              </a:rPr>
              <a:t>Pasien yang berisiko tinggi bisa segera dirujuk ke unit perawatan intensif (ICU) sebelum kondisinya memburuk, sehingga penanganan lebih proaktif.</a:t>
            </a:r>
          </a:p>
        </p:txBody>
      </p:sp>
      <p:sp>
        <p:nvSpPr>
          <p:cNvPr id="18" name="Rectangle 17"/>
          <p:cNvSpPr/>
          <p:nvPr/>
        </p:nvSpPr>
        <p:spPr>
          <a:xfrm>
            <a:off x="6217920" y="3063240"/>
            <a:ext cx="5577840" cy="1691640"/>
          </a:xfrm>
          <a:prstGeom prst="rect">
            <a:avLst/>
          </a:prstGeom>
          <a:solidFill>
            <a:srgbClr val="0D1224"/>
          </a:solidFill>
          <a:ln w="9525">
            <a:solidFill>
              <a:srgbClr val="5B21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063240"/>
            <a:ext cx="64008" cy="169164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172968"/>
            <a:ext cx="5212080" cy="411480"/>
          </a:xfrm>
          <a:prstGeom prst="rect">
            <a:avLst/>
          </a:prstGeom>
          <a:noFill/>
        </p:spPr>
        <p:txBody>
          <a:bodyPr wrap="square">
            <a:spAutoFit/>
          </a:bodyPr>
          <a:lstStyle/>
          <a:p>
            <a:pPr algn="l"/>
            <a:r>
              <a:rPr sz="1300" b="1" i="0">
                <a:solidFill>
                  <a:srgbClr val="C084FC"/>
                </a:solidFill>
                <a:latin typeface="Calibri"/>
              </a:rPr>
              <a:t>â±ï¸  Kurangi Waktu Tunggu Pasien</a:t>
            </a:r>
          </a:p>
        </p:txBody>
      </p:sp>
      <p:sp>
        <p:nvSpPr>
          <p:cNvPr id="21" name="TextBox 20"/>
          <p:cNvSpPr txBox="1"/>
          <p:nvPr/>
        </p:nvSpPr>
        <p:spPr>
          <a:xfrm>
            <a:off x="6400800" y="3584447"/>
            <a:ext cx="5212080" cy="1051560"/>
          </a:xfrm>
          <a:prstGeom prst="rect">
            <a:avLst/>
          </a:prstGeom>
          <a:noFill/>
        </p:spPr>
        <p:txBody>
          <a:bodyPr wrap="square">
            <a:spAutoFit/>
          </a:bodyPr>
          <a:lstStyle/>
          <a:p>
            <a:pPr algn="l"/>
            <a:r>
              <a:rPr sz="1200" b="0" i="0">
                <a:solidFill>
                  <a:srgbClr val="94A3B8"/>
                </a:solidFill>
                <a:latin typeface="Calibri"/>
              </a:rPr>
              <a:t>Dengan mengetahui prioritas setiap pasien berbasis data, antrian penanganan bisa diatur jauh lebih efisien dan tidak membuang waktu pasien yang kritis.</a:t>
            </a:r>
          </a:p>
        </p:txBody>
      </p:sp>
      <p:sp>
        <p:nvSpPr>
          <p:cNvPr id="22" name="Rectangle 21"/>
          <p:cNvSpPr/>
          <p:nvPr/>
        </p:nvSpPr>
        <p:spPr>
          <a:xfrm>
            <a:off x="365760" y="4956048"/>
            <a:ext cx="11430000" cy="1691640"/>
          </a:xfrm>
          <a:prstGeom prst="rect">
            <a:avLst/>
          </a:prstGeom>
          <a:solidFill>
            <a:srgbClr val="0D1224"/>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577840"/>
            <a:ext cx="11430000" cy="548640"/>
          </a:xfrm>
          <a:prstGeom prst="rect">
            <a:avLst/>
          </a:prstGeom>
          <a:noFill/>
        </p:spPr>
        <p:txBody>
          <a:bodyPr wrap="square">
            <a:spAutoFit/>
          </a:bodyPr>
          <a:lstStyle/>
          <a:p>
            <a:pPr algn="ctr"/>
            <a:r>
              <a:rPr sz="1300" b="0" i="1">
                <a:solidFill>
                  <a:srgbClr val="94A3B8"/>
                </a:solidFill>
                <a:latin typeface="Calibri"/>
              </a:rPr>
              <a:t>[ Screenshot Halaman Klasifikasi â€” http://localhost:8501/2_Klasifikasi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41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14 / 22</a:t>
            </a:r>
          </a:p>
        </p:txBody>
      </p:sp>
      <p:sp>
        <p:nvSpPr>
          <p:cNvPr id="5" name="TextBox 4"/>
          <p:cNvSpPr txBox="1"/>
          <p:nvPr/>
        </p:nvSpPr>
        <p:spPr>
          <a:xfrm>
            <a:off x="1371600" y="1645920"/>
            <a:ext cx="9144000" cy="594360"/>
          </a:xfrm>
          <a:prstGeom prst="rect">
            <a:avLst/>
          </a:prstGeom>
          <a:noFill/>
        </p:spPr>
        <p:txBody>
          <a:bodyPr wrap="square">
            <a:spAutoFit/>
          </a:bodyPr>
          <a:lstStyle/>
          <a:p>
            <a:pPr algn="ctr"/>
            <a:r>
              <a:rPr sz="1600" b="1" i="0">
                <a:solidFill>
                  <a:srgbClr val="4ADE80"/>
                </a:solidFill>
                <a:latin typeface="Calibri"/>
              </a:rPr>
              <a:t>RANCANGAN 3</a:t>
            </a:r>
          </a:p>
        </p:txBody>
      </p:sp>
      <p:sp>
        <p:nvSpPr>
          <p:cNvPr id="6" name="TextBox 5"/>
          <p:cNvSpPr txBox="1"/>
          <p:nvPr/>
        </p:nvSpPr>
        <p:spPr>
          <a:xfrm>
            <a:off x="914400" y="2103120"/>
            <a:ext cx="10058400" cy="1371600"/>
          </a:xfrm>
          <a:prstGeom prst="rect">
            <a:avLst/>
          </a:prstGeom>
          <a:noFill/>
        </p:spPr>
        <p:txBody>
          <a:bodyPr wrap="square">
            <a:spAutoFit/>
          </a:bodyPr>
          <a:lstStyle/>
          <a:p>
            <a:pPr algn="ctr"/>
            <a:r>
              <a:rPr sz="5400" b="1" i="0">
                <a:solidFill>
                  <a:srgbClr val="F1F5F9"/>
                </a:solidFill>
                <a:latin typeface="Calibri"/>
              </a:rPr>
              <a:t>ðŸ”µ  Clustering</a:t>
            </a:r>
          </a:p>
        </p:txBody>
      </p:sp>
      <p:sp>
        <p:nvSpPr>
          <p:cNvPr id="7" name="TextBox 6"/>
          <p:cNvSpPr txBox="1"/>
          <p:nvPr/>
        </p:nvSpPr>
        <p:spPr>
          <a:xfrm>
            <a:off x="914400" y="3429000"/>
            <a:ext cx="10058400" cy="594360"/>
          </a:xfrm>
          <a:prstGeom prst="rect">
            <a:avLst/>
          </a:prstGeom>
          <a:noFill/>
        </p:spPr>
        <p:txBody>
          <a:bodyPr wrap="square">
            <a:spAutoFit/>
          </a:bodyPr>
          <a:lstStyle/>
          <a:p>
            <a:pPr algn="ctr"/>
            <a:r>
              <a:rPr sz="2200" b="0" i="0">
                <a:solidFill>
                  <a:srgbClr val="4ADE80"/>
                </a:solidFill>
                <a:latin typeface="Calibri"/>
              </a:rPr>
              <a:t>Segmentasi &amp; Pengelompokan Pasien</a:t>
            </a:r>
          </a:p>
        </p:txBody>
      </p:sp>
      <p:sp>
        <p:nvSpPr>
          <p:cNvPr id="8" name="Rectangle 7"/>
          <p:cNvSpPr/>
          <p:nvPr/>
        </p:nvSpPr>
        <p:spPr>
          <a:xfrm>
            <a:off x="3657600" y="4114800"/>
            <a:ext cx="4846320"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97680"/>
            <a:ext cx="10058400" cy="457200"/>
          </a:xfrm>
          <a:prstGeom prst="rect">
            <a:avLst/>
          </a:prstGeom>
          <a:noFill/>
        </p:spPr>
        <p:txBody>
          <a:bodyPr wrap="square">
            <a:spAutoFit/>
          </a:bodyPr>
          <a:lstStyle/>
          <a:p>
            <a:pPr algn="ctr"/>
            <a:r>
              <a:rPr sz="1600" b="0" i="0">
                <a:solidFill>
                  <a:srgbClr val="94A3B8"/>
                </a:solidFill>
                <a:latin typeface="Calibri"/>
              </a:rPr>
              <a:t>Algoritma: K-Means Clustering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15 / 22</a:t>
            </a:r>
          </a:p>
        </p:txBody>
      </p:sp>
      <p:sp>
        <p:nvSpPr>
          <p:cNvPr id="4" name="TextBox 3"/>
          <p:cNvSpPr txBox="1"/>
          <p:nvPr/>
        </p:nvSpPr>
        <p:spPr>
          <a:xfrm>
            <a:off x="457200" y="137160"/>
            <a:ext cx="10972800" cy="502920"/>
          </a:xfrm>
          <a:prstGeom prst="rect">
            <a:avLst/>
          </a:prstGeom>
          <a:noFill/>
        </p:spPr>
        <p:txBody>
          <a:bodyPr wrap="square">
            <a:spAutoFit/>
          </a:bodyPr>
          <a:lstStyle/>
          <a:p>
            <a:pPr algn="l"/>
            <a:r>
              <a:rPr sz="2200" b="1" i="0">
                <a:solidFill>
                  <a:srgbClr val="F1F5F9"/>
                </a:solidFill>
                <a:latin typeface="Calibri"/>
              </a:rPr>
              <a:t>06  Rancangan 3: Clustering</a:t>
            </a:r>
          </a:p>
        </p:txBody>
      </p:sp>
      <p:sp>
        <p:nvSpPr>
          <p:cNvPr id="5" name="TextBox 4"/>
          <p:cNvSpPr txBox="1"/>
          <p:nvPr/>
        </p:nvSpPr>
        <p:spPr>
          <a:xfrm>
            <a:off x="457200" y="658368"/>
            <a:ext cx="11430000" cy="475488"/>
          </a:xfrm>
          <a:prstGeom prst="rect">
            <a:avLst/>
          </a:prstGeom>
          <a:noFill/>
        </p:spPr>
        <p:txBody>
          <a:bodyPr wrap="square">
            <a:spAutoFit/>
          </a:bodyPr>
          <a:lstStyle/>
          <a:p>
            <a:pPr algn="l"/>
            <a:r>
              <a:rPr sz="1600" b="1" i="0">
                <a:solidFill>
                  <a:srgbClr val="4ADE80"/>
                </a:solidFill>
                <a:latin typeface="Calibri"/>
              </a:rPr>
              <a:t>ðŸ”µ  Algoritma yang Diterapkan â€” K-Means Clustering</a:t>
            </a:r>
          </a:p>
        </p:txBody>
      </p:sp>
      <p:sp>
        <p:nvSpPr>
          <p:cNvPr id="6" name="Rectangle 5"/>
          <p:cNvSpPr/>
          <p:nvPr/>
        </p:nvSpPr>
        <p:spPr>
          <a:xfrm>
            <a:off x="457200" y="1115568"/>
            <a:ext cx="3657600" cy="4572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11430000" cy="2103120"/>
          </a:xfrm>
          <a:prstGeom prst="rect">
            <a:avLst/>
          </a:prstGeom>
          <a:solidFill>
            <a:srgbClr val="0D1224"/>
          </a:solidFill>
          <a:ln w="9525">
            <a:solidFill>
              <a:srgbClr val="184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54864" cy="210312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98448"/>
            <a:ext cx="10972800" cy="365760"/>
          </a:xfrm>
          <a:prstGeom prst="rect">
            <a:avLst/>
          </a:prstGeom>
          <a:noFill/>
        </p:spPr>
        <p:txBody>
          <a:bodyPr wrap="square">
            <a:spAutoFit/>
          </a:bodyPr>
          <a:lstStyle/>
          <a:p>
            <a:pPr algn="l"/>
            <a:r>
              <a:rPr sz="1300" b="1" i="0">
                <a:solidFill>
                  <a:srgbClr val="4ADE80"/>
                </a:solidFill>
                <a:latin typeface="Calibri"/>
              </a:rPr>
              <a:t>Apa itu K-Means Clustering?</a:t>
            </a:r>
          </a:p>
        </p:txBody>
      </p:sp>
      <p:sp>
        <p:nvSpPr>
          <p:cNvPr id="10" name="TextBox 9"/>
          <p:cNvSpPr txBox="1"/>
          <p:nvPr/>
        </p:nvSpPr>
        <p:spPr>
          <a:xfrm>
            <a:off x="594360" y="1664208"/>
            <a:ext cx="10972800" cy="1600200"/>
          </a:xfrm>
          <a:prstGeom prst="rect">
            <a:avLst/>
          </a:prstGeom>
          <a:noFill/>
        </p:spPr>
        <p:txBody>
          <a:bodyPr wrap="square">
            <a:spAutoFit/>
          </a:bodyPr>
          <a:lstStyle/>
          <a:p>
            <a:pPr>
              <a:spcBef>
                <a:spcPts val="300"/>
              </a:spcBef>
            </a:pPr>
            <a:r>
              <a:rPr sz="1250" b="0">
                <a:solidFill>
                  <a:srgbClr val="94A3B8"/>
                </a:solidFill>
                <a:latin typeface="Calibri"/>
              </a:rPr>
              <a:t>K-Means Clustering adalah metode yang digunakan untuk mengelompokkan data secara otomatis tanpa perlu memberi label terlebih dahulu. Ini yang membedakannya dari Regresi dan Klasifikasi.</a:t>
            </a:r>
          </a:p>
          <a:p>
            <a:pPr>
              <a:spcBef>
                <a:spcPts val="300"/>
              </a:spcBef>
            </a:pPr>
            <a:r>
              <a:rPr sz="1250" b="0">
                <a:solidFill>
                  <a:srgbClr val="94A3B8"/>
                </a:solidFill>
                <a:latin typeface="Calibri"/>
              </a:rPr>
              <a:t/>
            </a:r>
          </a:p>
          <a:p>
            <a:pPr>
              <a:spcBef>
                <a:spcPts val="300"/>
              </a:spcBef>
            </a:pPr>
            <a:r>
              <a:rPr sz="1250" b="0">
                <a:solidFill>
                  <a:srgbClr val="94A3B8"/>
                </a:solidFill>
                <a:latin typeface="Calibri"/>
              </a:rPr>
              <a:t>Analogi: Seperti ketika kita memilah-milah ratusan foto ke dalam beberapa album â€” tanpa tahu ada berapa kategori. Komputer sendiri yang menentukan kelompok mana yang paling masuk akal.</a:t>
            </a:r>
          </a:p>
          <a:p>
            <a:pPr>
              <a:spcBef>
                <a:spcPts val="300"/>
              </a:spcBef>
            </a:pPr>
            <a:r>
              <a:rPr sz="1250" b="0">
                <a:solidFill>
                  <a:srgbClr val="94A3B8"/>
                </a:solidFill>
                <a:latin typeface="Calibri"/>
              </a:rPr>
              <a:t/>
            </a:r>
          </a:p>
          <a:p>
            <a:pPr>
              <a:spcBef>
                <a:spcPts val="300"/>
              </a:spcBef>
            </a:pPr>
            <a:r>
              <a:rPr sz="1250" b="0">
                <a:solidFill>
                  <a:srgbClr val="94A3B8"/>
                </a:solidFill>
                <a:latin typeface="Calibri"/>
              </a:rPr>
              <a:t>Dalam konteks ini: dari 55.500 data pasien, komputer secara otomatis membagi mereka ke dalam beberapa kelompok berdasarkan kemiripan profil (umur, tagihan, lama rawat).</a:t>
            </a:r>
          </a:p>
        </p:txBody>
      </p:sp>
      <p:sp>
        <p:nvSpPr>
          <p:cNvPr id="11" name="Rectangle 10"/>
          <p:cNvSpPr/>
          <p:nvPr/>
        </p:nvSpPr>
        <p:spPr>
          <a:xfrm>
            <a:off x="365760" y="3429000"/>
            <a:ext cx="11430000" cy="594360"/>
          </a:xfrm>
          <a:prstGeom prst="rect">
            <a:avLst/>
          </a:prstGeom>
          <a:solidFill>
            <a:srgbClr val="041A0E"/>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493008"/>
            <a:ext cx="11064240" cy="502920"/>
          </a:xfrm>
          <a:prstGeom prst="rect">
            <a:avLst/>
          </a:prstGeom>
          <a:noFill/>
        </p:spPr>
        <p:txBody>
          <a:bodyPr wrap="square">
            <a:spAutoFit/>
          </a:bodyPr>
          <a:lstStyle/>
          <a:p>
            <a:pPr algn="l"/>
            <a:r>
              <a:rPr sz="1200" b="1" i="0">
                <a:solidFill>
                  <a:srgbClr val="4ADE80"/>
                </a:solidFill>
                <a:latin typeface="Calibri"/>
              </a:rPr>
              <a:t>ðŸ“Œ  Perbedaan Utama: Regresi &amp; Klasifikasi = belajar dari data berlabel (tahu jawabannya) | Clustering = tidak ada jawaban sebelumnya, komputer yang menemukan sendiri</a:t>
            </a:r>
          </a:p>
        </p:txBody>
      </p:sp>
      <p:sp>
        <p:nvSpPr>
          <p:cNvPr id="13" name="Rectangle 12"/>
          <p:cNvSpPr/>
          <p:nvPr/>
        </p:nvSpPr>
        <p:spPr>
          <a:xfrm>
            <a:off x="365760" y="4160520"/>
            <a:ext cx="2240280" cy="2423160"/>
          </a:xfrm>
          <a:prstGeom prst="rect">
            <a:avLst/>
          </a:prstGeom>
          <a:solidFill>
            <a:srgbClr val="04120A"/>
          </a:solidFill>
          <a:ln w="9525">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4160520"/>
            <a:ext cx="2240280" cy="7315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4279392"/>
            <a:ext cx="2103120" cy="347472"/>
          </a:xfrm>
          <a:prstGeom prst="rect">
            <a:avLst/>
          </a:prstGeom>
          <a:noFill/>
        </p:spPr>
        <p:txBody>
          <a:bodyPr wrap="square">
            <a:spAutoFit/>
          </a:bodyPr>
          <a:lstStyle/>
          <a:p>
            <a:pPr algn="l"/>
            <a:r>
              <a:rPr sz="1400" b="1" i="0">
                <a:solidFill>
                  <a:srgbClr val="4ADE80"/>
                </a:solidFill>
                <a:latin typeface="Calibri"/>
              </a:rPr>
              <a:t>1ï¸âƒ£</a:t>
            </a:r>
          </a:p>
        </p:txBody>
      </p:sp>
      <p:sp>
        <p:nvSpPr>
          <p:cNvPr id="16" name="TextBox 15"/>
          <p:cNvSpPr txBox="1"/>
          <p:nvPr/>
        </p:nvSpPr>
        <p:spPr>
          <a:xfrm>
            <a:off x="438912" y="4617720"/>
            <a:ext cx="2103120" cy="347472"/>
          </a:xfrm>
          <a:prstGeom prst="rect">
            <a:avLst/>
          </a:prstGeom>
          <a:noFill/>
        </p:spPr>
        <p:txBody>
          <a:bodyPr wrap="square">
            <a:spAutoFit/>
          </a:bodyPr>
          <a:lstStyle/>
          <a:p>
            <a:pPr algn="l"/>
            <a:r>
              <a:rPr sz="1200" b="1" i="0">
                <a:solidFill>
                  <a:srgbClr val="F1F5F9"/>
                </a:solidFill>
                <a:latin typeface="Calibri"/>
              </a:rPr>
              <a:t>Tentukan K</a:t>
            </a:r>
          </a:p>
        </p:txBody>
      </p:sp>
      <p:sp>
        <p:nvSpPr>
          <p:cNvPr id="17" name="TextBox 16"/>
          <p:cNvSpPr txBox="1"/>
          <p:nvPr/>
        </p:nvSpPr>
        <p:spPr>
          <a:xfrm>
            <a:off x="438912" y="4965192"/>
            <a:ext cx="2121408" cy="1508760"/>
          </a:xfrm>
          <a:prstGeom prst="rect">
            <a:avLst/>
          </a:prstGeom>
          <a:noFill/>
        </p:spPr>
        <p:txBody>
          <a:bodyPr wrap="square">
            <a:spAutoFit/>
          </a:bodyPr>
          <a:lstStyle/>
          <a:p>
            <a:pPr algn="l"/>
            <a:r>
              <a:rPr sz="1100" b="0" i="0">
                <a:solidFill>
                  <a:srgbClr val="94A3B8"/>
                </a:solidFill>
                <a:latin typeface="Calibri"/>
              </a:rPr>
              <a:t>Coba beberapa jumlah kelompok (2 s.d. 10) â†’ pilih yang terbaik pakai Elbow Method</a:t>
            </a:r>
          </a:p>
        </p:txBody>
      </p:sp>
      <p:sp>
        <p:nvSpPr>
          <p:cNvPr id="18" name="Rectangle 17"/>
          <p:cNvSpPr/>
          <p:nvPr/>
        </p:nvSpPr>
        <p:spPr>
          <a:xfrm>
            <a:off x="2715768" y="4160520"/>
            <a:ext cx="2240280" cy="2423160"/>
          </a:xfrm>
          <a:prstGeom prst="rect">
            <a:avLst/>
          </a:prstGeom>
          <a:solidFill>
            <a:srgbClr val="04120A"/>
          </a:solidFill>
          <a:ln w="9525">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15768" y="4160520"/>
            <a:ext cx="2240280" cy="7315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88920" y="4279392"/>
            <a:ext cx="2103120" cy="347472"/>
          </a:xfrm>
          <a:prstGeom prst="rect">
            <a:avLst/>
          </a:prstGeom>
          <a:noFill/>
        </p:spPr>
        <p:txBody>
          <a:bodyPr wrap="square">
            <a:spAutoFit/>
          </a:bodyPr>
          <a:lstStyle/>
          <a:p>
            <a:pPr algn="l"/>
            <a:r>
              <a:rPr sz="1400" b="1" i="0">
                <a:solidFill>
                  <a:srgbClr val="4ADE80"/>
                </a:solidFill>
                <a:latin typeface="Calibri"/>
              </a:rPr>
              <a:t>2ï¸âƒ£</a:t>
            </a:r>
          </a:p>
        </p:txBody>
      </p:sp>
      <p:sp>
        <p:nvSpPr>
          <p:cNvPr id="21" name="TextBox 20"/>
          <p:cNvSpPr txBox="1"/>
          <p:nvPr/>
        </p:nvSpPr>
        <p:spPr>
          <a:xfrm>
            <a:off x="2788920" y="4617720"/>
            <a:ext cx="2103120" cy="347472"/>
          </a:xfrm>
          <a:prstGeom prst="rect">
            <a:avLst/>
          </a:prstGeom>
          <a:noFill/>
        </p:spPr>
        <p:txBody>
          <a:bodyPr wrap="square">
            <a:spAutoFit/>
          </a:bodyPr>
          <a:lstStyle/>
          <a:p>
            <a:pPr algn="l"/>
            <a:r>
              <a:rPr sz="1200" b="1" i="0">
                <a:solidFill>
                  <a:srgbClr val="F1F5F9"/>
                </a:solidFill>
                <a:latin typeface="Calibri"/>
              </a:rPr>
              <a:t>Pilih Pusat</a:t>
            </a:r>
          </a:p>
        </p:txBody>
      </p:sp>
      <p:sp>
        <p:nvSpPr>
          <p:cNvPr id="22" name="TextBox 21"/>
          <p:cNvSpPr txBox="1"/>
          <p:nvPr/>
        </p:nvSpPr>
        <p:spPr>
          <a:xfrm>
            <a:off x="2788920" y="4965192"/>
            <a:ext cx="2121408" cy="1508760"/>
          </a:xfrm>
          <a:prstGeom prst="rect">
            <a:avLst/>
          </a:prstGeom>
          <a:noFill/>
        </p:spPr>
        <p:txBody>
          <a:bodyPr wrap="square">
            <a:spAutoFit/>
          </a:bodyPr>
          <a:lstStyle/>
          <a:p>
            <a:pPr algn="l"/>
            <a:r>
              <a:rPr sz="1100" b="0" i="0">
                <a:solidFill>
                  <a:srgbClr val="94A3B8"/>
                </a:solidFill>
                <a:latin typeface="Calibri"/>
              </a:rPr>
              <a:t>Komputer memilih K titik pusat (centroid) secara acak sebagai pusat kelompok awal</a:t>
            </a:r>
          </a:p>
        </p:txBody>
      </p:sp>
      <p:sp>
        <p:nvSpPr>
          <p:cNvPr id="23" name="Rectangle 22"/>
          <p:cNvSpPr/>
          <p:nvPr/>
        </p:nvSpPr>
        <p:spPr>
          <a:xfrm>
            <a:off x="5065776" y="4160520"/>
            <a:ext cx="2240280" cy="2423160"/>
          </a:xfrm>
          <a:prstGeom prst="rect">
            <a:avLst/>
          </a:prstGeom>
          <a:solidFill>
            <a:srgbClr val="04120A"/>
          </a:solidFill>
          <a:ln w="9525">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65776" y="4160520"/>
            <a:ext cx="2240280" cy="7315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38928" y="4279392"/>
            <a:ext cx="2103120" cy="347472"/>
          </a:xfrm>
          <a:prstGeom prst="rect">
            <a:avLst/>
          </a:prstGeom>
          <a:noFill/>
        </p:spPr>
        <p:txBody>
          <a:bodyPr wrap="square">
            <a:spAutoFit/>
          </a:bodyPr>
          <a:lstStyle/>
          <a:p>
            <a:pPr algn="l"/>
            <a:r>
              <a:rPr sz="1400" b="1" i="0">
                <a:solidFill>
                  <a:srgbClr val="4ADE80"/>
                </a:solidFill>
                <a:latin typeface="Calibri"/>
              </a:rPr>
              <a:t>3ï¸âƒ£</a:t>
            </a:r>
          </a:p>
        </p:txBody>
      </p:sp>
      <p:sp>
        <p:nvSpPr>
          <p:cNvPr id="26" name="TextBox 25"/>
          <p:cNvSpPr txBox="1"/>
          <p:nvPr/>
        </p:nvSpPr>
        <p:spPr>
          <a:xfrm>
            <a:off x="5138928" y="4617720"/>
            <a:ext cx="2103120" cy="347472"/>
          </a:xfrm>
          <a:prstGeom prst="rect">
            <a:avLst/>
          </a:prstGeom>
          <a:noFill/>
        </p:spPr>
        <p:txBody>
          <a:bodyPr wrap="square">
            <a:spAutoFit/>
          </a:bodyPr>
          <a:lstStyle/>
          <a:p>
            <a:pPr algn="l"/>
            <a:r>
              <a:rPr sz="1200" b="1" i="0">
                <a:solidFill>
                  <a:srgbClr val="F1F5F9"/>
                </a:solidFill>
                <a:latin typeface="Calibri"/>
              </a:rPr>
              <a:t>Kelompokkan</a:t>
            </a:r>
          </a:p>
        </p:txBody>
      </p:sp>
      <p:sp>
        <p:nvSpPr>
          <p:cNvPr id="27" name="TextBox 26"/>
          <p:cNvSpPr txBox="1"/>
          <p:nvPr/>
        </p:nvSpPr>
        <p:spPr>
          <a:xfrm>
            <a:off x="5138928" y="4965192"/>
            <a:ext cx="2121408" cy="1508760"/>
          </a:xfrm>
          <a:prstGeom prst="rect">
            <a:avLst/>
          </a:prstGeom>
          <a:noFill/>
        </p:spPr>
        <p:txBody>
          <a:bodyPr wrap="square">
            <a:spAutoFit/>
          </a:bodyPr>
          <a:lstStyle/>
          <a:p>
            <a:pPr algn="l"/>
            <a:r>
              <a:rPr sz="1100" b="0" i="0">
                <a:solidFill>
                  <a:srgbClr val="94A3B8"/>
                </a:solidFill>
                <a:latin typeface="Calibri"/>
              </a:rPr>
              <a:t>Setiap pasien dimasukkan ke kelompok dengan pusat yang paling mirip profilnya</a:t>
            </a:r>
          </a:p>
        </p:txBody>
      </p:sp>
      <p:sp>
        <p:nvSpPr>
          <p:cNvPr id="28" name="Rectangle 27"/>
          <p:cNvSpPr/>
          <p:nvPr/>
        </p:nvSpPr>
        <p:spPr>
          <a:xfrm>
            <a:off x="7415784" y="4160520"/>
            <a:ext cx="2240280" cy="2423160"/>
          </a:xfrm>
          <a:prstGeom prst="rect">
            <a:avLst/>
          </a:prstGeom>
          <a:solidFill>
            <a:srgbClr val="04120A"/>
          </a:solidFill>
          <a:ln w="9525">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15784" y="4160520"/>
            <a:ext cx="2240280" cy="7315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8936" y="4279392"/>
            <a:ext cx="2103120" cy="347472"/>
          </a:xfrm>
          <a:prstGeom prst="rect">
            <a:avLst/>
          </a:prstGeom>
          <a:noFill/>
        </p:spPr>
        <p:txBody>
          <a:bodyPr wrap="square">
            <a:spAutoFit/>
          </a:bodyPr>
          <a:lstStyle/>
          <a:p>
            <a:pPr algn="l"/>
            <a:r>
              <a:rPr sz="1400" b="1" i="0">
                <a:solidFill>
                  <a:srgbClr val="4ADE80"/>
                </a:solidFill>
                <a:latin typeface="Calibri"/>
              </a:rPr>
              <a:t>4ï¸âƒ£</a:t>
            </a:r>
          </a:p>
        </p:txBody>
      </p:sp>
      <p:sp>
        <p:nvSpPr>
          <p:cNvPr id="31" name="TextBox 30"/>
          <p:cNvSpPr txBox="1"/>
          <p:nvPr/>
        </p:nvSpPr>
        <p:spPr>
          <a:xfrm>
            <a:off x="7488936" y="4617720"/>
            <a:ext cx="2103120" cy="347472"/>
          </a:xfrm>
          <a:prstGeom prst="rect">
            <a:avLst/>
          </a:prstGeom>
          <a:noFill/>
        </p:spPr>
        <p:txBody>
          <a:bodyPr wrap="square">
            <a:spAutoFit/>
          </a:bodyPr>
          <a:lstStyle/>
          <a:p>
            <a:pPr algn="l"/>
            <a:r>
              <a:rPr sz="1200" b="1" i="0">
                <a:solidFill>
                  <a:srgbClr val="F1F5F9"/>
                </a:solidFill>
                <a:latin typeface="Calibri"/>
              </a:rPr>
              <a:t>Perbarui Pusat</a:t>
            </a:r>
          </a:p>
        </p:txBody>
      </p:sp>
      <p:sp>
        <p:nvSpPr>
          <p:cNvPr id="32" name="TextBox 31"/>
          <p:cNvSpPr txBox="1"/>
          <p:nvPr/>
        </p:nvSpPr>
        <p:spPr>
          <a:xfrm>
            <a:off x="7488936" y="4965192"/>
            <a:ext cx="2121408" cy="1508760"/>
          </a:xfrm>
          <a:prstGeom prst="rect">
            <a:avLst/>
          </a:prstGeom>
          <a:noFill/>
        </p:spPr>
        <p:txBody>
          <a:bodyPr wrap="square">
            <a:spAutoFit/>
          </a:bodyPr>
          <a:lstStyle/>
          <a:p>
            <a:pPr algn="l"/>
            <a:r>
              <a:rPr sz="1100" b="0" i="0">
                <a:solidFill>
                  <a:srgbClr val="94A3B8"/>
                </a:solidFill>
                <a:latin typeface="Calibri"/>
              </a:rPr>
              <a:t>Pusat kelompok dihitung ulang sebagai rata-rata seluruh anggotanya</a:t>
            </a:r>
          </a:p>
        </p:txBody>
      </p:sp>
      <p:sp>
        <p:nvSpPr>
          <p:cNvPr id="33" name="Rectangle 32"/>
          <p:cNvSpPr/>
          <p:nvPr/>
        </p:nvSpPr>
        <p:spPr>
          <a:xfrm>
            <a:off x="9765792" y="4160520"/>
            <a:ext cx="2240280" cy="2423160"/>
          </a:xfrm>
          <a:prstGeom prst="rect">
            <a:avLst/>
          </a:prstGeom>
          <a:solidFill>
            <a:srgbClr val="04120A"/>
          </a:solidFill>
          <a:ln w="9525">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65792" y="4160520"/>
            <a:ext cx="2240280" cy="7315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38944" y="4279392"/>
            <a:ext cx="2103120" cy="347472"/>
          </a:xfrm>
          <a:prstGeom prst="rect">
            <a:avLst/>
          </a:prstGeom>
          <a:noFill/>
        </p:spPr>
        <p:txBody>
          <a:bodyPr wrap="square">
            <a:spAutoFit/>
          </a:bodyPr>
          <a:lstStyle/>
          <a:p>
            <a:pPr algn="l"/>
            <a:r>
              <a:rPr sz="1400" b="1" i="0">
                <a:solidFill>
                  <a:srgbClr val="4ADE80"/>
                </a:solidFill>
                <a:latin typeface="Calibri"/>
              </a:rPr>
              <a:t>5ï¸âƒ£</a:t>
            </a:r>
          </a:p>
        </p:txBody>
      </p:sp>
      <p:sp>
        <p:nvSpPr>
          <p:cNvPr id="36" name="TextBox 35"/>
          <p:cNvSpPr txBox="1"/>
          <p:nvPr/>
        </p:nvSpPr>
        <p:spPr>
          <a:xfrm>
            <a:off x="9838944" y="4617720"/>
            <a:ext cx="2103120" cy="347472"/>
          </a:xfrm>
          <a:prstGeom prst="rect">
            <a:avLst/>
          </a:prstGeom>
          <a:noFill/>
        </p:spPr>
        <p:txBody>
          <a:bodyPr wrap="square">
            <a:spAutoFit/>
          </a:bodyPr>
          <a:lstStyle/>
          <a:p>
            <a:pPr algn="l"/>
            <a:r>
              <a:rPr sz="1200" b="1" i="0">
                <a:solidFill>
                  <a:srgbClr val="F1F5F9"/>
                </a:solidFill>
                <a:latin typeface="Calibri"/>
              </a:rPr>
              <a:t>Ulangi &amp; Selesai</a:t>
            </a:r>
          </a:p>
        </p:txBody>
      </p:sp>
      <p:sp>
        <p:nvSpPr>
          <p:cNvPr id="37" name="TextBox 36"/>
          <p:cNvSpPr txBox="1"/>
          <p:nvPr/>
        </p:nvSpPr>
        <p:spPr>
          <a:xfrm>
            <a:off x="9838944" y="4965192"/>
            <a:ext cx="2121408" cy="1508760"/>
          </a:xfrm>
          <a:prstGeom prst="rect">
            <a:avLst/>
          </a:prstGeom>
          <a:noFill/>
        </p:spPr>
        <p:txBody>
          <a:bodyPr wrap="square">
            <a:spAutoFit/>
          </a:bodyPr>
          <a:lstStyle/>
          <a:p>
            <a:pPr algn="l"/>
            <a:r>
              <a:rPr sz="1100" b="0" i="0">
                <a:solidFill>
                  <a:srgbClr val="94A3B8"/>
                </a:solidFill>
                <a:latin typeface="Calibri"/>
              </a:rPr>
              <a:t>Langkah 3-4 diulang hingga kelompok tidak berubah lagi (konvergen)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16 / 22</a:t>
            </a:r>
          </a:p>
        </p:txBody>
      </p:sp>
      <p:sp>
        <p:nvSpPr>
          <p:cNvPr id="4" name="TextBox 3"/>
          <p:cNvSpPr txBox="1"/>
          <p:nvPr/>
        </p:nvSpPr>
        <p:spPr>
          <a:xfrm>
            <a:off x="457200" y="137160"/>
            <a:ext cx="10972800" cy="502920"/>
          </a:xfrm>
          <a:prstGeom prst="rect">
            <a:avLst/>
          </a:prstGeom>
          <a:noFill/>
        </p:spPr>
        <p:txBody>
          <a:bodyPr wrap="square">
            <a:spAutoFit/>
          </a:bodyPr>
          <a:lstStyle/>
          <a:p>
            <a:pPr algn="l"/>
            <a:r>
              <a:rPr sz="2200" b="1" i="0">
                <a:solidFill>
                  <a:srgbClr val="F1F5F9"/>
                </a:solidFill>
                <a:latin typeface="Calibri"/>
              </a:rPr>
              <a:t>06  Rancangan 3: Clustering</a:t>
            </a:r>
          </a:p>
        </p:txBody>
      </p:sp>
      <p:sp>
        <p:nvSpPr>
          <p:cNvPr id="5" name="Rectangle 4"/>
          <p:cNvSpPr/>
          <p:nvPr/>
        </p:nvSpPr>
        <p:spPr>
          <a:xfrm>
            <a:off x="365760" y="777240"/>
            <a:ext cx="5577840" cy="5760720"/>
          </a:xfrm>
          <a:prstGeom prst="rect">
            <a:avLst/>
          </a:prstGeom>
          <a:solidFill>
            <a:srgbClr val="0D1224"/>
          </a:solidFill>
          <a:ln w="9525">
            <a:solidFill>
              <a:srgbClr val="184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777240"/>
            <a:ext cx="54864" cy="576072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850392"/>
            <a:ext cx="5303520" cy="457200"/>
          </a:xfrm>
          <a:prstGeom prst="rect">
            <a:avLst/>
          </a:prstGeom>
          <a:noFill/>
        </p:spPr>
        <p:txBody>
          <a:bodyPr wrap="square">
            <a:spAutoFit/>
          </a:bodyPr>
          <a:lstStyle/>
          <a:p>
            <a:pPr algn="l"/>
            <a:r>
              <a:rPr sz="1400" b="1" i="0">
                <a:solidFill>
                  <a:srgbClr val="4ADE80"/>
                </a:solidFill>
                <a:latin typeface="Calibri"/>
              </a:rPr>
              <a:t>ðŸ“Š  Data / Kolom yang Digunakan</a:t>
            </a:r>
          </a:p>
        </p:txBody>
      </p:sp>
      <p:sp>
        <p:nvSpPr>
          <p:cNvPr id="8" name="TextBox 7"/>
          <p:cNvSpPr txBox="1"/>
          <p:nvPr/>
        </p:nvSpPr>
        <p:spPr>
          <a:xfrm>
            <a:off x="594360" y="1325880"/>
            <a:ext cx="5212080" cy="347472"/>
          </a:xfrm>
          <a:prstGeom prst="rect">
            <a:avLst/>
          </a:prstGeom>
          <a:noFill/>
        </p:spPr>
        <p:txBody>
          <a:bodyPr wrap="square">
            <a:spAutoFit/>
          </a:bodyPr>
          <a:lstStyle/>
          <a:p>
            <a:pPr algn="l"/>
            <a:r>
              <a:rPr sz="1200" b="1" i="0">
                <a:solidFill>
                  <a:srgbClr val="F1F5F9"/>
                </a:solidFill>
                <a:latin typeface="Calibri"/>
              </a:rPr>
              <a:t>Data yang Dipakai untuk Mengelompokkan Pasien:</a:t>
            </a:r>
          </a:p>
        </p:txBody>
      </p:sp>
      <p:sp>
        <p:nvSpPr>
          <p:cNvPr id="9" name="Rectangle 8"/>
          <p:cNvSpPr/>
          <p:nvPr/>
        </p:nvSpPr>
        <p:spPr>
          <a:xfrm>
            <a:off x="594360" y="1719072"/>
            <a:ext cx="5120640" cy="594360"/>
          </a:xfrm>
          <a:prstGeom prst="rect">
            <a:avLst/>
          </a:prstGeom>
          <a:solidFill>
            <a:srgbClr val="04140A"/>
          </a:solidFill>
          <a:ln w="6350">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783080"/>
            <a:ext cx="1828800" cy="502920"/>
          </a:xfrm>
          <a:prstGeom prst="rect">
            <a:avLst/>
          </a:prstGeom>
          <a:noFill/>
        </p:spPr>
        <p:txBody>
          <a:bodyPr wrap="square">
            <a:spAutoFit/>
          </a:bodyPr>
          <a:lstStyle/>
          <a:p>
            <a:pPr algn="l"/>
            <a:r>
              <a:rPr sz="1200" b="1" i="0">
                <a:solidFill>
                  <a:srgbClr val="4ADE80"/>
                </a:solidFill>
                <a:latin typeface="Calibri"/>
              </a:rPr>
              <a:t>  Age</a:t>
            </a:r>
          </a:p>
        </p:txBody>
      </p:sp>
      <p:sp>
        <p:nvSpPr>
          <p:cNvPr id="11" name="TextBox 10"/>
          <p:cNvSpPr txBox="1"/>
          <p:nvPr/>
        </p:nvSpPr>
        <p:spPr>
          <a:xfrm>
            <a:off x="2514600" y="1783080"/>
            <a:ext cx="3108960" cy="502920"/>
          </a:xfrm>
          <a:prstGeom prst="rect">
            <a:avLst/>
          </a:prstGeom>
          <a:noFill/>
        </p:spPr>
        <p:txBody>
          <a:bodyPr wrap="square">
            <a:spAutoFit/>
          </a:bodyPr>
          <a:lstStyle/>
          <a:p>
            <a:pPr algn="l"/>
            <a:r>
              <a:rPr sz="1100" b="0" i="0">
                <a:solidFill>
                  <a:srgbClr val="94A3B8"/>
                </a:solidFill>
                <a:latin typeface="Calibri"/>
              </a:rPr>
              <a:t>â†’  Umur pasien (tahun)</a:t>
            </a:r>
          </a:p>
        </p:txBody>
      </p:sp>
      <p:sp>
        <p:nvSpPr>
          <p:cNvPr id="12" name="Rectangle 11"/>
          <p:cNvSpPr/>
          <p:nvPr/>
        </p:nvSpPr>
        <p:spPr>
          <a:xfrm>
            <a:off x="594360" y="2377440"/>
            <a:ext cx="5120640" cy="594360"/>
          </a:xfrm>
          <a:prstGeom prst="rect">
            <a:avLst/>
          </a:prstGeom>
          <a:solidFill>
            <a:srgbClr val="04140A"/>
          </a:solidFill>
          <a:ln w="6350">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441448"/>
            <a:ext cx="1828800" cy="502920"/>
          </a:xfrm>
          <a:prstGeom prst="rect">
            <a:avLst/>
          </a:prstGeom>
          <a:noFill/>
        </p:spPr>
        <p:txBody>
          <a:bodyPr wrap="square">
            <a:spAutoFit/>
          </a:bodyPr>
          <a:lstStyle/>
          <a:p>
            <a:pPr algn="l"/>
            <a:r>
              <a:rPr sz="1200" b="1" i="0">
                <a:solidFill>
                  <a:srgbClr val="4ADE80"/>
                </a:solidFill>
                <a:latin typeface="Calibri"/>
              </a:rPr>
              <a:t>  Billing Amount</a:t>
            </a:r>
          </a:p>
        </p:txBody>
      </p:sp>
      <p:sp>
        <p:nvSpPr>
          <p:cNvPr id="14" name="TextBox 13"/>
          <p:cNvSpPr txBox="1"/>
          <p:nvPr/>
        </p:nvSpPr>
        <p:spPr>
          <a:xfrm>
            <a:off x="2514600" y="2441448"/>
            <a:ext cx="3108960" cy="502920"/>
          </a:xfrm>
          <a:prstGeom prst="rect">
            <a:avLst/>
          </a:prstGeom>
          <a:noFill/>
        </p:spPr>
        <p:txBody>
          <a:bodyPr wrap="square">
            <a:spAutoFit/>
          </a:bodyPr>
          <a:lstStyle/>
          <a:p>
            <a:pPr algn="l"/>
            <a:r>
              <a:rPr sz="1100" b="0" i="0">
                <a:solidFill>
                  <a:srgbClr val="94A3B8"/>
                </a:solidFill>
                <a:latin typeface="Calibri"/>
              </a:rPr>
              <a:t>â†’  Total tagihan biaya perawatan ($)</a:t>
            </a:r>
          </a:p>
        </p:txBody>
      </p:sp>
      <p:sp>
        <p:nvSpPr>
          <p:cNvPr id="15" name="Rectangle 14"/>
          <p:cNvSpPr/>
          <p:nvPr/>
        </p:nvSpPr>
        <p:spPr>
          <a:xfrm>
            <a:off x="594360" y="3035808"/>
            <a:ext cx="5120640" cy="594360"/>
          </a:xfrm>
          <a:prstGeom prst="rect">
            <a:avLst/>
          </a:prstGeom>
          <a:solidFill>
            <a:srgbClr val="04140A"/>
          </a:solidFill>
          <a:ln w="6350">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3099816"/>
            <a:ext cx="1828800" cy="502920"/>
          </a:xfrm>
          <a:prstGeom prst="rect">
            <a:avLst/>
          </a:prstGeom>
          <a:noFill/>
        </p:spPr>
        <p:txBody>
          <a:bodyPr wrap="square">
            <a:spAutoFit/>
          </a:bodyPr>
          <a:lstStyle/>
          <a:p>
            <a:pPr algn="l"/>
            <a:r>
              <a:rPr sz="1200" b="1" i="0">
                <a:solidFill>
                  <a:srgbClr val="4ADE80"/>
                </a:solidFill>
                <a:latin typeface="Calibri"/>
              </a:rPr>
              <a:t>  Room Number</a:t>
            </a:r>
          </a:p>
        </p:txBody>
      </p:sp>
      <p:sp>
        <p:nvSpPr>
          <p:cNvPr id="17" name="TextBox 16"/>
          <p:cNvSpPr txBox="1"/>
          <p:nvPr/>
        </p:nvSpPr>
        <p:spPr>
          <a:xfrm>
            <a:off x="2514600" y="3099816"/>
            <a:ext cx="3108960" cy="502920"/>
          </a:xfrm>
          <a:prstGeom prst="rect">
            <a:avLst/>
          </a:prstGeom>
          <a:noFill/>
        </p:spPr>
        <p:txBody>
          <a:bodyPr wrap="square">
            <a:spAutoFit/>
          </a:bodyPr>
          <a:lstStyle/>
          <a:p>
            <a:pPr algn="l"/>
            <a:r>
              <a:rPr sz="1100" b="0" i="0">
                <a:solidFill>
                  <a:srgbClr val="94A3B8"/>
                </a:solidFill>
                <a:latin typeface="Calibri"/>
              </a:rPr>
              <a:t>â†’  Nomor kamar yang ditempati</a:t>
            </a:r>
          </a:p>
        </p:txBody>
      </p:sp>
      <p:sp>
        <p:nvSpPr>
          <p:cNvPr id="18" name="Rectangle 17"/>
          <p:cNvSpPr/>
          <p:nvPr/>
        </p:nvSpPr>
        <p:spPr>
          <a:xfrm>
            <a:off x="594360" y="3694176"/>
            <a:ext cx="5120640" cy="594360"/>
          </a:xfrm>
          <a:prstGeom prst="rect">
            <a:avLst/>
          </a:prstGeom>
          <a:solidFill>
            <a:srgbClr val="04140A"/>
          </a:solidFill>
          <a:ln w="6350">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758184"/>
            <a:ext cx="1828800" cy="502920"/>
          </a:xfrm>
          <a:prstGeom prst="rect">
            <a:avLst/>
          </a:prstGeom>
          <a:noFill/>
        </p:spPr>
        <p:txBody>
          <a:bodyPr wrap="square">
            <a:spAutoFit/>
          </a:bodyPr>
          <a:lstStyle/>
          <a:p>
            <a:pPr algn="l"/>
            <a:r>
              <a:rPr sz="1200" b="1" i="0">
                <a:solidFill>
                  <a:srgbClr val="4ADE80"/>
                </a:solidFill>
                <a:latin typeface="Calibri"/>
              </a:rPr>
              <a:t>  Length of Stay</a:t>
            </a:r>
          </a:p>
        </p:txBody>
      </p:sp>
      <p:sp>
        <p:nvSpPr>
          <p:cNvPr id="20" name="TextBox 19"/>
          <p:cNvSpPr txBox="1"/>
          <p:nvPr/>
        </p:nvSpPr>
        <p:spPr>
          <a:xfrm>
            <a:off x="2514600" y="3758184"/>
            <a:ext cx="3108960" cy="502920"/>
          </a:xfrm>
          <a:prstGeom prst="rect">
            <a:avLst/>
          </a:prstGeom>
          <a:noFill/>
        </p:spPr>
        <p:txBody>
          <a:bodyPr wrap="square">
            <a:spAutoFit/>
          </a:bodyPr>
          <a:lstStyle/>
          <a:p>
            <a:pPr algn="l"/>
            <a:r>
              <a:rPr sz="1100" b="0" i="0">
                <a:solidFill>
                  <a:srgbClr val="94A3B8"/>
                </a:solidFill>
                <a:latin typeface="Calibri"/>
              </a:rPr>
              <a:t>â†’  Lama rawat inap dalam hari
(dihitung dari tanggal masuk hingga keluar)</a:t>
            </a:r>
          </a:p>
        </p:txBody>
      </p:sp>
      <p:sp>
        <p:nvSpPr>
          <p:cNvPr id="21" name="Rectangle 20"/>
          <p:cNvSpPr/>
          <p:nvPr/>
        </p:nvSpPr>
        <p:spPr>
          <a:xfrm>
            <a:off x="594360" y="4389120"/>
            <a:ext cx="5120640" cy="914400"/>
          </a:xfrm>
          <a:prstGeom prst="rect">
            <a:avLst/>
          </a:prstGeom>
          <a:solidFill>
            <a:srgbClr val="041A0E"/>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4480560"/>
            <a:ext cx="5029200" cy="731520"/>
          </a:xfrm>
          <a:prstGeom prst="rect">
            <a:avLst/>
          </a:prstGeom>
          <a:noFill/>
        </p:spPr>
        <p:txBody>
          <a:bodyPr wrap="square">
            <a:spAutoFit/>
          </a:bodyPr>
          <a:lstStyle/>
          <a:p>
            <a:pPr algn="l"/>
            <a:r>
              <a:rPr sz="1200" b="1" i="0">
                <a:solidFill>
                  <a:srgbClr val="F1F5F9"/>
                </a:solidFill>
                <a:latin typeface="Calibri"/>
              </a:rPr>
              <a:t>  ðŸŽ¯  Output: Label Kelompok
  (Cluster 0, Cluster 1, Cluster 2, ...)</a:t>
            </a:r>
          </a:p>
        </p:txBody>
      </p:sp>
      <p:sp>
        <p:nvSpPr>
          <p:cNvPr id="23" name="TextBox 22"/>
          <p:cNvSpPr txBox="1"/>
          <p:nvPr/>
        </p:nvSpPr>
        <p:spPr>
          <a:xfrm>
            <a:off x="621792" y="5230368"/>
            <a:ext cx="5029200" cy="731520"/>
          </a:xfrm>
          <a:prstGeom prst="rect">
            <a:avLst/>
          </a:prstGeom>
          <a:noFill/>
        </p:spPr>
        <p:txBody>
          <a:bodyPr wrap="square">
            <a:spAutoFit/>
          </a:bodyPr>
          <a:lstStyle/>
          <a:p>
            <a:pPr algn="l"/>
            <a:r>
              <a:rPr sz="1100" b="0" i="0">
                <a:solidFill>
                  <a:srgbClr val="94A3B8"/>
                </a:solidFill>
                <a:latin typeface="Calibri"/>
              </a:rPr>
              <a:t>  âš™ï¸  Pra-pemrosesan: Semua data disamakan skalanya
  agar tidak ada kolom yang mendominasi pengelompokan</a:t>
            </a:r>
          </a:p>
        </p:txBody>
      </p:sp>
      <p:sp>
        <p:nvSpPr>
          <p:cNvPr id="24" name="Rectangle 23"/>
          <p:cNvSpPr/>
          <p:nvPr/>
        </p:nvSpPr>
        <p:spPr>
          <a:xfrm>
            <a:off x="6172200" y="777240"/>
            <a:ext cx="5669280" cy="5760720"/>
          </a:xfrm>
          <a:prstGeom prst="rect">
            <a:avLst/>
          </a:prstGeom>
          <a:solidFill>
            <a:srgbClr val="0D1224"/>
          </a:solidFill>
          <a:ln w="9525">
            <a:solidFill>
              <a:srgbClr val="184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777240"/>
            <a:ext cx="54864" cy="576072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850392"/>
            <a:ext cx="5394960" cy="457200"/>
          </a:xfrm>
          <a:prstGeom prst="rect">
            <a:avLst/>
          </a:prstGeom>
          <a:noFill/>
        </p:spPr>
        <p:txBody>
          <a:bodyPr wrap="square">
            <a:spAutoFit/>
          </a:bodyPr>
          <a:lstStyle/>
          <a:p>
            <a:pPr algn="l"/>
            <a:r>
              <a:rPr sz="1400" b="1" i="0">
                <a:solidFill>
                  <a:srgbClr val="4ADE80"/>
                </a:solidFill>
                <a:latin typeface="Calibri"/>
              </a:rPr>
              <a:t>âš™ï¸  Cara Kerja</a:t>
            </a:r>
          </a:p>
        </p:txBody>
      </p:sp>
      <p:sp>
        <p:nvSpPr>
          <p:cNvPr id="27" name="Rectangle 26"/>
          <p:cNvSpPr/>
          <p:nvPr/>
        </p:nvSpPr>
        <p:spPr>
          <a:xfrm>
            <a:off x="6355080" y="1325880"/>
            <a:ext cx="411480" cy="4114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1362456"/>
            <a:ext cx="411480" cy="384048"/>
          </a:xfrm>
          <a:prstGeom prst="rect">
            <a:avLst/>
          </a:prstGeom>
          <a:noFill/>
        </p:spPr>
        <p:txBody>
          <a:bodyPr wrap="square">
            <a:spAutoFit/>
          </a:bodyPr>
          <a:lstStyle/>
          <a:p>
            <a:pPr algn="ctr"/>
            <a:r>
              <a:rPr sz="1400" b="1" i="0">
                <a:solidFill>
                  <a:srgbClr val="0A0E1A"/>
                </a:solidFill>
                <a:latin typeface="Calibri"/>
              </a:rPr>
              <a:t>1</a:t>
            </a:r>
          </a:p>
        </p:txBody>
      </p:sp>
      <p:sp>
        <p:nvSpPr>
          <p:cNvPr id="29" name="TextBox 28"/>
          <p:cNvSpPr txBox="1"/>
          <p:nvPr/>
        </p:nvSpPr>
        <p:spPr>
          <a:xfrm>
            <a:off x="6839712" y="1325880"/>
            <a:ext cx="4754880" cy="347472"/>
          </a:xfrm>
          <a:prstGeom prst="rect">
            <a:avLst/>
          </a:prstGeom>
          <a:noFill/>
        </p:spPr>
        <p:txBody>
          <a:bodyPr wrap="square">
            <a:spAutoFit/>
          </a:bodyPr>
          <a:lstStyle/>
          <a:p>
            <a:pPr algn="l"/>
            <a:r>
              <a:rPr sz="1200" b="1" i="0">
                <a:solidFill>
                  <a:srgbClr val="F1F5F9"/>
                </a:solidFill>
                <a:latin typeface="Calibri"/>
              </a:rPr>
              <a:t>Hitung Lama Rawat</a:t>
            </a:r>
          </a:p>
        </p:txBody>
      </p:sp>
      <p:sp>
        <p:nvSpPr>
          <p:cNvPr id="30" name="TextBox 29"/>
          <p:cNvSpPr txBox="1"/>
          <p:nvPr/>
        </p:nvSpPr>
        <p:spPr>
          <a:xfrm>
            <a:off x="6839712" y="1664208"/>
            <a:ext cx="4754880" cy="457200"/>
          </a:xfrm>
          <a:prstGeom prst="rect">
            <a:avLst/>
          </a:prstGeom>
          <a:noFill/>
        </p:spPr>
        <p:txBody>
          <a:bodyPr wrap="square">
            <a:spAutoFit/>
          </a:bodyPr>
          <a:lstStyle/>
          <a:p>
            <a:pPr algn="l"/>
            <a:r>
              <a:rPr sz="1100" b="0" i="0">
                <a:solidFill>
                  <a:srgbClr val="94A3B8"/>
                </a:solidFill>
                <a:latin typeface="Calibri"/>
              </a:rPr>
              <a:t>Dari tanggal masuk dan keluar, kita hitung berapa hari setiap pasien dirawat</a:t>
            </a:r>
          </a:p>
        </p:txBody>
      </p:sp>
      <p:sp>
        <p:nvSpPr>
          <p:cNvPr id="31" name="Rectangle 30"/>
          <p:cNvSpPr/>
          <p:nvPr/>
        </p:nvSpPr>
        <p:spPr>
          <a:xfrm>
            <a:off x="6355080" y="2121408"/>
            <a:ext cx="411480" cy="4114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2157984"/>
            <a:ext cx="411480" cy="384048"/>
          </a:xfrm>
          <a:prstGeom prst="rect">
            <a:avLst/>
          </a:prstGeom>
          <a:noFill/>
        </p:spPr>
        <p:txBody>
          <a:bodyPr wrap="square">
            <a:spAutoFit/>
          </a:bodyPr>
          <a:lstStyle/>
          <a:p>
            <a:pPr algn="ctr"/>
            <a:r>
              <a:rPr sz="1400" b="1" i="0">
                <a:solidFill>
                  <a:srgbClr val="0A0E1A"/>
                </a:solidFill>
                <a:latin typeface="Calibri"/>
              </a:rPr>
              <a:t>2</a:t>
            </a:r>
          </a:p>
        </p:txBody>
      </p:sp>
      <p:sp>
        <p:nvSpPr>
          <p:cNvPr id="33" name="TextBox 32"/>
          <p:cNvSpPr txBox="1"/>
          <p:nvPr/>
        </p:nvSpPr>
        <p:spPr>
          <a:xfrm>
            <a:off x="6839712" y="2121408"/>
            <a:ext cx="4754880" cy="347472"/>
          </a:xfrm>
          <a:prstGeom prst="rect">
            <a:avLst/>
          </a:prstGeom>
          <a:noFill/>
        </p:spPr>
        <p:txBody>
          <a:bodyPr wrap="square">
            <a:spAutoFit/>
          </a:bodyPr>
          <a:lstStyle/>
          <a:p>
            <a:pPr algn="l"/>
            <a:r>
              <a:rPr sz="1200" b="1" i="0">
                <a:solidFill>
                  <a:srgbClr val="F1F5F9"/>
                </a:solidFill>
                <a:latin typeface="Calibri"/>
              </a:rPr>
              <a:t>Samakan Skala Data</a:t>
            </a:r>
          </a:p>
        </p:txBody>
      </p:sp>
      <p:sp>
        <p:nvSpPr>
          <p:cNvPr id="34" name="TextBox 33"/>
          <p:cNvSpPr txBox="1"/>
          <p:nvPr/>
        </p:nvSpPr>
        <p:spPr>
          <a:xfrm>
            <a:off x="6839712" y="2459736"/>
            <a:ext cx="4754880" cy="457200"/>
          </a:xfrm>
          <a:prstGeom prst="rect">
            <a:avLst/>
          </a:prstGeom>
          <a:noFill/>
        </p:spPr>
        <p:txBody>
          <a:bodyPr wrap="square">
            <a:spAutoFit/>
          </a:bodyPr>
          <a:lstStyle/>
          <a:p>
            <a:pPr algn="l"/>
            <a:r>
              <a:rPr sz="1100" b="0" i="0">
                <a:solidFill>
                  <a:srgbClr val="94A3B8"/>
                </a:solidFill>
                <a:latin typeface="Calibri"/>
              </a:rPr>
              <a:t>Karena umur, tagihan, dan hari rawat punya satuan berbeda, semua diseragamkan</a:t>
            </a:r>
          </a:p>
        </p:txBody>
      </p:sp>
      <p:sp>
        <p:nvSpPr>
          <p:cNvPr id="35" name="Rectangle 34"/>
          <p:cNvSpPr/>
          <p:nvPr/>
        </p:nvSpPr>
        <p:spPr>
          <a:xfrm>
            <a:off x="6355080" y="2916936"/>
            <a:ext cx="411480" cy="4114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2953512"/>
            <a:ext cx="411480" cy="384048"/>
          </a:xfrm>
          <a:prstGeom prst="rect">
            <a:avLst/>
          </a:prstGeom>
          <a:noFill/>
        </p:spPr>
        <p:txBody>
          <a:bodyPr wrap="square">
            <a:spAutoFit/>
          </a:bodyPr>
          <a:lstStyle/>
          <a:p>
            <a:pPr algn="ctr"/>
            <a:r>
              <a:rPr sz="1400" b="1" i="0">
                <a:solidFill>
                  <a:srgbClr val="0A0E1A"/>
                </a:solidFill>
                <a:latin typeface="Calibri"/>
              </a:rPr>
              <a:t>3</a:t>
            </a:r>
          </a:p>
        </p:txBody>
      </p:sp>
      <p:sp>
        <p:nvSpPr>
          <p:cNvPr id="37" name="TextBox 36"/>
          <p:cNvSpPr txBox="1"/>
          <p:nvPr/>
        </p:nvSpPr>
        <p:spPr>
          <a:xfrm>
            <a:off x="6839712" y="2916936"/>
            <a:ext cx="4754880" cy="347472"/>
          </a:xfrm>
          <a:prstGeom prst="rect">
            <a:avLst/>
          </a:prstGeom>
          <a:noFill/>
        </p:spPr>
        <p:txBody>
          <a:bodyPr wrap="square">
            <a:spAutoFit/>
          </a:bodyPr>
          <a:lstStyle/>
          <a:p>
            <a:pPr algn="l"/>
            <a:r>
              <a:rPr sz="1200" b="1" i="0">
                <a:solidFill>
                  <a:srgbClr val="F1F5F9"/>
                </a:solidFill>
                <a:latin typeface="Calibri"/>
              </a:rPr>
              <a:t>Cari Jumlah Kelompok</a:t>
            </a:r>
          </a:p>
        </p:txBody>
      </p:sp>
      <p:sp>
        <p:nvSpPr>
          <p:cNvPr id="38" name="TextBox 37"/>
          <p:cNvSpPr txBox="1"/>
          <p:nvPr/>
        </p:nvSpPr>
        <p:spPr>
          <a:xfrm>
            <a:off x="6839712" y="3255264"/>
            <a:ext cx="4754880" cy="457200"/>
          </a:xfrm>
          <a:prstGeom prst="rect">
            <a:avLst/>
          </a:prstGeom>
          <a:noFill/>
        </p:spPr>
        <p:txBody>
          <a:bodyPr wrap="square">
            <a:spAutoFit/>
          </a:bodyPr>
          <a:lstStyle/>
          <a:p>
            <a:pPr algn="l"/>
            <a:r>
              <a:rPr sz="1100" b="0" i="0">
                <a:solidFill>
                  <a:srgbClr val="94A3B8"/>
                </a:solidFill>
                <a:latin typeface="Calibri"/>
              </a:rPr>
              <a:t>Dicoba 2 s.d. 10 kelompok â†’ dipilih yang paling baik pemisahannya (Elbow Method)</a:t>
            </a:r>
          </a:p>
        </p:txBody>
      </p:sp>
      <p:sp>
        <p:nvSpPr>
          <p:cNvPr id="39" name="Rectangle 38"/>
          <p:cNvSpPr/>
          <p:nvPr/>
        </p:nvSpPr>
        <p:spPr>
          <a:xfrm>
            <a:off x="6355080" y="3712464"/>
            <a:ext cx="411480" cy="4114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749040"/>
            <a:ext cx="411480" cy="384048"/>
          </a:xfrm>
          <a:prstGeom prst="rect">
            <a:avLst/>
          </a:prstGeom>
          <a:noFill/>
        </p:spPr>
        <p:txBody>
          <a:bodyPr wrap="square">
            <a:spAutoFit/>
          </a:bodyPr>
          <a:lstStyle/>
          <a:p>
            <a:pPr algn="ctr"/>
            <a:r>
              <a:rPr sz="1400" b="1" i="0">
                <a:solidFill>
                  <a:srgbClr val="0A0E1A"/>
                </a:solidFill>
                <a:latin typeface="Calibri"/>
              </a:rPr>
              <a:t>4</a:t>
            </a:r>
          </a:p>
        </p:txBody>
      </p:sp>
      <p:sp>
        <p:nvSpPr>
          <p:cNvPr id="41" name="TextBox 40"/>
          <p:cNvSpPr txBox="1"/>
          <p:nvPr/>
        </p:nvSpPr>
        <p:spPr>
          <a:xfrm>
            <a:off x="6839712" y="3712464"/>
            <a:ext cx="4754880" cy="347472"/>
          </a:xfrm>
          <a:prstGeom prst="rect">
            <a:avLst/>
          </a:prstGeom>
          <a:noFill/>
        </p:spPr>
        <p:txBody>
          <a:bodyPr wrap="square">
            <a:spAutoFit/>
          </a:bodyPr>
          <a:lstStyle/>
          <a:p>
            <a:pPr algn="l"/>
            <a:r>
              <a:rPr sz="1200" b="1" i="0">
                <a:solidFill>
                  <a:srgbClr val="F1F5F9"/>
                </a:solidFill>
                <a:latin typeface="Calibri"/>
              </a:rPr>
              <a:t>Kelompokkan Pasien</a:t>
            </a:r>
          </a:p>
        </p:txBody>
      </p:sp>
      <p:sp>
        <p:nvSpPr>
          <p:cNvPr id="42" name="TextBox 41"/>
          <p:cNvSpPr txBox="1"/>
          <p:nvPr/>
        </p:nvSpPr>
        <p:spPr>
          <a:xfrm>
            <a:off x="6839712" y="4050792"/>
            <a:ext cx="4754880" cy="457200"/>
          </a:xfrm>
          <a:prstGeom prst="rect">
            <a:avLst/>
          </a:prstGeom>
          <a:noFill/>
        </p:spPr>
        <p:txBody>
          <a:bodyPr wrap="square">
            <a:spAutoFit/>
          </a:bodyPr>
          <a:lstStyle/>
          <a:p>
            <a:pPr algn="l"/>
            <a:r>
              <a:rPr sz="1100" b="0" i="0">
                <a:solidFill>
                  <a:srgbClr val="94A3B8"/>
                </a:solidFill>
                <a:latin typeface="Calibri"/>
              </a:rPr>
              <a:t>Tiap pasien dimasukkan ke kelompok yang paling mirip profilnya secara otomatis</a:t>
            </a:r>
          </a:p>
        </p:txBody>
      </p:sp>
      <p:sp>
        <p:nvSpPr>
          <p:cNvPr id="43" name="Rectangle 42"/>
          <p:cNvSpPr/>
          <p:nvPr/>
        </p:nvSpPr>
        <p:spPr>
          <a:xfrm>
            <a:off x="6355080" y="4507992"/>
            <a:ext cx="411480" cy="4114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4544568"/>
            <a:ext cx="411480" cy="384048"/>
          </a:xfrm>
          <a:prstGeom prst="rect">
            <a:avLst/>
          </a:prstGeom>
          <a:noFill/>
        </p:spPr>
        <p:txBody>
          <a:bodyPr wrap="square">
            <a:spAutoFit/>
          </a:bodyPr>
          <a:lstStyle/>
          <a:p>
            <a:pPr algn="ctr"/>
            <a:r>
              <a:rPr sz="1400" b="1" i="0">
                <a:solidFill>
                  <a:srgbClr val="0A0E1A"/>
                </a:solidFill>
                <a:latin typeface="Calibri"/>
              </a:rPr>
              <a:t>5</a:t>
            </a:r>
          </a:p>
        </p:txBody>
      </p:sp>
      <p:sp>
        <p:nvSpPr>
          <p:cNvPr id="45" name="TextBox 44"/>
          <p:cNvSpPr txBox="1"/>
          <p:nvPr/>
        </p:nvSpPr>
        <p:spPr>
          <a:xfrm>
            <a:off x="6839712" y="4507992"/>
            <a:ext cx="4754880" cy="347472"/>
          </a:xfrm>
          <a:prstGeom prst="rect">
            <a:avLst/>
          </a:prstGeom>
          <a:noFill/>
        </p:spPr>
        <p:txBody>
          <a:bodyPr wrap="square">
            <a:spAutoFit/>
          </a:bodyPr>
          <a:lstStyle/>
          <a:p>
            <a:pPr algn="l"/>
            <a:r>
              <a:rPr sz="1200" b="1" i="0">
                <a:solidFill>
                  <a:srgbClr val="F1F5F9"/>
                </a:solidFill>
                <a:latin typeface="Calibri"/>
              </a:rPr>
              <a:t>Analisis Tiap Kelompok</a:t>
            </a:r>
          </a:p>
        </p:txBody>
      </p:sp>
      <p:sp>
        <p:nvSpPr>
          <p:cNvPr id="46" name="TextBox 45"/>
          <p:cNvSpPr txBox="1"/>
          <p:nvPr/>
        </p:nvSpPr>
        <p:spPr>
          <a:xfrm>
            <a:off x="6839712" y="4846320"/>
            <a:ext cx="4754880" cy="457200"/>
          </a:xfrm>
          <a:prstGeom prst="rect">
            <a:avLst/>
          </a:prstGeom>
          <a:noFill/>
        </p:spPr>
        <p:txBody>
          <a:bodyPr wrap="square">
            <a:spAutoFit/>
          </a:bodyPr>
          <a:lstStyle/>
          <a:p>
            <a:pPr algn="l"/>
            <a:r>
              <a:rPr sz="1100" b="0" i="0">
                <a:solidFill>
                  <a:srgbClr val="94A3B8"/>
                </a:solidFill>
                <a:latin typeface="Calibri"/>
              </a:rPr>
              <a:t>Ciri-ciri tiap kelompok dianalisis (misalnya: pasien muda tagihan rendah, pasien lansia tagihan tinggi)</a:t>
            </a:r>
          </a:p>
        </p:txBody>
      </p:sp>
      <p:sp>
        <p:nvSpPr>
          <p:cNvPr id="47" name="Rectangle 46"/>
          <p:cNvSpPr/>
          <p:nvPr/>
        </p:nvSpPr>
        <p:spPr>
          <a:xfrm>
            <a:off x="6355080" y="5303520"/>
            <a:ext cx="411480" cy="4114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55080" y="5340096"/>
            <a:ext cx="411480" cy="384048"/>
          </a:xfrm>
          <a:prstGeom prst="rect">
            <a:avLst/>
          </a:prstGeom>
          <a:noFill/>
        </p:spPr>
        <p:txBody>
          <a:bodyPr wrap="square">
            <a:spAutoFit/>
          </a:bodyPr>
          <a:lstStyle/>
          <a:p>
            <a:pPr algn="ctr"/>
            <a:r>
              <a:rPr sz="1400" b="1" i="0">
                <a:solidFill>
                  <a:srgbClr val="0A0E1A"/>
                </a:solidFill>
                <a:latin typeface="Calibri"/>
              </a:rPr>
              <a:t>6</a:t>
            </a:r>
          </a:p>
        </p:txBody>
      </p:sp>
      <p:sp>
        <p:nvSpPr>
          <p:cNvPr id="49" name="TextBox 48"/>
          <p:cNvSpPr txBox="1"/>
          <p:nvPr/>
        </p:nvSpPr>
        <p:spPr>
          <a:xfrm>
            <a:off x="6839712" y="5303520"/>
            <a:ext cx="4754880" cy="347472"/>
          </a:xfrm>
          <a:prstGeom prst="rect">
            <a:avLst/>
          </a:prstGeom>
          <a:noFill/>
        </p:spPr>
        <p:txBody>
          <a:bodyPr wrap="square">
            <a:spAutoFit/>
          </a:bodyPr>
          <a:lstStyle/>
          <a:p>
            <a:pPr algn="l"/>
            <a:r>
              <a:rPr sz="1200" b="1" i="0">
                <a:solidFill>
                  <a:srgbClr val="F1F5F9"/>
                </a:solidFill>
                <a:latin typeface="Calibri"/>
              </a:rPr>
              <a:t>Tampilkan Visual</a:t>
            </a:r>
          </a:p>
        </p:txBody>
      </p:sp>
      <p:sp>
        <p:nvSpPr>
          <p:cNvPr id="50" name="TextBox 49"/>
          <p:cNvSpPr txBox="1"/>
          <p:nvPr/>
        </p:nvSpPr>
        <p:spPr>
          <a:xfrm>
            <a:off x="6839712" y="5641848"/>
            <a:ext cx="4754880" cy="457200"/>
          </a:xfrm>
          <a:prstGeom prst="rect">
            <a:avLst/>
          </a:prstGeom>
          <a:noFill/>
        </p:spPr>
        <p:txBody>
          <a:bodyPr wrap="square">
            <a:spAutoFit/>
          </a:bodyPr>
          <a:lstStyle/>
          <a:p>
            <a:pPr algn="l"/>
            <a:r>
              <a:rPr sz="1100" b="0" i="0">
                <a:solidFill>
                  <a:srgbClr val="94A3B8"/>
                </a:solidFill>
                <a:latin typeface="Calibri"/>
              </a:rPr>
              <a:t>Kelompok divisualisasikan dalam grafik 2D (PCA) agar mudah dipahami semua pihak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17 / 22</a:t>
            </a:r>
          </a:p>
        </p:txBody>
      </p:sp>
      <p:sp>
        <p:nvSpPr>
          <p:cNvPr id="4" name="TextBox 3"/>
          <p:cNvSpPr txBox="1"/>
          <p:nvPr/>
        </p:nvSpPr>
        <p:spPr>
          <a:xfrm>
            <a:off x="457200" y="137160"/>
            <a:ext cx="10972800" cy="502920"/>
          </a:xfrm>
          <a:prstGeom prst="rect">
            <a:avLst/>
          </a:prstGeom>
          <a:noFill/>
        </p:spPr>
        <p:txBody>
          <a:bodyPr wrap="square">
            <a:spAutoFit/>
          </a:bodyPr>
          <a:lstStyle/>
          <a:p>
            <a:pPr algn="l"/>
            <a:r>
              <a:rPr sz="2200" b="1" i="0">
                <a:solidFill>
                  <a:srgbClr val="F1F5F9"/>
                </a:solidFill>
                <a:latin typeface="Calibri"/>
              </a:rPr>
              <a:t>06  Rancangan 3: Clustering</a:t>
            </a:r>
          </a:p>
        </p:txBody>
      </p:sp>
      <p:sp>
        <p:nvSpPr>
          <p:cNvPr id="5" name="TextBox 4"/>
          <p:cNvSpPr txBox="1"/>
          <p:nvPr/>
        </p:nvSpPr>
        <p:spPr>
          <a:xfrm>
            <a:off x="457200" y="658368"/>
            <a:ext cx="11430000" cy="475488"/>
          </a:xfrm>
          <a:prstGeom prst="rect">
            <a:avLst/>
          </a:prstGeom>
          <a:noFill/>
        </p:spPr>
        <p:txBody>
          <a:bodyPr wrap="square">
            <a:spAutoFit/>
          </a:bodyPr>
          <a:lstStyle/>
          <a:p>
            <a:pPr algn="l"/>
            <a:r>
              <a:rPr sz="1500" b="1" i="0">
                <a:solidFill>
                  <a:srgbClr val="4ADE80"/>
                </a:solidFill>
                <a:latin typeface="Calibri"/>
              </a:rPr>
              <a:t>ðŸŽ¯  Fungsi dalam Mendukung Pengambilan Keputusan Rumah Sakit</a:t>
            </a:r>
          </a:p>
        </p:txBody>
      </p:sp>
      <p:sp>
        <p:nvSpPr>
          <p:cNvPr id="6" name="Rectangle 5"/>
          <p:cNvSpPr/>
          <p:nvPr/>
        </p:nvSpPr>
        <p:spPr>
          <a:xfrm>
            <a:off x="365760" y="1234440"/>
            <a:ext cx="5577840" cy="1691640"/>
          </a:xfrm>
          <a:prstGeom prst="rect">
            <a:avLst/>
          </a:prstGeom>
          <a:solidFill>
            <a:srgbClr val="0D1224"/>
          </a:solidFill>
          <a:ln w="9525">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64008" cy="169164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44168"/>
            <a:ext cx="5212080" cy="411480"/>
          </a:xfrm>
          <a:prstGeom prst="rect">
            <a:avLst/>
          </a:prstGeom>
          <a:noFill/>
        </p:spPr>
        <p:txBody>
          <a:bodyPr wrap="square">
            <a:spAutoFit/>
          </a:bodyPr>
          <a:lstStyle/>
          <a:p>
            <a:pPr algn="l"/>
            <a:r>
              <a:rPr sz="1300" b="1" i="0">
                <a:solidFill>
                  <a:srgbClr val="4ADE80"/>
                </a:solidFill>
                <a:latin typeface="Calibri"/>
              </a:rPr>
              <a:t>ðŸŽ¯  Layanan yang Lebih Personal</a:t>
            </a:r>
          </a:p>
        </p:txBody>
      </p:sp>
      <p:sp>
        <p:nvSpPr>
          <p:cNvPr id="9" name="TextBox 8"/>
          <p:cNvSpPr txBox="1"/>
          <p:nvPr/>
        </p:nvSpPr>
        <p:spPr>
          <a:xfrm>
            <a:off x="548640" y="1755647"/>
            <a:ext cx="5212080" cy="1051560"/>
          </a:xfrm>
          <a:prstGeom prst="rect">
            <a:avLst/>
          </a:prstGeom>
          <a:noFill/>
        </p:spPr>
        <p:txBody>
          <a:bodyPr wrap="square">
            <a:spAutoFit/>
          </a:bodyPr>
          <a:lstStyle/>
          <a:p>
            <a:pPr algn="l"/>
            <a:r>
              <a:rPr sz="1200" b="0" i="0">
                <a:solidFill>
                  <a:srgbClr val="94A3B8"/>
                </a:solidFill>
                <a:latin typeface="Calibri"/>
              </a:rPr>
              <a:t>Setiap kelompok pasien mendapatkan pelayanan yang sesuai dengan kebutuhan dan kondisi mereka â€” bukan satu layanan yang sama untuk semua pasien.</a:t>
            </a:r>
          </a:p>
        </p:txBody>
      </p:sp>
      <p:sp>
        <p:nvSpPr>
          <p:cNvPr id="10" name="Rectangle 9"/>
          <p:cNvSpPr/>
          <p:nvPr/>
        </p:nvSpPr>
        <p:spPr>
          <a:xfrm>
            <a:off x="6217920" y="1234440"/>
            <a:ext cx="5577840" cy="1691640"/>
          </a:xfrm>
          <a:prstGeom prst="rect">
            <a:avLst/>
          </a:prstGeom>
          <a:solidFill>
            <a:srgbClr val="0D1224"/>
          </a:solidFill>
          <a:ln w="9525">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234440"/>
            <a:ext cx="64008" cy="169164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44168"/>
            <a:ext cx="5212080" cy="411480"/>
          </a:xfrm>
          <a:prstGeom prst="rect">
            <a:avLst/>
          </a:prstGeom>
          <a:noFill/>
        </p:spPr>
        <p:txBody>
          <a:bodyPr wrap="square">
            <a:spAutoFit/>
          </a:bodyPr>
          <a:lstStyle/>
          <a:p>
            <a:pPr algn="l"/>
            <a:r>
              <a:rPr sz="1300" b="1" i="0">
                <a:solidFill>
                  <a:srgbClr val="4ADE80"/>
                </a:solidFill>
                <a:latin typeface="Calibri"/>
              </a:rPr>
              <a:t>ðŸŽª  Program Kesehatan Tepat Sasaran</a:t>
            </a:r>
          </a:p>
        </p:txBody>
      </p:sp>
      <p:sp>
        <p:nvSpPr>
          <p:cNvPr id="13" name="TextBox 12"/>
          <p:cNvSpPr txBox="1"/>
          <p:nvPr/>
        </p:nvSpPr>
        <p:spPr>
          <a:xfrm>
            <a:off x="6400800" y="1755647"/>
            <a:ext cx="5212080" cy="1051560"/>
          </a:xfrm>
          <a:prstGeom prst="rect">
            <a:avLst/>
          </a:prstGeom>
          <a:noFill/>
        </p:spPr>
        <p:txBody>
          <a:bodyPr wrap="square">
            <a:spAutoFit/>
          </a:bodyPr>
          <a:lstStyle/>
          <a:p>
            <a:pPr algn="l"/>
            <a:r>
              <a:rPr sz="1200" b="0" i="0">
                <a:solidFill>
                  <a:srgbClr val="94A3B8"/>
                </a:solidFill>
                <a:latin typeface="Calibri"/>
              </a:rPr>
              <a:t>Kelompok pasien lansia bisa ditawarkan paket perawatan khusus, sedangkan kelompok pasien muda bisa mendapat program pencegahan penyakit yang berbeda.</a:t>
            </a:r>
          </a:p>
        </p:txBody>
      </p:sp>
      <p:sp>
        <p:nvSpPr>
          <p:cNvPr id="14" name="Rectangle 13"/>
          <p:cNvSpPr/>
          <p:nvPr/>
        </p:nvSpPr>
        <p:spPr>
          <a:xfrm>
            <a:off x="365760" y="3063240"/>
            <a:ext cx="5577840" cy="1691640"/>
          </a:xfrm>
          <a:prstGeom prst="rect">
            <a:avLst/>
          </a:prstGeom>
          <a:solidFill>
            <a:srgbClr val="0D1224"/>
          </a:solidFill>
          <a:ln w="9525">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063240"/>
            <a:ext cx="64008" cy="169164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172968"/>
            <a:ext cx="5212080" cy="411480"/>
          </a:xfrm>
          <a:prstGeom prst="rect">
            <a:avLst/>
          </a:prstGeom>
          <a:noFill/>
        </p:spPr>
        <p:txBody>
          <a:bodyPr wrap="square">
            <a:spAutoFit/>
          </a:bodyPr>
          <a:lstStyle/>
          <a:p>
            <a:pPr algn="l"/>
            <a:r>
              <a:rPr sz="1300" b="1" i="0">
                <a:solidFill>
                  <a:srgbClr val="4ADE80"/>
                </a:solidFill>
                <a:latin typeface="Calibri"/>
              </a:rPr>
              <a:t>ðŸ¥  Atur Kapasitas &amp; Sumber Daya</a:t>
            </a:r>
          </a:p>
        </p:txBody>
      </p:sp>
      <p:sp>
        <p:nvSpPr>
          <p:cNvPr id="17" name="TextBox 16"/>
          <p:cNvSpPr txBox="1"/>
          <p:nvPr/>
        </p:nvSpPr>
        <p:spPr>
          <a:xfrm>
            <a:off x="548640" y="3584447"/>
            <a:ext cx="5212080" cy="1051560"/>
          </a:xfrm>
          <a:prstGeom prst="rect">
            <a:avLst/>
          </a:prstGeom>
          <a:noFill/>
        </p:spPr>
        <p:txBody>
          <a:bodyPr wrap="square">
            <a:spAutoFit/>
          </a:bodyPr>
          <a:lstStyle/>
          <a:p>
            <a:pPr algn="l"/>
            <a:r>
              <a:rPr sz="1200" b="0" i="0">
                <a:solidFill>
                  <a:srgbClr val="94A3B8"/>
                </a:solidFill>
                <a:latin typeface="Calibri"/>
              </a:rPr>
              <a:t>Jika satu kelompok pasien biasanya membutuhkan rawat inap yang lama, rumah sakit bisa menyiapkan lebih banyak kamar dan tenaga medis untuk mereka.</a:t>
            </a:r>
          </a:p>
        </p:txBody>
      </p:sp>
      <p:sp>
        <p:nvSpPr>
          <p:cNvPr id="18" name="Rectangle 17"/>
          <p:cNvSpPr/>
          <p:nvPr/>
        </p:nvSpPr>
        <p:spPr>
          <a:xfrm>
            <a:off x="6217920" y="3063240"/>
            <a:ext cx="5577840" cy="1691640"/>
          </a:xfrm>
          <a:prstGeom prst="rect">
            <a:avLst/>
          </a:prstGeom>
          <a:solidFill>
            <a:srgbClr val="0D1224"/>
          </a:solidFill>
          <a:ln w="9525">
            <a:solidFill>
              <a:srgbClr val="066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063240"/>
            <a:ext cx="64008" cy="169164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172968"/>
            <a:ext cx="5212080" cy="411480"/>
          </a:xfrm>
          <a:prstGeom prst="rect">
            <a:avLst/>
          </a:prstGeom>
          <a:noFill/>
        </p:spPr>
        <p:txBody>
          <a:bodyPr wrap="square">
            <a:spAutoFit/>
          </a:bodyPr>
          <a:lstStyle/>
          <a:p>
            <a:pPr algn="l"/>
            <a:r>
              <a:rPr sz="1300" b="1" i="0">
                <a:solidFill>
                  <a:srgbClr val="4ADE80"/>
                </a:solidFill>
                <a:latin typeface="Calibri"/>
              </a:rPr>
              <a:t>ðŸ”  Temukan Pasien yang Tidak Biasa</a:t>
            </a:r>
          </a:p>
        </p:txBody>
      </p:sp>
      <p:sp>
        <p:nvSpPr>
          <p:cNvPr id="21" name="TextBox 20"/>
          <p:cNvSpPr txBox="1"/>
          <p:nvPr/>
        </p:nvSpPr>
        <p:spPr>
          <a:xfrm>
            <a:off x="6400800" y="3584447"/>
            <a:ext cx="5212080" cy="1051560"/>
          </a:xfrm>
          <a:prstGeom prst="rect">
            <a:avLst/>
          </a:prstGeom>
          <a:noFill/>
        </p:spPr>
        <p:txBody>
          <a:bodyPr wrap="square">
            <a:spAutoFit/>
          </a:bodyPr>
          <a:lstStyle/>
          <a:p>
            <a:pPr algn="l"/>
            <a:r>
              <a:rPr sz="1200" b="0" i="0">
                <a:solidFill>
                  <a:srgbClr val="94A3B8"/>
                </a:solidFill>
                <a:latin typeface="Calibri"/>
              </a:rPr>
              <a:t>Pasien yang profilnya sangat berbeda dari kelompok manapun dapat langsung mendapat perhatian dan pemeriksaan khusus dari tenaga medis.</a:t>
            </a:r>
          </a:p>
        </p:txBody>
      </p:sp>
      <p:sp>
        <p:nvSpPr>
          <p:cNvPr id="22" name="Rectangle 21"/>
          <p:cNvSpPr/>
          <p:nvPr/>
        </p:nvSpPr>
        <p:spPr>
          <a:xfrm>
            <a:off x="365760" y="4956048"/>
            <a:ext cx="11430000" cy="1691640"/>
          </a:xfrm>
          <a:prstGeom prst="rect">
            <a:avLst/>
          </a:prstGeom>
          <a:solidFill>
            <a:srgbClr val="0D1224"/>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577840"/>
            <a:ext cx="11430000" cy="548640"/>
          </a:xfrm>
          <a:prstGeom prst="rect">
            <a:avLst/>
          </a:prstGeom>
          <a:noFill/>
        </p:spPr>
        <p:txBody>
          <a:bodyPr wrap="square">
            <a:spAutoFit/>
          </a:bodyPr>
          <a:lstStyle/>
          <a:p>
            <a:pPr algn="ctr"/>
            <a:r>
              <a:rPr sz="1300" b="0" i="1">
                <a:solidFill>
                  <a:srgbClr val="94A3B8"/>
                </a:solidFill>
                <a:latin typeface="Calibri"/>
              </a:rPr>
              <a:t>[ Screenshot Halaman Clustering â€” http://localhost:8501/3_Clustering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18 / 22</a:t>
            </a:r>
          </a:p>
        </p:txBody>
      </p:sp>
      <p:sp>
        <p:nvSpPr>
          <p:cNvPr id="4" name="TextBox 3"/>
          <p:cNvSpPr txBox="1"/>
          <p:nvPr/>
        </p:nvSpPr>
        <p:spPr>
          <a:xfrm>
            <a:off x="457200" y="182880"/>
            <a:ext cx="11430000" cy="594360"/>
          </a:xfrm>
          <a:prstGeom prst="rect">
            <a:avLst/>
          </a:prstGeom>
          <a:noFill/>
        </p:spPr>
        <p:txBody>
          <a:bodyPr wrap="square">
            <a:spAutoFit/>
          </a:bodyPr>
          <a:lstStyle/>
          <a:p>
            <a:pPr algn="l"/>
            <a:r>
              <a:rPr sz="2600" b="1" i="0">
                <a:solidFill>
                  <a:srgbClr val="F1F5F9"/>
                </a:solidFill>
                <a:latin typeface="Calibri"/>
              </a:rPr>
              <a:t>Perbandingan 3 Rancangan Data Mining</a:t>
            </a:r>
          </a:p>
        </p:txBody>
      </p:sp>
      <p:sp>
        <p:nvSpPr>
          <p:cNvPr id="5" name="Rectangle 4"/>
          <p:cNvSpPr/>
          <p:nvPr/>
        </p:nvSpPr>
        <p:spPr>
          <a:xfrm>
            <a:off x="457200" y="777240"/>
            <a:ext cx="5486400" cy="457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2103120" cy="43891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969264"/>
            <a:ext cx="2103120" cy="347472"/>
          </a:xfrm>
          <a:prstGeom prst="rect">
            <a:avLst/>
          </a:prstGeom>
          <a:noFill/>
        </p:spPr>
        <p:txBody>
          <a:bodyPr wrap="square">
            <a:spAutoFit/>
          </a:bodyPr>
          <a:lstStyle/>
          <a:p>
            <a:pPr algn="ctr"/>
            <a:r>
              <a:rPr sz="1300" b="1" i="0">
                <a:solidFill>
                  <a:srgbClr val="0A0E1A"/>
                </a:solidFill>
                <a:latin typeface="Calibri"/>
              </a:rPr>
              <a:t>Aspek</a:t>
            </a:r>
          </a:p>
        </p:txBody>
      </p:sp>
      <p:sp>
        <p:nvSpPr>
          <p:cNvPr id="8" name="Rectangle 7"/>
          <p:cNvSpPr/>
          <p:nvPr/>
        </p:nvSpPr>
        <p:spPr>
          <a:xfrm>
            <a:off x="2514600" y="914400"/>
            <a:ext cx="3108960" cy="43891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4600" y="969264"/>
            <a:ext cx="3108960" cy="347472"/>
          </a:xfrm>
          <a:prstGeom prst="rect">
            <a:avLst/>
          </a:prstGeom>
          <a:noFill/>
        </p:spPr>
        <p:txBody>
          <a:bodyPr wrap="square">
            <a:spAutoFit/>
          </a:bodyPr>
          <a:lstStyle/>
          <a:p>
            <a:pPr algn="ctr"/>
            <a:r>
              <a:rPr sz="1300" b="1" i="0">
                <a:solidFill>
                  <a:srgbClr val="0A0E1A"/>
                </a:solidFill>
                <a:latin typeface="Calibri"/>
              </a:rPr>
              <a:t>Regresi</a:t>
            </a:r>
          </a:p>
        </p:txBody>
      </p:sp>
      <p:sp>
        <p:nvSpPr>
          <p:cNvPr id="10" name="Rectangle 9"/>
          <p:cNvSpPr/>
          <p:nvPr/>
        </p:nvSpPr>
        <p:spPr>
          <a:xfrm>
            <a:off x="5669280" y="914400"/>
            <a:ext cx="3108960" cy="438912"/>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0" y="969264"/>
            <a:ext cx="3108960" cy="347472"/>
          </a:xfrm>
          <a:prstGeom prst="rect">
            <a:avLst/>
          </a:prstGeom>
          <a:noFill/>
        </p:spPr>
        <p:txBody>
          <a:bodyPr wrap="square">
            <a:spAutoFit/>
          </a:bodyPr>
          <a:lstStyle/>
          <a:p>
            <a:pPr algn="ctr"/>
            <a:r>
              <a:rPr sz="1300" b="1" i="0">
                <a:solidFill>
                  <a:srgbClr val="0A0E1A"/>
                </a:solidFill>
                <a:latin typeface="Calibri"/>
              </a:rPr>
              <a:t>Klasifikasi</a:t>
            </a:r>
          </a:p>
        </p:txBody>
      </p:sp>
      <p:sp>
        <p:nvSpPr>
          <p:cNvPr id="12" name="Rectangle 11"/>
          <p:cNvSpPr/>
          <p:nvPr/>
        </p:nvSpPr>
        <p:spPr>
          <a:xfrm>
            <a:off x="8823960" y="914400"/>
            <a:ext cx="3108960" cy="43891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969264"/>
            <a:ext cx="3108960" cy="347472"/>
          </a:xfrm>
          <a:prstGeom prst="rect">
            <a:avLst/>
          </a:prstGeom>
          <a:noFill/>
        </p:spPr>
        <p:txBody>
          <a:bodyPr wrap="square">
            <a:spAutoFit/>
          </a:bodyPr>
          <a:lstStyle/>
          <a:p>
            <a:pPr algn="ctr"/>
            <a:r>
              <a:rPr sz="1300" b="1" i="0">
                <a:solidFill>
                  <a:srgbClr val="0A0E1A"/>
                </a:solidFill>
                <a:latin typeface="Calibri"/>
              </a:rPr>
              <a:t>Clustering</a:t>
            </a:r>
          </a:p>
        </p:txBody>
      </p:sp>
      <p:sp>
        <p:nvSpPr>
          <p:cNvPr id="14" name="Rectangle 13"/>
          <p:cNvSpPr/>
          <p:nvPr/>
        </p:nvSpPr>
        <p:spPr>
          <a:xfrm>
            <a:off x="365760" y="1371600"/>
            <a:ext cx="210312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4600" y="1371600"/>
            <a:ext cx="310896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0" y="1371600"/>
            <a:ext cx="310896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23960" y="1371600"/>
            <a:ext cx="310896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1435608"/>
            <a:ext cx="1993392" cy="731520"/>
          </a:xfrm>
          <a:prstGeom prst="rect">
            <a:avLst/>
          </a:prstGeom>
          <a:noFill/>
        </p:spPr>
        <p:txBody>
          <a:bodyPr wrap="square">
            <a:spAutoFit/>
          </a:bodyPr>
          <a:lstStyle/>
          <a:p>
            <a:pPr algn="l"/>
            <a:r>
              <a:rPr sz="1100" b="1" i="0">
                <a:solidFill>
                  <a:srgbClr val="F1F5F9"/>
                </a:solidFill>
                <a:latin typeface="Calibri"/>
              </a:rPr>
              <a:t>Jenis Masalah</a:t>
            </a:r>
          </a:p>
        </p:txBody>
      </p:sp>
      <p:sp>
        <p:nvSpPr>
          <p:cNvPr id="19" name="TextBox 18"/>
          <p:cNvSpPr txBox="1"/>
          <p:nvPr/>
        </p:nvSpPr>
        <p:spPr>
          <a:xfrm>
            <a:off x="2587752" y="1435608"/>
            <a:ext cx="2999232" cy="731520"/>
          </a:xfrm>
          <a:prstGeom prst="rect">
            <a:avLst/>
          </a:prstGeom>
          <a:noFill/>
        </p:spPr>
        <p:txBody>
          <a:bodyPr wrap="square">
            <a:spAutoFit/>
          </a:bodyPr>
          <a:lstStyle/>
          <a:p>
            <a:pPr algn="ctr"/>
            <a:r>
              <a:rPr sz="1100" b="0" i="0">
                <a:solidFill>
                  <a:srgbClr val="60A5FA"/>
                </a:solidFill>
                <a:latin typeface="Calibri"/>
              </a:rPr>
              <a:t>Prediksi nilai angka
(Berapa besar?)</a:t>
            </a:r>
          </a:p>
        </p:txBody>
      </p:sp>
      <p:sp>
        <p:nvSpPr>
          <p:cNvPr id="20" name="TextBox 19"/>
          <p:cNvSpPr txBox="1"/>
          <p:nvPr/>
        </p:nvSpPr>
        <p:spPr>
          <a:xfrm>
            <a:off x="5742432" y="1435608"/>
            <a:ext cx="2999232" cy="731520"/>
          </a:xfrm>
          <a:prstGeom prst="rect">
            <a:avLst/>
          </a:prstGeom>
          <a:noFill/>
        </p:spPr>
        <p:txBody>
          <a:bodyPr wrap="square">
            <a:spAutoFit/>
          </a:bodyPr>
          <a:lstStyle/>
          <a:p>
            <a:pPr algn="ctr"/>
            <a:r>
              <a:rPr sz="1100" b="0" i="0">
                <a:solidFill>
                  <a:srgbClr val="C084FC"/>
                </a:solidFill>
                <a:latin typeface="Calibri"/>
              </a:rPr>
              <a:t>Prediksi kategori/kelas
(Termasuk yang mana?)</a:t>
            </a:r>
          </a:p>
        </p:txBody>
      </p:sp>
      <p:sp>
        <p:nvSpPr>
          <p:cNvPr id="21" name="TextBox 20"/>
          <p:cNvSpPr txBox="1"/>
          <p:nvPr/>
        </p:nvSpPr>
        <p:spPr>
          <a:xfrm>
            <a:off x="8897112" y="1435608"/>
            <a:ext cx="2999232" cy="731520"/>
          </a:xfrm>
          <a:prstGeom prst="rect">
            <a:avLst/>
          </a:prstGeom>
          <a:noFill/>
        </p:spPr>
        <p:txBody>
          <a:bodyPr wrap="square">
            <a:spAutoFit/>
          </a:bodyPr>
          <a:lstStyle/>
          <a:p>
            <a:pPr algn="ctr"/>
            <a:r>
              <a:rPr sz="1100" b="0" i="0">
                <a:solidFill>
                  <a:srgbClr val="4ADE80"/>
                </a:solidFill>
                <a:latin typeface="Calibri"/>
              </a:rPr>
              <a:t>Pengelompokan otomatis
(Mirip dengan siapa?)</a:t>
            </a:r>
          </a:p>
        </p:txBody>
      </p:sp>
      <p:sp>
        <p:nvSpPr>
          <p:cNvPr id="22" name="Rectangle 21"/>
          <p:cNvSpPr/>
          <p:nvPr/>
        </p:nvSpPr>
        <p:spPr>
          <a:xfrm>
            <a:off x="365760" y="2240280"/>
            <a:ext cx="210312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4600" y="2240280"/>
            <a:ext cx="310896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0" y="2240280"/>
            <a:ext cx="310896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23960" y="2240280"/>
            <a:ext cx="310896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2304288"/>
            <a:ext cx="1993392" cy="731520"/>
          </a:xfrm>
          <a:prstGeom prst="rect">
            <a:avLst/>
          </a:prstGeom>
          <a:noFill/>
        </p:spPr>
        <p:txBody>
          <a:bodyPr wrap="square">
            <a:spAutoFit/>
          </a:bodyPr>
          <a:lstStyle/>
          <a:p>
            <a:pPr algn="l"/>
            <a:r>
              <a:rPr sz="1100" b="1" i="0">
                <a:solidFill>
                  <a:srgbClr val="F1F5F9"/>
                </a:solidFill>
                <a:latin typeface="Calibri"/>
              </a:rPr>
              <a:t>Label Data</a:t>
            </a:r>
          </a:p>
        </p:txBody>
      </p:sp>
      <p:sp>
        <p:nvSpPr>
          <p:cNvPr id="27" name="TextBox 26"/>
          <p:cNvSpPr txBox="1"/>
          <p:nvPr/>
        </p:nvSpPr>
        <p:spPr>
          <a:xfrm>
            <a:off x="2587752" y="2304288"/>
            <a:ext cx="2999232" cy="731520"/>
          </a:xfrm>
          <a:prstGeom prst="rect">
            <a:avLst/>
          </a:prstGeom>
          <a:noFill/>
        </p:spPr>
        <p:txBody>
          <a:bodyPr wrap="square">
            <a:spAutoFit/>
          </a:bodyPr>
          <a:lstStyle/>
          <a:p>
            <a:pPr algn="ctr"/>
            <a:r>
              <a:rPr sz="1100" b="0" i="0">
                <a:solidFill>
                  <a:srgbClr val="60A5FA"/>
                </a:solidFill>
                <a:latin typeface="Calibri"/>
              </a:rPr>
              <a:t>Butuh data berlabel
(supervised)</a:t>
            </a:r>
          </a:p>
        </p:txBody>
      </p:sp>
      <p:sp>
        <p:nvSpPr>
          <p:cNvPr id="28" name="TextBox 27"/>
          <p:cNvSpPr txBox="1"/>
          <p:nvPr/>
        </p:nvSpPr>
        <p:spPr>
          <a:xfrm>
            <a:off x="5742432" y="2304288"/>
            <a:ext cx="2999232" cy="731520"/>
          </a:xfrm>
          <a:prstGeom prst="rect">
            <a:avLst/>
          </a:prstGeom>
          <a:noFill/>
        </p:spPr>
        <p:txBody>
          <a:bodyPr wrap="square">
            <a:spAutoFit/>
          </a:bodyPr>
          <a:lstStyle/>
          <a:p>
            <a:pPr algn="ctr"/>
            <a:r>
              <a:rPr sz="1100" b="0" i="0">
                <a:solidFill>
                  <a:srgbClr val="C084FC"/>
                </a:solidFill>
                <a:latin typeface="Calibri"/>
              </a:rPr>
              <a:t>Butuh data berlabel
(supervised)</a:t>
            </a:r>
          </a:p>
        </p:txBody>
      </p:sp>
      <p:sp>
        <p:nvSpPr>
          <p:cNvPr id="29" name="TextBox 28"/>
          <p:cNvSpPr txBox="1"/>
          <p:nvPr/>
        </p:nvSpPr>
        <p:spPr>
          <a:xfrm>
            <a:off x="8897112" y="2304288"/>
            <a:ext cx="2999232" cy="731520"/>
          </a:xfrm>
          <a:prstGeom prst="rect">
            <a:avLst/>
          </a:prstGeom>
          <a:noFill/>
        </p:spPr>
        <p:txBody>
          <a:bodyPr wrap="square">
            <a:spAutoFit/>
          </a:bodyPr>
          <a:lstStyle/>
          <a:p>
            <a:pPr algn="ctr"/>
            <a:r>
              <a:rPr sz="1100" b="0" i="0">
                <a:solidFill>
                  <a:srgbClr val="4ADE80"/>
                </a:solidFill>
                <a:latin typeface="Calibri"/>
              </a:rPr>
              <a:t>Tidak butuh label
(unsupervised)</a:t>
            </a:r>
          </a:p>
        </p:txBody>
      </p:sp>
      <p:sp>
        <p:nvSpPr>
          <p:cNvPr id="30" name="Rectangle 29"/>
          <p:cNvSpPr/>
          <p:nvPr/>
        </p:nvSpPr>
        <p:spPr>
          <a:xfrm>
            <a:off x="365760" y="3108960"/>
            <a:ext cx="210312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14600" y="3108960"/>
            <a:ext cx="310896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0" y="3108960"/>
            <a:ext cx="310896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823960" y="3108960"/>
            <a:ext cx="310896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3172968"/>
            <a:ext cx="1993392" cy="731520"/>
          </a:xfrm>
          <a:prstGeom prst="rect">
            <a:avLst/>
          </a:prstGeom>
          <a:noFill/>
        </p:spPr>
        <p:txBody>
          <a:bodyPr wrap="square">
            <a:spAutoFit/>
          </a:bodyPr>
          <a:lstStyle/>
          <a:p>
            <a:pPr algn="l"/>
            <a:r>
              <a:rPr sz="1100" b="1" i="0">
                <a:solidFill>
                  <a:srgbClr val="F1F5F9"/>
                </a:solidFill>
                <a:latin typeface="Calibri"/>
              </a:rPr>
              <a:t>Input</a:t>
            </a:r>
          </a:p>
        </p:txBody>
      </p:sp>
      <p:sp>
        <p:nvSpPr>
          <p:cNvPr id="35" name="TextBox 34"/>
          <p:cNvSpPr txBox="1"/>
          <p:nvPr/>
        </p:nvSpPr>
        <p:spPr>
          <a:xfrm>
            <a:off x="2587752" y="3172968"/>
            <a:ext cx="2999232" cy="731520"/>
          </a:xfrm>
          <a:prstGeom prst="rect">
            <a:avLst/>
          </a:prstGeom>
          <a:noFill/>
        </p:spPr>
        <p:txBody>
          <a:bodyPr wrap="square">
            <a:spAutoFit/>
          </a:bodyPr>
          <a:lstStyle/>
          <a:p>
            <a:pPr algn="ctr"/>
            <a:r>
              <a:rPr sz="1100" b="0" i="0">
                <a:solidFill>
                  <a:srgbClr val="60A5FA"/>
                </a:solidFill>
                <a:latin typeface="Calibri"/>
              </a:rPr>
              <a:t>6 kolom profil pasien</a:t>
            </a:r>
          </a:p>
        </p:txBody>
      </p:sp>
      <p:sp>
        <p:nvSpPr>
          <p:cNvPr id="36" name="TextBox 35"/>
          <p:cNvSpPr txBox="1"/>
          <p:nvPr/>
        </p:nvSpPr>
        <p:spPr>
          <a:xfrm>
            <a:off x="5742432" y="3172968"/>
            <a:ext cx="2999232" cy="731520"/>
          </a:xfrm>
          <a:prstGeom prst="rect">
            <a:avLst/>
          </a:prstGeom>
          <a:noFill/>
        </p:spPr>
        <p:txBody>
          <a:bodyPr wrap="square">
            <a:spAutoFit/>
          </a:bodyPr>
          <a:lstStyle/>
          <a:p>
            <a:pPr algn="ctr"/>
            <a:r>
              <a:rPr sz="1100" b="0" i="0">
                <a:solidFill>
                  <a:srgbClr val="C084FC"/>
                </a:solidFill>
                <a:latin typeface="Calibri"/>
              </a:rPr>
              <a:t>7 kolom profil pasien</a:t>
            </a:r>
          </a:p>
        </p:txBody>
      </p:sp>
      <p:sp>
        <p:nvSpPr>
          <p:cNvPr id="37" name="TextBox 36"/>
          <p:cNvSpPr txBox="1"/>
          <p:nvPr/>
        </p:nvSpPr>
        <p:spPr>
          <a:xfrm>
            <a:off x="8897112" y="3172968"/>
            <a:ext cx="2999232" cy="731520"/>
          </a:xfrm>
          <a:prstGeom prst="rect">
            <a:avLst/>
          </a:prstGeom>
          <a:noFill/>
        </p:spPr>
        <p:txBody>
          <a:bodyPr wrap="square">
            <a:spAutoFit/>
          </a:bodyPr>
          <a:lstStyle/>
          <a:p>
            <a:pPr algn="ctr"/>
            <a:r>
              <a:rPr sz="1100" b="0" i="0">
                <a:solidFill>
                  <a:srgbClr val="4ADE80"/>
                </a:solidFill>
                <a:latin typeface="Calibri"/>
              </a:rPr>
              <a:t>4 kolom numerik pasien</a:t>
            </a:r>
          </a:p>
        </p:txBody>
      </p:sp>
      <p:sp>
        <p:nvSpPr>
          <p:cNvPr id="38" name="Rectangle 37"/>
          <p:cNvSpPr/>
          <p:nvPr/>
        </p:nvSpPr>
        <p:spPr>
          <a:xfrm>
            <a:off x="365760" y="3977640"/>
            <a:ext cx="210312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514600" y="3977640"/>
            <a:ext cx="310896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0" y="3977640"/>
            <a:ext cx="310896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23960" y="3977640"/>
            <a:ext cx="310896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 y="4041648"/>
            <a:ext cx="1993392" cy="731520"/>
          </a:xfrm>
          <a:prstGeom prst="rect">
            <a:avLst/>
          </a:prstGeom>
          <a:noFill/>
        </p:spPr>
        <p:txBody>
          <a:bodyPr wrap="square">
            <a:spAutoFit/>
          </a:bodyPr>
          <a:lstStyle/>
          <a:p>
            <a:pPr algn="l"/>
            <a:r>
              <a:rPr sz="1100" b="1" i="0">
                <a:solidFill>
                  <a:srgbClr val="F1F5F9"/>
                </a:solidFill>
                <a:latin typeface="Calibri"/>
              </a:rPr>
              <a:t>Output</a:t>
            </a:r>
          </a:p>
        </p:txBody>
      </p:sp>
      <p:sp>
        <p:nvSpPr>
          <p:cNvPr id="43" name="TextBox 42"/>
          <p:cNvSpPr txBox="1"/>
          <p:nvPr/>
        </p:nvSpPr>
        <p:spPr>
          <a:xfrm>
            <a:off x="2587752" y="4041648"/>
            <a:ext cx="2999232" cy="731520"/>
          </a:xfrm>
          <a:prstGeom prst="rect">
            <a:avLst/>
          </a:prstGeom>
          <a:noFill/>
        </p:spPr>
        <p:txBody>
          <a:bodyPr wrap="square">
            <a:spAutoFit/>
          </a:bodyPr>
          <a:lstStyle/>
          <a:p>
            <a:pPr algn="ctr"/>
            <a:r>
              <a:rPr sz="1100" b="0" i="0">
                <a:solidFill>
                  <a:srgbClr val="60A5FA"/>
                </a:solidFill>
                <a:latin typeface="Calibri"/>
              </a:rPr>
              <a:t>Angka â€” Billing Amount ($)</a:t>
            </a:r>
          </a:p>
        </p:txBody>
      </p:sp>
      <p:sp>
        <p:nvSpPr>
          <p:cNvPr id="44" name="TextBox 43"/>
          <p:cNvSpPr txBox="1"/>
          <p:nvPr/>
        </p:nvSpPr>
        <p:spPr>
          <a:xfrm>
            <a:off x="5742432" y="4041648"/>
            <a:ext cx="2999232" cy="731520"/>
          </a:xfrm>
          <a:prstGeom prst="rect">
            <a:avLst/>
          </a:prstGeom>
          <a:noFill/>
        </p:spPr>
        <p:txBody>
          <a:bodyPr wrap="square">
            <a:spAutoFit/>
          </a:bodyPr>
          <a:lstStyle/>
          <a:p>
            <a:pPr algn="ctr"/>
            <a:r>
              <a:rPr sz="1100" b="0" i="0">
                <a:solidFill>
                  <a:srgbClr val="C084FC"/>
                </a:solidFill>
                <a:latin typeface="Calibri"/>
              </a:rPr>
              <a:t>Kelas â€” Normal/Abnormal/
Tidak Meyakinkan</a:t>
            </a:r>
          </a:p>
        </p:txBody>
      </p:sp>
      <p:sp>
        <p:nvSpPr>
          <p:cNvPr id="45" name="TextBox 44"/>
          <p:cNvSpPr txBox="1"/>
          <p:nvPr/>
        </p:nvSpPr>
        <p:spPr>
          <a:xfrm>
            <a:off x="8897112" y="4041648"/>
            <a:ext cx="2999232" cy="731520"/>
          </a:xfrm>
          <a:prstGeom prst="rect">
            <a:avLst/>
          </a:prstGeom>
          <a:noFill/>
        </p:spPr>
        <p:txBody>
          <a:bodyPr wrap="square">
            <a:spAutoFit/>
          </a:bodyPr>
          <a:lstStyle/>
          <a:p>
            <a:pPr algn="ctr"/>
            <a:r>
              <a:rPr sz="1100" b="0" i="0">
                <a:solidFill>
                  <a:srgbClr val="4ADE80"/>
                </a:solidFill>
                <a:latin typeface="Calibri"/>
              </a:rPr>
              <a:t>Label kelompok â€” Cluster 0, 1, 2...</a:t>
            </a:r>
          </a:p>
        </p:txBody>
      </p:sp>
      <p:sp>
        <p:nvSpPr>
          <p:cNvPr id="46" name="Rectangle 45"/>
          <p:cNvSpPr/>
          <p:nvPr/>
        </p:nvSpPr>
        <p:spPr>
          <a:xfrm>
            <a:off x="365760" y="4846320"/>
            <a:ext cx="210312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514600" y="4846320"/>
            <a:ext cx="310896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0" y="4846320"/>
            <a:ext cx="310896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823960" y="4846320"/>
            <a:ext cx="3108960" cy="822960"/>
          </a:xfrm>
          <a:prstGeom prst="rect">
            <a:avLst/>
          </a:prstGeom>
          <a:solidFill>
            <a:srgbClr val="0D1224"/>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8912" y="4910328"/>
            <a:ext cx="1993392" cy="731520"/>
          </a:xfrm>
          <a:prstGeom prst="rect">
            <a:avLst/>
          </a:prstGeom>
          <a:noFill/>
        </p:spPr>
        <p:txBody>
          <a:bodyPr wrap="square">
            <a:spAutoFit/>
          </a:bodyPr>
          <a:lstStyle/>
          <a:p>
            <a:pPr algn="l"/>
            <a:r>
              <a:rPr sz="1100" b="1" i="0">
                <a:solidFill>
                  <a:srgbClr val="F1F5F9"/>
                </a:solidFill>
                <a:latin typeface="Calibri"/>
              </a:rPr>
              <a:t>Metrik Evaluasi</a:t>
            </a:r>
          </a:p>
        </p:txBody>
      </p:sp>
      <p:sp>
        <p:nvSpPr>
          <p:cNvPr id="51" name="TextBox 50"/>
          <p:cNvSpPr txBox="1"/>
          <p:nvPr/>
        </p:nvSpPr>
        <p:spPr>
          <a:xfrm>
            <a:off x="2587752" y="4910328"/>
            <a:ext cx="2999232" cy="731520"/>
          </a:xfrm>
          <a:prstGeom prst="rect">
            <a:avLst/>
          </a:prstGeom>
          <a:noFill/>
        </p:spPr>
        <p:txBody>
          <a:bodyPr wrap="square">
            <a:spAutoFit/>
          </a:bodyPr>
          <a:lstStyle/>
          <a:p>
            <a:pPr algn="ctr"/>
            <a:r>
              <a:rPr sz="1100" b="0" i="0">
                <a:solidFill>
                  <a:srgbClr val="60A5FA"/>
                </a:solidFill>
                <a:latin typeface="Calibri"/>
              </a:rPr>
              <a:t>RÂ² Score, MAE, RMSE</a:t>
            </a:r>
          </a:p>
        </p:txBody>
      </p:sp>
      <p:sp>
        <p:nvSpPr>
          <p:cNvPr id="52" name="TextBox 51"/>
          <p:cNvSpPr txBox="1"/>
          <p:nvPr/>
        </p:nvSpPr>
        <p:spPr>
          <a:xfrm>
            <a:off x="5742432" y="4910328"/>
            <a:ext cx="2999232" cy="731520"/>
          </a:xfrm>
          <a:prstGeom prst="rect">
            <a:avLst/>
          </a:prstGeom>
          <a:noFill/>
        </p:spPr>
        <p:txBody>
          <a:bodyPr wrap="square">
            <a:spAutoFit/>
          </a:bodyPr>
          <a:lstStyle/>
          <a:p>
            <a:pPr algn="ctr"/>
            <a:r>
              <a:rPr sz="1100" b="0" i="0">
                <a:solidFill>
                  <a:srgbClr val="C084FC"/>
                </a:solidFill>
                <a:latin typeface="Calibri"/>
              </a:rPr>
              <a:t>Akurasi, F1-Score,
Confusion Matrix</a:t>
            </a:r>
          </a:p>
        </p:txBody>
      </p:sp>
      <p:sp>
        <p:nvSpPr>
          <p:cNvPr id="53" name="TextBox 52"/>
          <p:cNvSpPr txBox="1"/>
          <p:nvPr/>
        </p:nvSpPr>
        <p:spPr>
          <a:xfrm>
            <a:off x="8897112" y="4910328"/>
            <a:ext cx="2999232" cy="731520"/>
          </a:xfrm>
          <a:prstGeom prst="rect">
            <a:avLst/>
          </a:prstGeom>
          <a:noFill/>
        </p:spPr>
        <p:txBody>
          <a:bodyPr wrap="square">
            <a:spAutoFit/>
          </a:bodyPr>
          <a:lstStyle/>
          <a:p>
            <a:pPr algn="ctr"/>
            <a:r>
              <a:rPr sz="1100" b="0" i="0">
                <a:solidFill>
                  <a:srgbClr val="4ADE80"/>
                </a:solidFill>
                <a:latin typeface="Calibri"/>
              </a:rPr>
              <a:t>Silhouette Score,
Elbow Method</a:t>
            </a:r>
          </a:p>
        </p:txBody>
      </p:sp>
      <p:sp>
        <p:nvSpPr>
          <p:cNvPr id="54" name="Rectangle 53"/>
          <p:cNvSpPr/>
          <p:nvPr/>
        </p:nvSpPr>
        <p:spPr>
          <a:xfrm>
            <a:off x="365760" y="5715000"/>
            <a:ext cx="210312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514600" y="5715000"/>
            <a:ext cx="310896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0" y="5715000"/>
            <a:ext cx="310896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823960" y="5715000"/>
            <a:ext cx="3108960" cy="822960"/>
          </a:xfrm>
          <a:prstGeom prst="rect">
            <a:avLst/>
          </a:prstGeom>
          <a:solidFill>
            <a:srgbClr val="10172E"/>
          </a:solidFill>
          <a:ln w="6350">
            <a:solidFill>
              <a:srgbClr val="1E2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38912" y="5779008"/>
            <a:ext cx="1993392" cy="731520"/>
          </a:xfrm>
          <a:prstGeom prst="rect">
            <a:avLst/>
          </a:prstGeom>
          <a:noFill/>
        </p:spPr>
        <p:txBody>
          <a:bodyPr wrap="square">
            <a:spAutoFit/>
          </a:bodyPr>
          <a:lstStyle/>
          <a:p>
            <a:pPr algn="l"/>
            <a:r>
              <a:rPr sz="1100" b="1" i="0">
                <a:solidFill>
                  <a:srgbClr val="F1F5F9"/>
                </a:solidFill>
                <a:latin typeface="Calibri"/>
              </a:rPr>
              <a:t>Manfaat Utama</a:t>
            </a:r>
          </a:p>
        </p:txBody>
      </p:sp>
      <p:sp>
        <p:nvSpPr>
          <p:cNvPr id="59" name="TextBox 58"/>
          <p:cNvSpPr txBox="1"/>
          <p:nvPr/>
        </p:nvSpPr>
        <p:spPr>
          <a:xfrm>
            <a:off x="2587752" y="5779008"/>
            <a:ext cx="2999232" cy="731520"/>
          </a:xfrm>
          <a:prstGeom prst="rect">
            <a:avLst/>
          </a:prstGeom>
          <a:noFill/>
        </p:spPr>
        <p:txBody>
          <a:bodyPr wrap="square">
            <a:spAutoFit/>
          </a:bodyPr>
          <a:lstStyle/>
          <a:p>
            <a:pPr algn="ctr"/>
            <a:r>
              <a:rPr sz="1100" b="0" i="0">
                <a:solidFill>
                  <a:srgbClr val="60A5FA"/>
                </a:solidFill>
                <a:latin typeface="Calibri"/>
              </a:rPr>
              <a:t>Estimasi biaya perawatan
sebelum dirawat</a:t>
            </a:r>
          </a:p>
        </p:txBody>
      </p:sp>
      <p:sp>
        <p:nvSpPr>
          <p:cNvPr id="60" name="TextBox 59"/>
          <p:cNvSpPr txBox="1"/>
          <p:nvPr/>
        </p:nvSpPr>
        <p:spPr>
          <a:xfrm>
            <a:off x="5742432" y="5779008"/>
            <a:ext cx="2999232" cy="731520"/>
          </a:xfrm>
          <a:prstGeom prst="rect">
            <a:avLst/>
          </a:prstGeom>
          <a:noFill/>
        </p:spPr>
        <p:txBody>
          <a:bodyPr wrap="square">
            <a:spAutoFit/>
          </a:bodyPr>
          <a:lstStyle/>
          <a:p>
            <a:pPr algn="ctr"/>
            <a:r>
              <a:rPr sz="1100" b="0" i="0">
                <a:solidFill>
                  <a:srgbClr val="C084FC"/>
                </a:solidFill>
                <a:latin typeface="Calibri"/>
              </a:rPr>
              <a:t>Prioritas penanganan
pasien darurat</a:t>
            </a:r>
          </a:p>
        </p:txBody>
      </p:sp>
      <p:sp>
        <p:nvSpPr>
          <p:cNvPr id="61" name="TextBox 60"/>
          <p:cNvSpPr txBox="1"/>
          <p:nvPr/>
        </p:nvSpPr>
        <p:spPr>
          <a:xfrm>
            <a:off x="8897112" y="5779008"/>
            <a:ext cx="2999232" cy="731520"/>
          </a:xfrm>
          <a:prstGeom prst="rect">
            <a:avLst/>
          </a:prstGeom>
          <a:noFill/>
        </p:spPr>
        <p:txBody>
          <a:bodyPr wrap="square">
            <a:spAutoFit/>
          </a:bodyPr>
          <a:lstStyle/>
          <a:p>
            <a:pPr algn="ctr"/>
            <a:r>
              <a:rPr sz="1100" b="0" i="0">
                <a:solidFill>
                  <a:srgbClr val="4ADE80"/>
                </a:solidFill>
                <a:latin typeface="Calibri"/>
              </a:rPr>
              <a:t>Personalisasi layanan
per segmen pasien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19 / 22</a:t>
            </a:r>
          </a:p>
        </p:txBody>
      </p:sp>
      <p:sp>
        <p:nvSpPr>
          <p:cNvPr id="4" name="TextBox 3"/>
          <p:cNvSpPr txBox="1"/>
          <p:nvPr/>
        </p:nvSpPr>
        <p:spPr>
          <a:xfrm>
            <a:off x="457200" y="182880"/>
            <a:ext cx="10972800" cy="594360"/>
          </a:xfrm>
          <a:prstGeom prst="rect">
            <a:avLst/>
          </a:prstGeom>
          <a:noFill/>
        </p:spPr>
        <p:txBody>
          <a:bodyPr wrap="square">
            <a:spAutoFit/>
          </a:bodyPr>
          <a:lstStyle/>
          <a:p>
            <a:pPr algn="l"/>
            <a:r>
              <a:rPr sz="2600" b="1" i="0">
                <a:solidFill>
                  <a:srgbClr val="F1F5F9"/>
                </a:solidFill>
                <a:latin typeface="Calibri"/>
              </a:rPr>
              <a:t>07  Kesimpulan &amp; Manfaat</a:t>
            </a:r>
          </a:p>
        </p:txBody>
      </p:sp>
      <p:sp>
        <p:nvSpPr>
          <p:cNvPr id="5" name="Rectangle 4"/>
          <p:cNvSpPr/>
          <p:nvPr/>
        </p:nvSpPr>
        <p:spPr>
          <a:xfrm>
            <a:off x="457200" y="777240"/>
            <a:ext cx="3200400" cy="4572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47120" cy="457200"/>
          </a:xfrm>
          <a:prstGeom prst="rect">
            <a:avLst/>
          </a:prstGeom>
          <a:noFill/>
        </p:spPr>
        <p:txBody>
          <a:bodyPr wrap="square">
            <a:spAutoFit/>
          </a:bodyPr>
          <a:lstStyle/>
          <a:p>
            <a:pPr algn="l"/>
            <a:r>
              <a:rPr sz="1400" b="0" i="0">
                <a:solidFill>
                  <a:srgbClr val="94A3B8"/>
                </a:solidFill>
                <a:latin typeface="Calibri"/>
              </a:rPr>
              <a:t>Dengan menerapkan Data Mining pada data kesehatan rumah sakit, organisasi mendapatkan kemampuan:</a:t>
            </a:r>
          </a:p>
        </p:txBody>
      </p:sp>
      <p:sp>
        <p:nvSpPr>
          <p:cNvPr id="7" name="Rectangle 6"/>
          <p:cNvSpPr/>
          <p:nvPr/>
        </p:nvSpPr>
        <p:spPr>
          <a:xfrm>
            <a:off x="365760" y="1508760"/>
            <a:ext cx="11430000" cy="1554480"/>
          </a:xfrm>
          <a:prstGeom prst="rect">
            <a:avLst/>
          </a:prstGeom>
          <a:solidFill>
            <a:srgbClr val="0D1224"/>
          </a:solidFill>
          <a:ln w="9525">
            <a:solidFill>
              <a:srgbClr val="203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508760"/>
            <a:ext cx="73152" cy="15544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18488"/>
            <a:ext cx="10972800" cy="411480"/>
          </a:xfrm>
          <a:prstGeom prst="rect">
            <a:avLst/>
          </a:prstGeom>
          <a:noFill/>
        </p:spPr>
        <p:txBody>
          <a:bodyPr wrap="square">
            <a:spAutoFit/>
          </a:bodyPr>
          <a:lstStyle/>
          <a:p>
            <a:pPr algn="l"/>
            <a:r>
              <a:rPr sz="1300" b="1" i="0">
                <a:solidFill>
                  <a:srgbClr val="60A5FA"/>
                </a:solidFill>
                <a:latin typeface="Calibri"/>
              </a:rPr>
              <a:t>ðŸ“ˆ Regresi â€” Linear Regression</a:t>
            </a:r>
          </a:p>
        </p:txBody>
      </p:sp>
      <p:sp>
        <p:nvSpPr>
          <p:cNvPr id="10" name="TextBox 9"/>
          <p:cNvSpPr txBox="1"/>
          <p:nvPr/>
        </p:nvSpPr>
        <p:spPr>
          <a:xfrm>
            <a:off x="594360" y="2039112"/>
            <a:ext cx="10972800" cy="914400"/>
          </a:xfrm>
          <a:prstGeom prst="rect">
            <a:avLst/>
          </a:prstGeom>
          <a:noFill/>
        </p:spPr>
        <p:txBody>
          <a:bodyPr wrap="square">
            <a:spAutoFit/>
          </a:bodyPr>
          <a:lstStyle/>
          <a:p>
            <a:pPr algn="l"/>
            <a:r>
              <a:rPr sz="1200" b="0" i="0">
                <a:solidFill>
                  <a:srgbClr val="94A3B8"/>
                </a:solidFill>
                <a:latin typeface="Calibri"/>
              </a:rPr>
              <a:t>Dari yang sebelumnya hanya bisa menentukan tarif berdasarkan perkiraan, kini manajemen rumah sakit dapat memprediksi estimasi biaya perawatan setiap pasien secara otomatis sebelum mereka masuk. Ini membantu pengelolaan keuangan yang lebih terencana, transparan, dan akuntabel.</a:t>
            </a:r>
          </a:p>
        </p:txBody>
      </p:sp>
      <p:sp>
        <p:nvSpPr>
          <p:cNvPr id="11" name="Rectangle 10"/>
          <p:cNvSpPr/>
          <p:nvPr/>
        </p:nvSpPr>
        <p:spPr>
          <a:xfrm>
            <a:off x="365760" y="3172968"/>
            <a:ext cx="11430000" cy="1554480"/>
          </a:xfrm>
          <a:prstGeom prst="rect">
            <a:avLst/>
          </a:prstGeom>
          <a:solidFill>
            <a:srgbClr val="0D1224"/>
          </a:solidFill>
          <a:ln w="9525">
            <a:solidFill>
              <a:srgbClr val="402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172968"/>
            <a:ext cx="73152" cy="155448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282696"/>
            <a:ext cx="10972800" cy="411480"/>
          </a:xfrm>
          <a:prstGeom prst="rect">
            <a:avLst/>
          </a:prstGeom>
          <a:noFill/>
        </p:spPr>
        <p:txBody>
          <a:bodyPr wrap="square">
            <a:spAutoFit/>
          </a:bodyPr>
          <a:lstStyle/>
          <a:p>
            <a:pPr algn="l"/>
            <a:r>
              <a:rPr sz="1300" b="1" i="0">
                <a:solidFill>
                  <a:srgbClr val="C084FC"/>
                </a:solidFill>
                <a:latin typeface="Calibri"/>
              </a:rPr>
              <a:t>ðŸ”¬ Klasifikasi â€” Decision Tree</a:t>
            </a:r>
          </a:p>
        </p:txBody>
      </p:sp>
      <p:sp>
        <p:nvSpPr>
          <p:cNvPr id="14" name="TextBox 13"/>
          <p:cNvSpPr txBox="1"/>
          <p:nvPr/>
        </p:nvSpPr>
        <p:spPr>
          <a:xfrm>
            <a:off x="594360" y="3703320"/>
            <a:ext cx="10972800" cy="914400"/>
          </a:xfrm>
          <a:prstGeom prst="rect">
            <a:avLst/>
          </a:prstGeom>
          <a:noFill/>
        </p:spPr>
        <p:txBody>
          <a:bodyPr wrap="square">
            <a:spAutoFit/>
          </a:bodyPr>
          <a:lstStyle/>
          <a:p>
            <a:pPr algn="l"/>
            <a:r>
              <a:rPr sz="1200" b="0" i="0">
                <a:solidFill>
                  <a:srgbClr val="94A3B8"/>
                </a:solidFill>
                <a:latin typeface="Calibri"/>
              </a:rPr>
              <a:t>Dokter dan perawat kini memiliki alat bantu berbasis data untuk mengidentifikasi pasien berisiko tinggi lebih cepat. Dengan prediksi hasil tes sejak awal, penanganan darurat bisa dilakukan lebih proaktif, alokasi tenaga medis lebih efisien, dan waktu tunggu pasien berkurang signifikan.</a:t>
            </a:r>
          </a:p>
        </p:txBody>
      </p:sp>
      <p:sp>
        <p:nvSpPr>
          <p:cNvPr id="15" name="Rectangle 14"/>
          <p:cNvSpPr/>
          <p:nvPr/>
        </p:nvSpPr>
        <p:spPr>
          <a:xfrm>
            <a:off x="365760" y="4837176"/>
            <a:ext cx="11430000" cy="1554480"/>
          </a:xfrm>
          <a:prstGeom prst="rect">
            <a:avLst/>
          </a:prstGeom>
          <a:solidFill>
            <a:srgbClr val="0D1224"/>
          </a:solidFill>
          <a:ln w="9525">
            <a:solidFill>
              <a:srgbClr val="184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4837176"/>
            <a:ext cx="73152" cy="15544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946904"/>
            <a:ext cx="10972800" cy="411480"/>
          </a:xfrm>
          <a:prstGeom prst="rect">
            <a:avLst/>
          </a:prstGeom>
          <a:noFill/>
        </p:spPr>
        <p:txBody>
          <a:bodyPr wrap="square">
            <a:spAutoFit/>
          </a:bodyPr>
          <a:lstStyle/>
          <a:p>
            <a:pPr algn="l"/>
            <a:r>
              <a:rPr sz="1300" b="1" i="0">
                <a:solidFill>
                  <a:srgbClr val="4ADE80"/>
                </a:solidFill>
                <a:latin typeface="Calibri"/>
              </a:rPr>
              <a:t>ðŸ”µ Clustering â€” K-Means</a:t>
            </a:r>
          </a:p>
        </p:txBody>
      </p:sp>
      <p:sp>
        <p:nvSpPr>
          <p:cNvPr id="18" name="TextBox 17"/>
          <p:cNvSpPr txBox="1"/>
          <p:nvPr/>
        </p:nvSpPr>
        <p:spPr>
          <a:xfrm>
            <a:off x="594360" y="5367528"/>
            <a:ext cx="10972800" cy="914400"/>
          </a:xfrm>
          <a:prstGeom prst="rect">
            <a:avLst/>
          </a:prstGeom>
          <a:noFill/>
        </p:spPr>
        <p:txBody>
          <a:bodyPr wrap="square">
            <a:spAutoFit/>
          </a:bodyPr>
          <a:lstStyle/>
          <a:p>
            <a:pPr algn="l"/>
            <a:r>
              <a:rPr sz="1200" b="0" i="0">
                <a:solidFill>
                  <a:srgbClr val="94A3B8"/>
                </a:solidFill>
                <a:latin typeface="Calibri"/>
              </a:rPr>
              <a:t>Manajemen kini bisa melihat 'wajah' populasi pasien mereka melalui segmentasi otomatis. Setiap kelompok pasien mendapatkan layanan yang disesuaikan dengan profil mereka â€” bukan layanan yang seragam untuk semua â€” sehingga kualitas layanan meningkat dan kepuasan pasien lebih terjaga.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1672" y="6492240"/>
            <a:ext cx="1005840" cy="320040"/>
          </a:xfrm>
          <a:prstGeom prst="rect">
            <a:avLst/>
          </a:prstGeom>
          <a:noFill/>
        </p:spPr>
        <p:txBody>
          <a:bodyPr wrap="square">
            <a:spAutoFit/>
          </a:bodyPr>
          <a:lstStyle/>
          <a:p>
            <a:pPr algn="r"/>
            <a:r>
              <a:rPr sz="1000" b="0" i="0">
                <a:solidFill>
                  <a:srgbClr val="94A3B8"/>
                </a:solidFill>
                <a:latin typeface="Calibri"/>
              </a:rPr>
              <a:t>20 / 22</a:t>
            </a:r>
          </a:p>
        </p:txBody>
      </p:sp>
      <p:sp>
        <p:nvSpPr>
          <p:cNvPr id="5" name="TextBox 4"/>
          <p:cNvSpPr txBox="1"/>
          <p:nvPr/>
        </p:nvSpPr>
        <p:spPr>
          <a:xfrm>
            <a:off x="5303520" y="1371600"/>
            <a:ext cx="1371600" cy="1371600"/>
          </a:xfrm>
          <a:prstGeom prst="rect">
            <a:avLst/>
          </a:prstGeom>
          <a:noFill/>
        </p:spPr>
        <p:txBody>
          <a:bodyPr wrap="square">
            <a:spAutoFit/>
          </a:bodyPr>
          <a:lstStyle/>
          <a:p>
            <a:pPr algn="ctr"/>
            <a:r>
              <a:rPr sz="6000" b="0" i="0">
                <a:solidFill>
                  <a:srgbClr val="F1F5F9"/>
                </a:solidFill>
                <a:latin typeface="Calibri"/>
              </a:rPr>
              <a:t>ðŸ¥</a:t>
            </a:r>
          </a:p>
        </p:txBody>
      </p:sp>
      <p:sp>
        <p:nvSpPr>
          <p:cNvPr id="6" name="TextBox 5"/>
          <p:cNvSpPr txBox="1"/>
          <p:nvPr/>
        </p:nvSpPr>
        <p:spPr>
          <a:xfrm>
            <a:off x="914400" y="2560320"/>
            <a:ext cx="10058400" cy="914400"/>
          </a:xfrm>
          <a:prstGeom prst="rect">
            <a:avLst/>
          </a:prstGeom>
          <a:noFill/>
        </p:spPr>
        <p:txBody>
          <a:bodyPr wrap="square">
            <a:spAutoFit/>
          </a:bodyPr>
          <a:lstStyle/>
          <a:p>
            <a:pPr algn="ctr"/>
            <a:r>
              <a:rPr sz="4600" b="1" i="0">
                <a:solidFill>
                  <a:srgbClr val="F1F5F9"/>
                </a:solidFill>
                <a:latin typeface="Calibri"/>
              </a:rPr>
              <a:t>Terima Kasih</a:t>
            </a:r>
          </a:p>
        </p:txBody>
      </p:sp>
      <p:sp>
        <p:nvSpPr>
          <p:cNvPr id="7" name="TextBox 6"/>
          <p:cNvSpPr txBox="1"/>
          <p:nvPr/>
        </p:nvSpPr>
        <p:spPr>
          <a:xfrm>
            <a:off x="914400" y="3429000"/>
            <a:ext cx="10058400" cy="457200"/>
          </a:xfrm>
          <a:prstGeom prst="rect">
            <a:avLst/>
          </a:prstGeom>
          <a:noFill/>
        </p:spPr>
        <p:txBody>
          <a:bodyPr wrap="square">
            <a:spAutoFit/>
          </a:bodyPr>
          <a:lstStyle/>
          <a:p>
            <a:pPr algn="ctr"/>
            <a:r>
              <a:rPr sz="1600" b="0" i="0">
                <a:solidFill>
                  <a:srgbClr val="818CF8"/>
                </a:solidFill>
                <a:latin typeface="Calibri"/>
              </a:rPr>
              <a:t>Healthcare Analytics Dashboard  |  Data Mining Implementation</a:t>
            </a:r>
          </a:p>
        </p:txBody>
      </p:sp>
      <p:sp>
        <p:nvSpPr>
          <p:cNvPr id="8" name="Rectangle 7"/>
          <p:cNvSpPr/>
          <p:nvPr/>
        </p:nvSpPr>
        <p:spPr>
          <a:xfrm>
            <a:off x="3200400" y="3977639"/>
            <a:ext cx="5760720" cy="457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10058400" cy="411480"/>
          </a:xfrm>
          <a:prstGeom prst="rect">
            <a:avLst/>
          </a:prstGeom>
          <a:noFill/>
        </p:spPr>
        <p:txBody>
          <a:bodyPr wrap="square">
            <a:spAutoFit/>
          </a:bodyPr>
          <a:lstStyle/>
          <a:p>
            <a:pPr algn="ctr"/>
            <a:r>
              <a:rPr sz="1500" b="1" i="0">
                <a:solidFill>
                  <a:srgbClr val="C084FC"/>
                </a:solidFill>
                <a:latin typeface="Calibri"/>
              </a:rPr>
              <a:t>Regresi  â€¢  Klasifikasi  â€¢  Clustering</a:t>
            </a:r>
          </a:p>
        </p:txBody>
      </p:sp>
      <p:sp>
        <p:nvSpPr>
          <p:cNvPr id="10" name="Rectangle 9"/>
          <p:cNvSpPr/>
          <p:nvPr/>
        </p:nvSpPr>
        <p:spPr>
          <a:xfrm>
            <a:off x="2011680" y="4846320"/>
            <a:ext cx="2560320" cy="594360"/>
          </a:xfrm>
          <a:prstGeom prst="rect">
            <a:avLst/>
          </a:prstGeom>
          <a:solidFill>
            <a:srgbClr val="101B29"/>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0" y="4919472"/>
            <a:ext cx="2560320" cy="457200"/>
          </a:xfrm>
          <a:prstGeom prst="rect">
            <a:avLst/>
          </a:prstGeom>
          <a:noFill/>
        </p:spPr>
        <p:txBody>
          <a:bodyPr wrap="square">
            <a:spAutoFit/>
          </a:bodyPr>
          <a:lstStyle/>
          <a:p>
            <a:pPr algn="ctr"/>
            <a:r>
              <a:rPr sz="1400" b="1" i="0">
                <a:solidFill>
                  <a:srgbClr val="60A5FA"/>
                </a:solidFill>
                <a:latin typeface="Calibri"/>
              </a:rPr>
              <a:t>ðŸ“ˆ Regresi</a:t>
            </a:r>
          </a:p>
        </p:txBody>
      </p:sp>
      <p:sp>
        <p:nvSpPr>
          <p:cNvPr id="12" name="Rectangle 11"/>
          <p:cNvSpPr/>
          <p:nvPr/>
        </p:nvSpPr>
        <p:spPr>
          <a:xfrm>
            <a:off x="4846320" y="4846320"/>
            <a:ext cx="2560320" cy="594360"/>
          </a:xfrm>
          <a:prstGeom prst="rect">
            <a:avLst/>
          </a:prstGeom>
          <a:solidFill>
            <a:srgbClr val="20162A"/>
          </a:solidFill>
          <a:ln w="1270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4919472"/>
            <a:ext cx="2560320" cy="457200"/>
          </a:xfrm>
          <a:prstGeom prst="rect">
            <a:avLst/>
          </a:prstGeom>
          <a:noFill/>
        </p:spPr>
        <p:txBody>
          <a:bodyPr wrap="square">
            <a:spAutoFit/>
          </a:bodyPr>
          <a:lstStyle/>
          <a:p>
            <a:pPr algn="ctr"/>
            <a:r>
              <a:rPr sz="1400" b="1" i="0">
                <a:solidFill>
                  <a:srgbClr val="C084FC"/>
                </a:solidFill>
                <a:latin typeface="Calibri"/>
              </a:rPr>
              <a:t>ðŸ”¬ Klasifikasi</a:t>
            </a:r>
          </a:p>
        </p:txBody>
      </p:sp>
      <p:sp>
        <p:nvSpPr>
          <p:cNvPr id="14" name="Rectangle 13"/>
          <p:cNvSpPr/>
          <p:nvPr/>
        </p:nvSpPr>
        <p:spPr>
          <a:xfrm>
            <a:off x="7680960" y="4846320"/>
            <a:ext cx="2560320" cy="594360"/>
          </a:xfrm>
          <a:prstGeom prst="rect">
            <a:avLst/>
          </a:prstGeom>
          <a:solidFill>
            <a:srgbClr val="0C2515"/>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4919472"/>
            <a:ext cx="2560320" cy="457200"/>
          </a:xfrm>
          <a:prstGeom prst="rect">
            <a:avLst/>
          </a:prstGeom>
          <a:noFill/>
        </p:spPr>
        <p:txBody>
          <a:bodyPr wrap="square">
            <a:spAutoFit/>
          </a:bodyPr>
          <a:lstStyle/>
          <a:p>
            <a:pPr algn="ctr"/>
            <a:r>
              <a:rPr sz="1400" b="1" i="0">
                <a:solidFill>
                  <a:srgbClr val="4ADE80"/>
                </a:solidFill>
                <a:latin typeface="Calibri"/>
              </a:rPr>
              <a:t>ðŸ”µ Clustering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